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98" r:id="rId7"/>
    <p:sldId id="261" r:id="rId8"/>
    <p:sldId id="262" r:id="rId9"/>
    <p:sldId id="263" r:id="rId10"/>
    <p:sldId id="296" r:id="rId11"/>
    <p:sldId id="264" r:id="rId12"/>
    <p:sldId id="266" r:id="rId13"/>
    <p:sldId id="267" r:id="rId14"/>
    <p:sldId id="268" r:id="rId15"/>
    <p:sldId id="279" r:id="rId16"/>
    <p:sldId id="278" r:id="rId17"/>
    <p:sldId id="280" r:id="rId18"/>
    <p:sldId id="281" r:id="rId19"/>
    <p:sldId id="299" r:id="rId20"/>
    <p:sldId id="282" r:id="rId21"/>
    <p:sldId id="269" r:id="rId22"/>
    <p:sldId id="270" r:id="rId23"/>
    <p:sldId id="271" r:id="rId24"/>
    <p:sldId id="284" r:id="rId25"/>
    <p:sldId id="283" r:id="rId26"/>
    <p:sldId id="273" r:id="rId27"/>
    <p:sldId id="274" r:id="rId28"/>
    <p:sldId id="285" r:id="rId29"/>
    <p:sldId id="286" r:id="rId30"/>
    <p:sldId id="287" r:id="rId31"/>
    <p:sldId id="288" r:id="rId32"/>
    <p:sldId id="289" r:id="rId33"/>
    <p:sldId id="297" r:id="rId34"/>
    <p:sldId id="290" r:id="rId35"/>
    <p:sldId id="275" r:id="rId36"/>
    <p:sldId id="291" r:id="rId37"/>
    <p:sldId id="292" r:id="rId38"/>
    <p:sldId id="293" r:id="rId39"/>
    <p:sldId id="294" r:id="rId40"/>
    <p:sldId id="295" r:id="rId41"/>
    <p:sldId id="276" r:id="rId42"/>
  </p:sldIdLst>
  <p:sldSz cx="9144000" cy="5143500" type="screen16x9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8"/>
    <p:restoredTop sz="83391"/>
  </p:normalViewPr>
  <p:slideViewPr>
    <p:cSldViewPr snapToGrid="0">
      <p:cViewPr varScale="1">
        <p:scale>
          <a:sx n="200" d="100"/>
          <a:sy n="200" d="100"/>
        </p:scale>
        <p:origin x="28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D43B29-04A3-4C83-8EDC-9B5AAE889F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A850F-9BEC-4FEF-A62B-6169717E66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1AE813-8651-499B-89B2-8C4A442D15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4EC431-7142-46EC-8510-45555C8BEA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B563EB-8661-458E-9FAB-F05D17D1F4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D291F2-F6D1-45A0-AD33-9265752DA7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6BEF-71F2-9EA4-8084-B5FD4F05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>
            <a:extLst>
              <a:ext uri="{FF2B5EF4-FFF2-40B4-BE49-F238E27FC236}">
                <a16:creationId xmlns:a16="http://schemas.microsoft.com/office/drawing/2014/main" id="{B206F1FE-73EF-8AFE-E892-9562D065D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>
            <a:extLst>
              <a:ext uri="{FF2B5EF4-FFF2-40B4-BE49-F238E27FC236}">
                <a16:creationId xmlns:a16="http://schemas.microsoft.com/office/drawing/2014/main" id="{3C638346-EF70-A8A9-C4EB-067A55D2A0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>
            <a:extLst>
              <a:ext uri="{FF2B5EF4-FFF2-40B4-BE49-F238E27FC236}">
                <a16:creationId xmlns:a16="http://schemas.microsoft.com/office/drawing/2014/main" id="{15170F02-0098-6A78-FB5B-4C22E7F9C425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D291F2-F6D1-45A0-AD33-9265752DA7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3525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270731-5C8A-429E-ABBF-2E1AB8ABFA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42CF-FF56-6FDB-BAD0-5F875838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>
            <a:extLst>
              <a:ext uri="{FF2B5EF4-FFF2-40B4-BE49-F238E27FC236}">
                <a16:creationId xmlns:a16="http://schemas.microsoft.com/office/drawing/2014/main" id="{7C90890F-4217-384A-EAE8-028C287F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>
            <a:extLst>
              <a:ext uri="{FF2B5EF4-FFF2-40B4-BE49-F238E27FC236}">
                <a16:creationId xmlns:a16="http://schemas.microsoft.com/office/drawing/2014/main" id="{244D2458-F41F-1721-4BB2-3A2C94DB868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>
            <a:extLst>
              <a:ext uri="{FF2B5EF4-FFF2-40B4-BE49-F238E27FC236}">
                <a16:creationId xmlns:a16="http://schemas.microsoft.com/office/drawing/2014/main" id="{4942E34F-1EAA-1A24-C31A-1378A037FA5F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9BF5A9-74E2-4412-B2E5-63A6D74A6E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844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9BF5A9-74E2-4412-B2E5-63A6D74A6E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all four matter: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fixing only code but not data means you still can't reproduce yesterday's run if the upstream table was updated. Fixing all four means a colleague — or future you — can clone the repo, run one command, and get the same numbers.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A334E0-A6B9-4321-BAEF-AC2B0CCB3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E1F6C6-6331-4487-B927-8CE10FB193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CE21-BDFF-4E98-D172-6BDB9379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F6B8A622-02EC-E2EB-C642-C62296A4F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1263C2E3-755F-642E-ED77-DBFFCE6E16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3E0FEF34-22ED-6D98-332B-9541702C024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18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5A3A-0EC8-0BBB-DC50-5479BFE9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41669D4C-B614-A08D-37E5-B53A43DE2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2625043C-7BA8-5B77-3C08-6434B7361A4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55990CC9-E659-A723-B629-BCDB8DFBCB9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0502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EEC7-27F2-B06A-B2F5-3C01954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6EA8CCD4-BBF8-9E22-61FB-8D988363F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C2343D31-5575-F4B8-6375-9827E8896B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E2692DD6-CCB6-026D-97F5-23B2F7E8737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6601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5D0E-4DFC-1B6E-BB94-B3299EDF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A4C03992-6A0E-1BC1-1FA1-8D166B923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396FE44C-67B1-AB33-45E5-67E243DF25F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2F12F03A-EB89-53AE-EF1D-3DBBB9E10B64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4707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A84E-30BB-045B-97E0-8CFACD9D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92B70010-8359-236C-74EB-F16BC3C19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1856B507-4A20-9B99-C472-3E86C708B0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BE3322E1-5148-3A4D-6D56-C1995A411621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1937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3317-C99A-6CD5-3697-B8FBE4E5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66BC3916-6D8A-585A-B419-8B9847151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8027EC86-31D4-CD5E-0A34-B582A972549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E8759319-3B02-72C9-D0A0-B4C47C5AA56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5689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3BD43B29-04A3-4C83-8EDC-9B5AAE889F9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4210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3BD43B29-04A3-4C83-8EDC-9B5AAE889F9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0529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Webserver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(UI) reads from the same metadata DB and provides the dashboard where you monitor runs, inspect logs, trigger DAGs manually, and manage connections.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3BD43B29-04A3-4C83-8EDC-9B5AAE889F9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136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-poetry.org/doc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-poetry.org/docs/basic-usage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lflow.org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1r023CsTO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WvdLydIAD44?si=V-kB49QClX9YO73O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5000" rIns="36000" bIns="450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31520" y="68580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0960" cy="20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accent4"/>
                </a:solidFill>
                <a:effectLst/>
                <a:uFillTx/>
                <a:latin typeface="Georgia"/>
                <a:ea typeface="Georgia"/>
              </a:rPr>
              <a:t>ML OPS</a:t>
            </a:r>
            <a:endParaRPr lang="en-US" sz="6000" b="0" u="none" strike="noStrike" dirty="0">
              <a:solidFill>
                <a:schemeClr val="accent4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8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31520" y="3657600"/>
            <a:ext cx="59421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— June 2026  ·  Day 1: Foundations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863840" y="640080"/>
            <a:ext cx="8215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863840" y="1143000"/>
            <a:ext cx="8215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spc="300" dirty="0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02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4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57200" y="4864680"/>
            <a:ext cx="36561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080" y="0"/>
            <a:ext cx="9069480" cy="514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So you’ve trained your model. Now what?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58000" y="4864680"/>
            <a:ext cx="18273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400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03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1371600"/>
            <a:ext cx="8228520" cy="265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Training a model is only a small part of the process.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You will need to consider: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Pipelines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deployment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Monitoring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improvement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 descr="Yo, Adrian! I did it! | Rocky III (1982) | Video clips by ... - YARN">
            <a:extLst>
              <a:ext uri="{FF2B5EF4-FFF2-40B4-BE49-F238E27FC236}">
                <a16:creationId xmlns:a16="http://schemas.microsoft.com/office/drawing/2014/main" id="{0CA7D213-651E-DC69-C6F5-C1CD953D3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350" y="1918800"/>
            <a:ext cx="34290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Enter ML 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Shap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8600" y="1143000"/>
            <a:ext cx="82285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MLOps is the set of practices, tools, and culture that aim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to deploy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maintain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machine learning models in production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reliably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efficiently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501000" y="213588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ML/ Data Science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317200" y="358380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Engineering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540800" y="358380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Straight Arrow Connector 39"/>
          <p:cNvCxnSpPr>
            <a:stCxn id="38" idx="0"/>
            <a:endCxn id="37" idx="3"/>
          </p:cNvCxnSpPr>
          <p:nvPr/>
        </p:nvCxnSpPr>
        <p:spPr>
          <a:xfrm flipH="1" flipV="1">
            <a:off x="4871520" y="2478240"/>
            <a:ext cx="1131480" cy="110592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1" name="Straight Arrow Connector 40"/>
          <p:cNvCxnSpPr>
            <a:stCxn id="39" idx="3"/>
            <a:endCxn id="38" idx="1"/>
          </p:cNvCxnSpPr>
          <p:nvPr/>
        </p:nvCxnSpPr>
        <p:spPr>
          <a:xfrm>
            <a:off x="2911320" y="3926160"/>
            <a:ext cx="2406240" cy="36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2" name="Straight Arrow Connector 41"/>
          <p:cNvCxnSpPr>
            <a:stCxn id="37" idx="1"/>
            <a:endCxn id="39" idx="0"/>
          </p:cNvCxnSpPr>
          <p:nvPr/>
        </p:nvCxnSpPr>
        <p:spPr>
          <a:xfrm flipH="1">
            <a:off x="2226240" y="2478240"/>
            <a:ext cx="1275120" cy="110592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ML Ops?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49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28600" y="1199520"/>
            <a:ext cx="822852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Addresses the gap between building a model and keeping it working well in the real world.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Without ML Ops: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is not easily reproducible – “it worked on my laptop”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Versioning – which model is currently in production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Standardised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process of training and deployment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Models can degrade as data changes (drift)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9ED609-73FE-BE6E-047F-835A6C1E4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649" y="2129169"/>
            <a:ext cx="2627711" cy="172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OK… so what’s DevOps though?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51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28600" y="1199520"/>
            <a:ext cx="8228520" cy="3507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 set of practices that combines software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elopment and IT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Op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erations.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Goal is to shorten the development lifecycle and deliver software reliably and continuously through: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Integration (CI)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Developers merge code frequently and each merge triggers automated builds and tests.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Delivery/Deployment (CD)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Code that passes CI is automatically deployed to production or made ready for quick deployment.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Infrastructure as Code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Servers and environments are defined in version-controlled config files (e.g. Terraform), not set up manually.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Monitoring &amp; feedback loops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Production systems are instruments so teams learn quickly when something breaks.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Collaboration -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Developers and operations engineers share ownership of the full lifecycle rather than throwing code over the wall.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97A8E-DA8B-1854-E5B8-33BF559F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>
            <a:extLst>
              <a:ext uri="{FF2B5EF4-FFF2-40B4-BE49-F238E27FC236}">
                <a16:creationId xmlns:a16="http://schemas.microsoft.com/office/drawing/2014/main" id="{C11A73F7-4407-6689-7113-079185A6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Sidebar – What’s </a:t>
            </a: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IaC</a:t>
            </a: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?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C3F36BAB-8817-C17B-83DE-8D1A044D8CA0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71">
            <a:extLst>
              <a:ext uri="{FF2B5EF4-FFF2-40B4-BE49-F238E27FC236}">
                <a16:creationId xmlns:a16="http://schemas.microsoft.com/office/drawing/2014/main" id="{917B0E1E-B84B-F96C-C7EA-6174FFA1A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72">
            <a:extLst>
              <a:ext uri="{FF2B5EF4-FFF2-40B4-BE49-F238E27FC236}">
                <a16:creationId xmlns:a16="http://schemas.microsoft.com/office/drawing/2014/main" id="{0393D97C-6DC9-39BE-147F-8C96848C4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73">
            <a:extLst>
              <a:ext uri="{FF2B5EF4-FFF2-40B4-BE49-F238E27FC236}">
                <a16:creationId xmlns:a16="http://schemas.microsoft.com/office/drawing/2014/main" id="{C7EC7CA5-8744-4C7F-E67C-407F30AF1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74">
            <a:extLst>
              <a:ext uri="{FF2B5EF4-FFF2-40B4-BE49-F238E27FC236}">
                <a16:creationId xmlns:a16="http://schemas.microsoft.com/office/drawing/2014/main" id="{5B3EE732-8617-AED7-63EF-958BD1440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A256A80-F572-2B99-2A38-74C84DABA3CB}"/>
              </a:ext>
            </a:extLst>
          </p:cNvPr>
          <p:cNvSpPr/>
          <p:nvPr/>
        </p:nvSpPr>
        <p:spPr>
          <a:xfrm>
            <a:off x="228600" y="1199520"/>
            <a:ext cx="822852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 method of managing and provisioning data center resources through machine-readable definition files.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Using declarative script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Automation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Version control</a:t>
            </a:r>
          </a:p>
          <a:p>
            <a:pPr marL="360000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Traditionally, you would manually configure cloud resources to set up the infrastructure.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Manual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Tedious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Prone to error</a:t>
            </a:r>
          </a:p>
          <a:p>
            <a:pPr marL="817200" lvl="1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Boring AF</a:t>
            </a:r>
          </a:p>
          <a:p>
            <a:pPr marL="360000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Tools used </a:t>
            </a:r>
            <a:r>
              <a:rPr lang="en-US" sz="1200" dirty="0" err="1">
                <a:solidFill>
                  <a:srgbClr val="000000"/>
                </a:solidFill>
                <a:latin typeface="Georgia"/>
              </a:rPr>
              <a:t>Terrform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Georgia"/>
              </a:rPr>
              <a:t>OpenTofu</a:t>
            </a:r>
            <a:endParaRPr lang="en-US" sz="1200" dirty="0">
              <a:solidFill>
                <a:srgbClr val="000000"/>
              </a:solidFill>
              <a:latin typeface="Georgia"/>
            </a:endParaRPr>
          </a:p>
          <a:p>
            <a:pPr marL="360000" indent="-216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 descr="Terraform – Infrastruktur als Code | GONICUS - Pioneers of Open Source">
            <a:extLst>
              <a:ext uri="{FF2B5EF4-FFF2-40B4-BE49-F238E27FC236}">
                <a16:creationId xmlns:a16="http://schemas.microsoft.com/office/drawing/2014/main" id="{EF29DEDB-EEC1-F3CF-D17D-FBCB808A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860" y="2978150"/>
            <a:ext cx="1250950" cy="1250950"/>
          </a:xfrm>
          <a:prstGeom prst="rect">
            <a:avLst/>
          </a:prstGeom>
        </p:spPr>
      </p:pic>
      <p:pic>
        <p:nvPicPr>
          <p:cNvPr id="3" name="Picture 2" descr="BigDATAwire - Data Science • AI • Advanced Analytics">
            <a:extLst>
              <a:ext uri="{FF2B5EF4-FFF2-40B4-BE49-F238E27FC236}">
                <a16:creationId xmlns:a16="http://schemas.microsoft.com/office/drawing/2014/main" id="{29DD7928-5615-5FCF-04A5-D06CCD74F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820" y="2989554"/>
            <a:ext cx="1531580" cy="110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6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MLOps vs DevOps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An artifact = any output you must keep, version, or deploy.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Software: code / binary / image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ML: code + data + model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DevOps  →  </a:t>
            </a:r>
            <a:r>
              <a:rPr lang="en-US" sz="1500" b="1" u="none" strike="noStrike" dirty="0" err="1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MLOps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Primary artifact: code  →  code + data + model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Tests: unit + integration  →  plus data &amp; model-quality checks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Versioning: source  →  source + data + model + experiment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CI/CD: build-test-deploy  →  plus train-evaluate-monitor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Failure modes: bugs, outages  →  plus drift, bias, silent decay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Determinism: mostly deterministic  →  stochastic (seeds, hardware)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MLOps Maturity Levels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Pick the lowest level that solves your business pain.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0 — Manual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Scripts, notebooks, manual deploys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dirty="0">
                <a:solidFill>
                  <a:srgbClr val="000000"/>
                </a:solidFill>
                <a:latin typeface="Georgia"/>
                <a:ea typeface="DejaVu Sans"/>
              </a:rPr>
              <a:t>P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roof of Concept, early exploration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1 — ML pipeline automation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Automated, reproducible training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dirty="0">
                <a:solidFill>
                  <a:srgbClr val="000000"/>
                </a:solidFill>
                <a:latin typeface="Georgia"/>
                <a:ea typeface="DejaVu Sans"/>
              </a:rPr>
              <a:t>M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odels with regular retraining</a:t>
            </a:r>
          </a:p>
          <a:p>
            <a:pPr marL="298800">
              <a:lnSpc>
                <a:spcPct val="110000"/>
              </a:lnSpc>
              <a:buClr>
                <a:srgbClr val="000000"/>
              </a:buClr>
              <a:buSzPct val="45000"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2 — CI/CD pipeline automation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Code/data/model changes trigger auto retrain + deploy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dirty="0">
                <a:solidFill>
                  <a:srgbClr val="000000"/>
                </a:solidFill>
                <a:latin typeface="Georgia"/>
                <a:ea typeface="DejaVu Sans"/>
              </a:rPr>
              <a:t>H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igh-velocity teams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You don’t always need Level 2, that’s the big league.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The ML Lifecycle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53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Shap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566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(collect, label, etc)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4282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 Engineering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7998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Training/ 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1714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Deployment (serve)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5430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 (drift, performance)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nector: Curved 79"/>
          <p:cNvCxnSpPr>
            <a:stCxn id="75" idx="0"/>
            <a:endCxn id="76" idx="0"/>
          </p:cNvCxnSpPr>
          <p:nvPr/>
        </p:nvCxnSpPr>
        <p:spPr>
          <a:xfrm rot="16200000">
            <a:off x="23133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cxnSp>
        <p:nvCxnSpPr>
          <p:cNvPr id="81" name="Connector: Curved 80"/>
          <p:cNvCxnSpPr>
            <a:stCxn id="76" idx="0"/>
            <a:endCxn id="77" idx="0"/>
          </p:cNvCxnSpPr>
          <p:nvPr/>
        </p:nvCxnSpPr>
        <p:spPr>
          <a:xfrm rot="16200000">
            <a:off x="36849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cxnSp>
        <p:nvCxnSpPr>
          <p:cNvPr id="82" name="Connector: Curved 81"/>
          <p:cNvCxnSpPr>
            <a:stCxn id="77" idx="0"/>
            <a:endCxn id="78" idx="0"/>
          </p:cNvCxnSpPr>
          <p:nvPr/>
        </p:nvCxnSpPr>
        <p:spPr>
          <a:xfrm rot="16200000">
            <a:off x="50565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cxnSp>
        <p:nvCxnSpPr>
          <p:cNvPr id="83" name="Connector: Curved 82"/>
          <p:cNvCxnSpPr>
            <a:stCxn id="78" idx="0"/>
            <a:endCxn id="79" idx="0"/>
          </p:cNvCxnSpPr>
          <p:nvPr/>
        </p:nvCxnSpPr>
        <p:spPr>
          <a:xfrm rot="16200000">
            <a:off x="64281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sp>
        <p:nvSpPr>
          <p:cNvPr id="85" name="Rectangle 84"/>
          <p:cNvSpPr/>
          <p:nvPr/>
        </p:nvSpPr>
        <p:spPr>
          <a:xfrm>
            <a:off x="3814200" y="3429000"/>
            <a:ext cx="1141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Retrain/ Reiterate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B2E10190-4C5C-7603-6E7B-4F595C9FD141}"/>
              </a:ext>
            </a:extLst>
          </p:cNvPr>
          <p:cNvCxnSpPr>
            <a:stCxn id="79" idx="2"/>
            <a:endCxn id="85" idx="3"/>
          </p:cNvCxnSpPr>
          <p:nvPr/>
        </p:nvCxnSpPr>
        <p:spPr>
          <a:xfrm rot="5400000">
            <a:off x="5646510" y="2189610"/>
            <a:ext cx="777060" cy="2157840"/>
          </a:xfrm>
          <a:prstGeom prst="curvedConnector2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3226C0E-4661-0E73-2014-D9C2ABC19FBB}"/>
              </a:ext>
            </a:extLst>
          </p:cNvPr>
          <p:cNvCxnSpPr>
            <a:stCxn id="85" idx="1"/>
            <a:endCxn id="75" idx="2"/>
          </p:cNvCxnSpPr>
          <p:nvPr/>
        </p:nvCxnSpPr>
        <p:spPr>
          <a:xfrm rot="10800000">
            <a:off x="1627560" y="2880000"/>
            <a:ext cx="2186640" cy="777060"/>
          </a:xfrm>
          <a:prstGeom prst="curvedConnector2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EEE5C41-45EE-5D29-B107-E4102CEEB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025" y="3565394"/>
            <a:ext cx="2644831" cy="14638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7577C-F6F5-8A69-1163-7022C6CC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>
            <a:extLst>
              <a:ext uri="{FF2B5EF4-FFF2-40B4-BE49-F238E27FC236}">
                <a16:creationId xmlns:a16="http://schemas.microsoft.com/office/drawing/2014/main" id="{4473410A-2E22-E578-7F2F-84D0F697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models decay - example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57">
            <a:extLst>
              <a:ext uri="{FF2B5EF4-FFF2-40B4-BE49-F238E27FC236}">
                <a16:creationId xmlns:a16="http://schemas.microsoft.com/office/drawing/2014/main" id="{27733C93-ADD6-5458-D831-01DC50416993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3">
            <a:extLst>
              <a:ext uri="{FF2B5EF4-FFF2-40B4-BE49-F238E27FC236}">
                <a16:creationId xmlns:a16="http://schemas.microsoft.com/office/drawing/2014/main" id="{DC1BD4A1-DDE9-DED7-4135-1A7F55C2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Shape 84">
            <a:extLst>
              <a:ext uri="{FF2B5EF4-FFF2-40B4-BE49-F238E27FC236}">
                <a16:creationId xmlns:a16="http://schemas.microsoft.com/office/drawing/2014/main" id="{D10ED03F-1D79-AFEA-A884-AA6905D6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85">
            <a:extLst>
              <a:ext uri="{FF2B5EF4-FFF2-40B4-BE49-F238E27FC236}">
                <a16:creationId xmlns:a16="http://schemas.microsoft.com/office/drawing/2014/main" id="{DE04747B-1F51-6C38-CEFB-62D1AFDA8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86">
            <a:extLst>
              <a:ext uri="{FF2B5EF4-FFF2-40B4-BE49-F238E27FC236}">
                <a16:creationId xmlns:a16="http://schemas.microsoft.com/office/drawing/2014/main" id="{89952FAA-42FF-2A0D-009E-1BEF192C9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3B3F2B5-BEAC-F677-7806-2CCC9CCA0C88}"/>
              </a:ext>
            </a:extLst>
          </p:cNvPr>
          <p:cNvSpPr/>
          <p:nvPr/>
        </p:nvSpPr>
        <p:spPr>
          <a:xfrm>
            <a:off x="685800" y="1371600"/>
            <a:ext cx="7771320" cy="12527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You have trained a fraud detection model.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After some time, you notice that it gives you incorrect predictions.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What could be some reasons?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496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models decay - example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57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Shap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85800" y="1371600"/>
            <a:ext cx="7771320" cy="30993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Possible causes:</a:t>
            </a: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Changes in fraudster </a:t>
            </a: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behaviour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Violations of assumptions made during training.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Changes in the business objective</a:t>
            </a:r>
            <a:endParaRPr lang="en-US" sz="1500" dirty="0">
              <a:solidFill>
                <a:srgbClr val="000000"/>
              </a:solidFill>
              <a:latin typeface="Arial"/>
              <a:ea typeface="DejaVu Sans"/>
            </a:endParaRPr>
          </a:p>
          <a:p>
            <a:pPr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Solutions</a:t>
            </a:r>
          </a:p>
          <a:p>
            <a:pPr marL="673200" lvl="1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May need to collect data and retrain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3200" lvl="1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May need to reformulate the problem as it gets difficult to collect required data.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Reproducibility and Environments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Shap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8" name="Table 117"/>
          <p:cNvGraphicFramePr/>
          <p:nvPr>
            <p:extLst>
              <p:ext uri="{D42A27DB-BD31-4B8C-83A1-F6EECF244321}">
                <p14:modId xmlns:p14="http://schemas.microsoft.com/office/powerpoint/2010/main" val="1060658327"/>
              </p:ext>
            </p:extLst>
          </p:nvPr>
        </p:nvGraphicFramePr>
        <p:xfrm>
          <a:off x="345518" y="1297080"/>
          <a:ext cx="8229600" cy="3557760"/>
        </p:xfrm>
        <a:graphic>
          <a:graphicData uri="http://schemas.openxmlformats.org/drawingml/2006/table">
            <a:tbl>
              <a:tblPr/>
              <a:tblGrid>
                <a:gridCol w="121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Code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Every change to source code is tracked, so you can pinpoint exactly which version produced a given result.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Review changes before merging and roll back if needed.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Use Version Control tools such as Git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MyPy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Validation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Perform code reviews.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Environments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Specify the exact set of software dependencies (Python version, library versions, system libraries)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Ensure it can be recreated identically on any machine.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Poetry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The dataset used for training is versioned and addressable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Can always re-run an experiment against the same snapshot of data that produced the original result.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DVC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LakeFS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S3 Versioning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Randomness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All sources of randomness (weight initialisation, data shuffling, dropout, train/val splits) are controlled via fixed seeds so runs are deterministic given the same input.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Seeded Random Number Generators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" name="Rectangle 118"/>
          <p:cNvSpPr/>
          <p:nvPr/>
        </p:nvSpPr>
        <p:spPr>
          <a:xfrm>
            <a:off x="228600" y="1251000"/>
            <a:ext cx="6857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The Big 4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Shap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Table 127"/>
          <p:cNvGraphicFramePr/>
          <p:nvPr>
            <p:extLst>
              <p:ext uri="{D42A27DB-BD31-4B8C-83A1-F6EECF244321}">
                <p14:modId xmlns:p14="http://schemas.microsoft.com/office/powerpoint/2010/main" val="1898506507"/>
              </p:ext>
            </p:extLst>
          </p:nvPr>
        </p:nvGraphicFramePr>
        <p:xfrm>
          <a:off x="282060" y="1325165"/>
          <a:ext cx="8578440" cy="3042904"/>
        </p:xfrm>
        <a:graphic>
          <a:graphicData uri="http://schemas.openxmlformats.org/drawingml/2006/table">
            <a:tbl>
              <a:tblPr/>
              <a:tblGrid>
                <a:gridCol w="111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3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71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Tool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What it isolates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Manages Python itself?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Pin Mechanism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Best for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Python packages only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 – uses whichever Python you call it with.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‘requirements.txt’  (manual or ‘pip-freeze’)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Simple projects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267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Packages, Python versions, </a:t>
                      </a: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and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C/systems libraries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Yes – can install Python 3.9, 3.11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etc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per env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environment.yml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’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 Science 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with complex C/CUDA dependencies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537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only (no Python, no system libs)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‘requirements.in’ which is a compiled ‘requirements.txt’ with full hash-locked tree.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Teams who need reproducible, auditable pip installs without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overhead.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" name="Table 135"/>
          <p:cNvGraphicFramePr/>
          <p:nvPr>
            <p:extLst>
              <p:ext uri="{D42A27DB-BD31-4B8C-83A1-F6EECF244321}">
                <p14:modId xmlns:p14="http://schemas.microsoft.com/office/powerpoint/2010/main" val="473117711"/>
              </p:ext>
            </p:extLst>
          </p:nvPr>
        </p:nvGraphicFramePr>
        <p:xfrm>
          <a:off x="228600" y="1403834"/>
          <a:ext cx="8578440" cy="3061314"/>
        </p:xfrm>
        <a:graphic>
          <a:graphicData uri="http://schemas.openxmlformats.org/drawingml/2006/table">
            <a:tbl>
              <a:tblPr/>
              <a:tblGrid>
                <a:gridCol w="111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3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9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Tool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What it isolates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Manages Python itself?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Pin Mechanism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Best for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poetry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Packages only (no Python, no system libs)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No, but integrates with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pyenv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.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sz="1050" b="0" u="none" strike="noStrike" kern="120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pyproject.toml</a:t>
                      </a: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’, which is a compiled hashed </a:t>
                      </a:r>
                      <a:r>
                        <a:rPr lang="en-US" sz="1050" b="0" u="none" strike="noStrike" kern="120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poetry.lock</a:t>
                      </a: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 file.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Modern pure-Python projects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All-in-one dep management, </a:t>
                      </a:r>
                      <a:r>
                        <a:rPr lang="en-US" sz="1050" b="0" u="none" strike="noStrike" kern="120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venv</a:t>
                      </a: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, and packaging.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41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System libs, Python, packages, runtime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Yes – the image freezes the runtime and all dependencies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Dockerfile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and requirements.txt inside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Deployment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CI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Sharing with people who aren’t Python users.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3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UV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Packages and Python version (downloads its own)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Yes – installs/ pins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Cpython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builds per project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Pyproject.toml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uv.lock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(hashed, cross-platform)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Fast, modern projects wanting one tool for the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envs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, deps, locking, and Python install.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BDD45-2228-710E-3114-7136262C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B068A7C5-D114-4C69-4387-EE998BFA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Lockfiles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A818B262-4B82-F1D2-6A52-78E480366AF1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E7EDAE9F-F89C-83A3-2773-1B3F431BE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FB223B25-84EA-43E1-714B-F49751338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A8BDBCB2-8DCA-A801-8D46-963DC762E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30C87513-64FC-C789-1368-9B212C349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2A0F0DE-1CD4-433D-8B45-E491E0C5CAA3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18D2A-054E-B090-130A-EEBDCB9FE513}"/>
              </a:ext>
            </a:extLst>
          </p:cNvPr>
          <p:cNvSpPr txBox="1"/>
          <p:nvPr/>
        </p:nvSpPr>
        <p:spPr>
          <a:xfrm>
            <a:off x="228600" y="1304025"/>
            <a:ext cx="8578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Georgia" panose="02040502050405020303" pitchFamily="18" charset="0"/>
              </a:rPr>
              <a:t>pip </a:t>
            </a:r>
            <a:r>
              <a:rPr lang="en-US" sz="1000" dirty="0" err="1">
                <a:latin typeface="Georgia" panose="02040502050405020303" pitchFamily="18" charset="0"/>
              </a:rPr>
              <a:t>lockfile</a:t>
            </a:r>
            <a:r>
              <a:rPr lang="en-US" sz="1000" dirty="0">
                <a:latin typeface="Georgia" panose="02040502050405020303" pitchFamily="18" charset="0"/>
              </a:rPr>
              <a:t> -  a machine-generated file that records the exact version and cryptographic hash of every package (direct and transitive) that was installed at a known, good point in time.</a:t>
            </a:r>
            <a:endParaRPr lang="de-DE" sz="1000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DA48F-BF52-BCE2-0527-4235B7384747}"/>
              </a:ext>
            </a:extLst>
          </p:cNvPr>
          <p:cNvSpPr txBox="1"/>
          <p:nvPr/>
        </p:nvSpPr>
        <p:spPr>
          <a:xfrm>
            <a:off x="322342" y="1704135"/>
            <a:ext cx="78875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Requirements.in lists packages you need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‘pip-compile’ resolves the full dependency tree, incl. the packages own dependencies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Then writes a ‘requirements.txt’ that pins every single package to an exact version, plus a SHA-256 hash:</a:t>
            </a:r>
          </a:p>
          <a:p>
            <a:pPr lvl="1"/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9AF60-D44C-C36A-0A6A-0E52581FC160}"/>
              </a:ext>
            </a:extLst>
          </p:cNvPr>
          <p:cNvSpPr txBox="1"/>
          <p:nvPr/>
        </p:nvSpPr>
        <p:spPr>
          <a:xfrm>
            <a:off x="1813701" y="2318910"/>
            <a:ext cx="39930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scikit-learn==1.4.2 \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   --hash=sha256:a3b4c... \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   --hash=sha256:d5e6f...</a:t>
            </a:r>
          </a:p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numpy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==1.26.4 \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   --hash=sha256:7a8b9...</a:t>
            </a:r>
            <a:endParaRPr lang="de-DE" sz="900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2EF45-EEA0-CC39-E5EA-E292AEF5B9FB}"/>
              </a:ext>
            </a:extLst>
          </p:cNvPr>
          <p:cNvSpPr txBox="1"/>
          <p:nvPr/>
        </p:nvSpPr>
        <p:spPr>
          <a:xfrm>
            <a:off x="457200" y="3216846"/>
            <a:ext cx="768688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‘pip-sync’ installs </a:t>
            </a:r>
            <a:r>
              <a:rPr lang="en-US" sz="1050" u="sng" dirty="0">
                <a:latin typeface="Georgia" panose="02040502050405020303" pitchFamily="18" charset="0"/>
              </a:rPr>
              <a:t>exactly</a:t>
            </a:r>
            <a:r>
              <a:rPr lang="en-US" sz="1050" dirty="0">
                <a:latin typeface="Georgia" panose="02040502050405020303" pitchFamily="18" charset="0"/>
              </a:rPr>
              <a:t> that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 hash check means pip refuses to install a package if its contents don’t match.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This is stricter than a plain ‘pip freeze’, which pins versions, but does not verify hashes.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60039-240D-A658-7299-CEF572894D26}"/>
              </a:ext>
            </a:extLst>
          </p:cNvPr>
          <p:cNvSpPr txBox="1"/>
          <p:nvPr/>
        </p:nvSpPr>
        <p:spPr>
          <a:xfrm>
            <a:off x="322342" y="3986521"/>
            <a:ext cx="78875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produces the same kind of hash-verified lock files.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pip compile requirements.in –o requirements.txt’ emits the familiar pinned-and-hashed ‘requirements.txt’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For project management, ‘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lock’ writes a ‘</a:t>
            </a:r>
            <a:r>
              <a:rPr lang="en-US" sz="1050" dirty="0" err="1">
                <a:latin typeface="Georgia" panose="02040502050405020303" pitchFamily="18" charset="0"/>
              </a:rPr>
              <a:t>uv.lock</a:t>
            </a:r>
            <a:r>
              <a:rPr lang="en-US" sz="1050" dirty="0">
                <a:latin typeface="Georgia" panose="02040502050405020303" pitchFamily="18" charset="0"/>
              </a:rPr>
              <a:t>’ that – unlike ‘</a:t>
            </a:r>
            <a:r>
              <a:rPr lang="en-US" sz="1050" dirty="0" err="1">
                <a:latin typeface="Georgia" panose="02040502050405020303" pitchFamily="18" charset="0"/>
              </a:rPr>
              <a:t>poetry.locl</a:t>
            </a:r>
            <a:r>
              <a:rPr lang="en-US" sz="1050" dirty="0">
                <a:latin typeface="Georgia" panose="02040502050405020303" pitchFamily="18" charset="0"/>
              </a:rPr>
              <a:t>’ – is </a:t>
            </a:r>
            <a:r>
              <a:rPr lang="en-US" sz="1050" u="sng" dirty="0">
                <a:latin typeface="Georgia" panose="02040502050405020303" pitchFamily="18" charset="0"/>
              </a:rPr>
              <a:t>cross-platform</a:t>
            </a: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09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3B431-A62C-4382-11E9-27E63C5C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E3D19414-7E1B-9B75-D9C4-02D39680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Poetry vs pip-tools vs </a:t>
            </a: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</a:rPr>
              <a:t>uv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3C4A4BD8-1DF5-4B50-D2DB-B2A421135B25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8D4021D4-4BF2-EA49-D386-B584ED0D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02DBB6B7-791C-A1FC-272C-DA768354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286923B6-9C63-A2F6-046E-2C291B3C4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FD9F7679-DC65-4780-2A87-461087675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F539836-64DB-09FD-BE31-D56AF9D7C1F6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F6FF0-6704-9564-7C8C-137AE95AB479}"/>
              </a:ext>
            </a:extLst>
          </p:cNvPr>
          <p:cNvSpPr txBox="1"/>
          <p:nvPr/>
        </p:nvSpPr>
        <p:spPr>
          <a:xfrm>
            <a:off x="228600" y="1315683"/>
            <a:ext cx="82281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All three can produce a hashed </a:t>
            </a:r>
            <a:r>
              <a:rPr lang="en-US" sz="1050" dirty="0" err="1">
                <a:latin typeface="Georgia" panose="02040502050405020303" pitchFamily="18" charset="0"/>
              </a:rPr>
              <a:t>lockfile</a:t>
            </a:r>
            <a:r>
              <a:rPr lang="en-US" sz="1050" dirty="0">
                <a:latin typeface="Georgia" panose="02040502050405020303" pitchFamily="18" charset="0"/>
              </a:rPr>
              <a:t>, but they differ in scope and speed.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pip-tools:</a:t>
            </a:r>
            <a:endParaRPr lang="en-US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Just the compile/ sync step – you manage the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 yourself and the format stays as </a:t>
            </a:r>
            <a:r>
              <a:rPr lang="en-US" sz="1050" b="1" dirty="0">
                <a:latin typeface="Georgia" panose="02040502050405020303" pitchFamily="18" charset="0"/>
              </a:rPr>
              <a:t>‘requirements.txt’, </a:t>
            </a:r>
            <a:r>
              <a:rPr lang="en-US" sz="1050" dirty="0">
                <a:latin typeface="Georgia" panose="02040502050405020303" pitchFamily="18" charset="0"/>
              </a:rPr>
              <a:t>which is universally understood.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poetry:</a:t>
            </a:r>
            <a:endParaRPr lang="en-US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All-in-one: creates and manages the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, resolves dependencies and writes ‘</a:t>
            </a:r>
            <a:r>
              <a:rPr lang="en-US" sz="1050" b="1" dirty="0" err="1">
                <a:latin typeface="Georgia" panose="02040502050405020303" pitchFamily="18" charset="0"/>
              </a:rPr>
              <a:t>poetry.lock</a:t>
            </a:r>
            <a:r>
              <a:rPr lang="en-US" sz="1050" b="1" dirty="0">
                <a:latin typeface="Georgia" panose="02040502050405020303" pitchFamily="18" charset="0"/>
              </a:rPr>
              <a:t>’</a:t>
            </a:r>
            <a:r>
              <a:rPr lang="en-US" sz="1050" dirty="0">
                <a:latin typeface="Georgia" panose="02040502050405020303" pitchFamily="18" charset="0"/>
              </a:rPr>
              <a:t>, and can build/ publish packages (</a:t>
            </a:r>
            <a:r>
              <a:rPr lang="en-US" sz="1050" i="1" dirty="0">
                <a:latin typeface="Georgia" panose="02040502050405020303" pitchFamily="18" charset="0"/>
              </a:rPr>
              <a:t>poetry build, poetry publish</a:t>
            </a:r>
            <a:r>
              <a:rPr lang="en-US" sz="1050" dirty="0">
                <a:latin typeface="Georgia" panose="02040502050405020303" pitchFamily="18" charset="0"/>
              </a:rPr>
              <a:t>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Trade-offs: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Steeper learning curve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</a:t>
            </a:r>
            <a:r>
              <a:rPr lang="en-US" sz="1050" dirty="0" err="1">
                <a:latin typeface="Georgia" panose="02040502050405020303" pitchFamily="18" charset="0"/>
              </a:rPr>
              <a:t>pyproject.toml</a:t>
            </a:r>
            <a:r>
              <a:rPr lang="en-US" sz="1050" dirty="0">
                <a:latin typeface="Georgia" panose="02040502050405020303" pitchFamily="18" charset="0"/>
              </a:rPr>
              <a:t>’ workflow that come CI tools handle less gracefully.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Python 3.10+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b="1" dirty="0" err="1">
                <a:latin typeface="Georgia" panose="02040502050405020303" pitchFamily="18" charset="0"/>
              </a:rPr>
              <a:t>uv</a:t>
            </a:r>
            <a:r>
              <a:rPr lang="de-DE" sz="1050" b="1" dirty="0">
                <a:latin typeface="Georgia" panose="02040502050405020303" pitchFamily="18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Covers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same </a:t>
            </a:r>
            <a:r>
              <a:rPr lang="de-DE" sz="1050" dirty="0" err="1">
                <a:latin typeface="Georgia" panose="02040502050405020303" pitchFamily="18" charset="0"/>
              </a:rPr>
              <a:t>as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both</a:t>
            </a:r>
            <a:r>
              <a:rPr lang="de-DE" sz="1050" dirty="0">
                <a:latin typeface="Georgia" panose="02040502050405020303" pitchFamily="18" charset="0"/>
              </a:rPr>
              <a:t> – </a:t>
            </a:r>
            <a:r>
              <a:rPr lang="de-DE" sz="1050" dirty="0" err="1">
                <a:latin typeface="Georgia" panose="02040502050405020303" pitchFamily="18" charset="0"/>
              </a:rPr>
              <a:t>can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act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as</a:t>
            </a:r>
            <a:r>
              <a:rPr lang="de-DE" sz="1050" dirty="0">
                <a:latin typeface="Georgia" panose="02040502050405020303" pitchFamily="18" charset="0"/>
              </a:rPr>
              <a:t> a fast </a:t>
            </a:r>
            <a:r>
              <a:rPr lang="de-DE" sz="1050" dirty="0" err="1">
                <a:latin typeface="Georgia" panose="02040502050405020303" pitchFamily="18" charset="0"/>
              </a:rPr>
              <a:t>drop</a:t>
            </a:r>
            <a:r>
              <a:rPr lang="de-DE" sz="1050" dirty="0">
                <a:latin typeface="Georgia" panose="02040502050405020303" pitchFamily="18" charset="0"/>
              </a:rPr>
              <a:t>-in </a:t>
            </a:r>
            <a:r>
              <a:rPr lang="de-DE" sz="1050" dirty="0" err="1">
                <a:latin typeface="Georgia" panose="02040502050405020303" pitchFamily="18" charset="0"/>
              </a:rPr>
              <a:t>for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pip</a:t>
            </a:r>
            <a:r>
              <a:rPr lang="de-DE" sz="1050" dirty="0">
                <a:latin typeface="Georgia" panose="02040502050405020303" pitchFamily="18" charset="0"/>
              </a:rPr>
              <a:t>-tools (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pip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compile</a:t>
            </a:r>
            <a:r>
              <a:rPr lang="de-DE" sz="1050" i="1" dirty="0">
                <a:latin typeface="Georgia" panose="02040502050405020303" pitchFamily="18" charset="0"/>
              </a:rPr>
              <a:t>/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pip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sync</a:t>
            </a:r>
            <a:r>
              <a:rPr lang="de-DE" sz="1050" i="1" dirty="0">
                <a:latin typeface="Georgia" panose="02040502050405020303" pitchFamily="18" charset="0"/>
              </a:rPr>
              <a:t>)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or</a:t>
            </a:r>
            <a:r>
              <a:rPr lang="de-DE" sz="1050" dirty="0">
                <a:latin typeface="Georgia" panose="02040502050405020303" pitchFamily="18" charset="0"/>
              </a:rPr>
              <a:t>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Full </a:t>
            </a:r>
            <a:r>
              <a:rPr lang="de-DE" sz="1050" dirty="0" err="1">
                <a:latin typeface="Georgia" panose="02040502050405020303" pitchFamily="18" charset="0"/>
              </a:rPr>
              <a:t>poetry</a:t>
            </a:r>
            <a:r>
              <a:rPr lang="de-DE" sz="1050" dirty="0">
                <a:latin typeface="Georgia" panose="02040502050405020303" pitchFamily="18" charset="0"/>
              </a:rPr>
              <a:t>-style </a:t>
            </a:r>
            <a:r>
              <a:rPr lang="de-DE" sz="1050" dirty="0" err="1">
                <a:latin typeface="Georgia" panose="02040502050405020303" pitchFamily="18" charset="0"/>
              </a:rPr>
              <a:t>project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manager</a:t>
            </a:r>
            <a:r>
              <a:rPr lang="de-DE" sz="1050" dirty="0">
                <a:latin typeface="Georgia" panose="02040502050405020303" pitchFamily="18" charset="0"/>
              </a:rPr>
              <a:t> (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add</a:t>
            </a:r>
            <a:r>
              <a:rPr lang="de-DE" sz="1050" i="1" dirty="0">
                <a:latin typeface="Georgia" panose="02040502050405020303" pitchFamily="18" charset="0"/>
              </a:rPr>
              <a:t>,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sync</a:t>
            </a:r>
            <a:r>
              <a:rPr lang="de-DE" sz="1050" i="1" dirty="0">
                <a:latin typeface="Georgia" panose="02040502050405020303" pitchFamily="18" charset="0"/>
              </a:rPr>
              <a:t>,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build</a:t>
            </a:r>
            <a:r>
              <a:rPr lang="de-DE" sz="1050" i="1" dirty="0">
                <a:latin typeface="Georgia" panose="02040502050405020303" pitchFamily="18" charset="0"/>
              </a:rPr>
              <a:t>,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publish</a:t>
            </a:r>
            <a:r>
              <a:rPr lang="de-DE" sz="1050" dirty="0">
                <a:latin typeface="Georgia" panose="02040502050405020303" pitchFamily="18" charset="0"/>
              </a:rPr>
              <a:t>) – </a:t>
            </a:r>
            <a:r>
              <a:rPr lang="de-DE" sz="1050" dirty="0" err="1">
                <a:latin typeface="Georgia" panose="02040502050405020303" pitchFamily="18" charset="0"/>
              </a:rPr>
              <a:t>while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managing</a:t>
            </a:r>
            <a:r>
              <a:rPr lang="de-DE" sz="1050" dirty="0">
                <a:latin typeface="Georgia" panose="02040502050405020303" pitchFamily="18" charset="0"/>
              </a:rPr>
              <a:t> Python </a:t>
            </a:r>
            <a:r>
              <a:rPr lang="de-DE" sz="1050" dirty="0" err="1">
                <a:latin typeface="Georgia" panose="02040502050405020303" pitchFamily="18" charset="0"/>
              </a:rPr>
              <a:t>versions</a:t>
            </a:r>
            <a:r>
              <a:rPr lang="de-DE" sz="1050" dirty="0">
                <a:latin typeface="Georgia" panose="02040502050405020303" pitchFamily="18" charset="0"/>
              </a:rPr>
              <a:t> and </a:t>
            </a:r>
            <a:r>
              <a:rPr lang="de-DE" sz="1050" dirty="0" err="1">
                <a:latin typeface="Georgia" panose="02040502050405020303" pitchFamily="18" charset="0"/>
              </a:rPr>
              <a:t>running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daramatically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faster</a:t>
            </a:r>
            <a:r>
              <a:rPr lang="de-DE" sz="1050" dirty="0">
                <a:latin typeface="Georgia" panose="02040502050405020303" pitchFamily="18" charset="0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Downside</a:t>
            </a:r>
            <a:r>
              <a:rPr lang="de-DE" sz="1050" dirty="0">
                <a:latin typeface="Georgia" panose="02040502050405020303" pitchFamily="18" charset="0"/>
              </a:rPr>
              <a:t>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Maturity</a:t>
            </a:r>
            <a:r>
              <a:rPr lang="de-DE" sz="1050" dirty="0">
                <a:latin typeface="Georgia" panose="02040502050405020303" pitchFamily="18" charset="0"/>
              </a:rPr>
              <a:t>; </a:t>
            </a:r>
            <a:r>
              <a:rPr lang="de-DE" sz="1050" dirty="0" err="1">
                <a:latin typeface="Georgia" panose="02040502050405020303" pitchFamily="18" charset="0"/>
              </a:rPr>
              <a:t>is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newest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of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three</a:t>
            </a:r>
            <a:r>
              <a:rPr lang="de-DE" sz="1050" dirty="0">
                <a:latin typeface="Georgia" panose="02040502050405020303" pitchFamily="18" charset="0"/>
              </a:rPr>
              <a:t>.</a:t>
            </a:r>
            <a:r>
              <a:rPr lang="de-DE" sz="1050" b="1" dirty="0">
                <a:latin typeface="Georgia" panose="02040502050405020303" pitchFamily="18" charset="0"/>
              </a:rPr>
              <a:t> </a:t>
            </a:r>
          </a:p>
        </p:txBody>
      </p:sp>
      <p:pic>
        <p:nvPicPr>
          <p:cNvPr id="2" name="Picture 1" descr="Most loved' programming language Rust now has its own foundation">
            <a:extLst>
              <a:ext uri="{FF2B5EF4-FFF2-40B4-BE49-F238E27FC236}">
                <a16:creationId xmlns:a16="http://schemas.microsoft.com/office/drawing/2014/main" id="{CEB14453-E687-C6FA-6298-A733036E5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850" y="4215501"/>
            <a:ext cx="1410701" cy="79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78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B36F7-1170-C5E8-2661-8A75F57E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91DA6BCC-4493-0E09-49E0-EC3E27D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Poetry vs pip-tools vs </a:t>
            </a: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</a:rPr>
              <a:t>uv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0873614E-D00D-8077-69B2-C82AFFE0AE41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4B553599-5C98-D085-DF10-1C9833E0A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45708024-8898-0312-97C1-95601FB14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6E9C44FD-CE4B-E1DE-8923-7AF9116BB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3712FEA0-88FF-9C04-7A1D-A2971BD96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AABB358-F890-B7F2-5441-7D54A66F352E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E208B-A60D-EC5B-7585-63F5453E4C7E}"/>
              </a:ext>
            </a:extLst>
          </p:cNvPr>
          <p:cNvSpPr txBox="1"/>
          <p:nvPr/>
        </p:nvSpPr>
        <p:spPr>
          <a:xfrm>
            <a:off x="228600" y="1315683"/>
            <a:ext cx="82281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Pip-tools often preferred for ML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Conda/ Docker stack already handles the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 layer.</a:t>
            </a:r>
          </a:p>
          <a:p>
            <a:pPr lvl="1"/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Poetry shines for pure-Python libraries or services where you also need to publish to </a:t>
            </a:r>
            <a:r>
              <a:rPr lang="en-US" sz="1050" dirty="0" err="1">
                <a:latin typeface="Georgia" panose="02040502050405020303" pitchFamily="18" charset="0"/>
              </a:rPr>
              <a:t>PyPI</a:t>
            </a:r>
            <a:r>
              <a:rPr lang="en-US" sz="1050" dirty="0">
                <a:latin typeface="Georgia" panose="02040502050405020303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is increasingly the default first choice for new pure-Python projects: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Collapses pip, pip-</a:t>
            </a:r>
            <a:r>
              <a:rPr lang="en-US" sz="1050" dirty="0" err="1">
                <a:latin typeface="Georgia" panose="02040502050405020303" pitchFamily="18" charset="0"/>
              </a:rPr>
              <a:t>toolsm</a:t>
            </a:r>
            <a:r>
              <a:rPr lang="en-US" sz="1050" dirty="0">
                <a:latin typeface="Georgia" panose="02040502050405020303" pitchFamily="18" charset="0"/>
              </a:rPr>
              <a:t>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, and much of Petry into one fast tool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Docker-friendly speed makes CI builds faster!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96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E42AD-E10A-0D6D-E0A6-30FE14F6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C8A00C0A-C00D-38C0-DE01-BADA55C1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Choosing in practice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8F25BCC8-E40D-8BE6-8627-C2BB590164D6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779D3BC0-7662-ED2A-3D5F-84C9E6A9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C66D557D-225E-4A8E-03FA-348A3DB70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C54ACDDE-6EB3-1225-E3A1-E2E2B642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62ADD9B3-7506-3FB7-27C1-5D7D7E611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0E3AB6E-EA99-F51D-DDB0-FED0FD607363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310AB-7A92-CB02-C762-17C91509D348}"/>
              </a:ext>
            </a:extLst>
          </p:cNvPr>
          <p:cNvSpPr txBox="1"/>
          <p:nvPr/>
        </p:nvSpPr>
        <p:spPr>
          <a:xfrm>
            <a:off x="228600" y="1315683"/>
            <a:ext cx="8228160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Start with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 and pip-tools for pure-Python projects where simplicity matters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Alternatively, straight to 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endParaRPr lang="en-US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Use poetry when building a pure-Python library or service and want one tool to handle deps,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, and packaging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Or 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Reach for </a:t>
            </a:r>
            <a:r>
              <a:rPr lang="en-US" sz="1050" dirty="0" err="1">
                <a:latin typeface="Georgia" panose="02040502050405020303" pitchFamily="18" charset="0"/>
              </a:rPr>
              <a:t>conda</a:t>
            </a:r>
            <a:r>
              <a:rPr lang="en-US" sz="1050" dirty="0">
                <a:latin typeface="Georgia" panose="02040502050405020303" pitchFamily="18" charset="0"/>
              </a:rPr>
              <a:t> when you need a specific Python version or heavy C/CUDA dependencies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can’t do that yet…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Add Docker </a:t>
            </a:r>
            <a:r>
              <a:rPr lang="de-DE" sz="1050" dirty="0" err="1">
                <a:latin typeface="Georgia" panose="02040502050405020303" pitchFamily="18" charset="0"/>
              </a:rPr>
              <a:t>when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you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need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to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hand</a:t>
            </a:r>
            <a:r>
              <a:rPr lang="de-DE" sz="1050" dirty="0">
                <a:latin typeface="Georgia" panose="02040502050405020303" pitchFamily="18" charset="0"/>
              </a:rPr>
              <a:t> off </a:t>
            </a:r>
            <a:r>
              <a:rPr lang="de-DE" sz="1050" dirty="0" err="1">
                <a:latin typeface="Georgia" panose="02040502050405020303" pitchFamily="18" charset="0"/>
              </a:rPr>
              <a:t>to</a:t>
            </a:r>
            <a:r>
              <a:rPr lang="de-DE" sz="1050" dirty="0">
                <a:latin typeface="Georgia" panose="02040502050405020303" pitchFamily="18" charset="0"/>
              </a:rPr>
              <a:t> an </a:t>
            </a:r>
            <a:r>
              <a:rPr lang="de-DE" sz="1050" dirty="0" err="1">
                <a:latin typeface="Georgia" panose="02040502050405020303" pitchFamily="18" charset="0"/>
              </a:rPr>
              <a:t>environment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you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don‘t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control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CI </a:t>
            </a:r>
            <a:r>
              <a:rPr lang="de-DE" sz="1050" dirty="0" err="1">
                <a:latin typeface="Georgia" panose="02040502050405020303" pitchFamily="18" charset="0"/>
              </a:rPr>
              <a:t>server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Colleague‘s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machine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Production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container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de-DE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Conda and Docker </a:t>
            </a:r>
            <a:r>
              <a:rPr lang="de-DE" sz="1050" dirty="0" err="1">
                <a:latin typeface="Georgia" panose="02040502050405020303" pitchFamily="18" charset="0"/>
              </a:rPr>
              <a:t>is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common</a:t>
            </a:r>
            <a:r>
              <a:rPr lang="de-DE" sz="1050" dirty="0">
                <a:latin typeface="Georgia" panose="02040502050405020303" pitchFamily="18" charset="0"/>
              </a:rPr>
              <a:t> in ML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Conda </a:t>
            </a:r>
            <a:r>
              <a:rPr lang="de-DE" sz="1050" dirty="0" err="1">
                <a:latin typeface="Georgia" panose="02040502050405020303" pitchFamily="18" charset="0"/>
              </a:rPr>
              <a:t>resolves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tricky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deps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Docker </a:t>
            </a:r>
            <a:r>
              <a:rPr lang="de-DE" sz="1050" dirty="0" err="1">
                <a:latin typeface="Georgia" panose="02040502050405020303" pitchFamily="18" charset="0"/>
              </a:rPr>
              <a:t>guarantees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image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is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identical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everywhere</a:t>
            </a: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610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5F607-6238-0FFF-F9D5-3B91BD95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07089365-AB92-FBF2-80A8-AF4A01B3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Exercise - Poetry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34AFD4F1-4876-2DA3-6F99-BC62D019E536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2E57399D-2E79-5CE9-1CAC-7028D17D3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738D3296-7462-7718-3F9F-8FE764DF6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5E9C121D-551A-0B49-8A86-CC3318530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3F709EFC-627B-A480-DAFD-0B3EB4531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5CBD751-FF75-58DE-07C5-9EF88C612378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0C89D-427C-8B62-79C4-0072B94628BB}"/>
              </a:ext>
            </a:extLst>
          </p:cNvPr>
          <p:cNvSpPr txBox="1"/>
          <p:nvPr/>
        </p:nvSpPr>
        <p:spPr>
          <a:xfrm>
            <a:off x="228600" y="1315683"/>
            <a:ext cx="82281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We will follow the example of installing Poetry and managing the dependencies as per the documentation: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dirty="0">
                <a:latin typeface="Georgia" panose="02040502050405020303" pitchFamily="18" charset="0"/>
              </a:rPr>
              <a:t>	</a:t>
            </a:r>
            <a:r>
              <a:rPr lang="de-DE" sz="1050" dirty="0">
                <a:latin typeface="Georgia" panose="02040502050405020303" pitchFamily="18" charset="0"/>
                <a:hlinkClick r:id="rId3"/>
              </a:rPr>
              <a:t>https://python-poetry.org/docs/</a:t>
            </a:r>
            <a:endParaRPr lang="de-DE" sz="1050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  <a:p>
            <a:r>
              <a:rPr lang="de-DE" sz="1050" dirty="0">
                <a:latin typeface="Georgia" panose="02040502050405020303" pitchFamily="18" charset="0"/>
              </a:rPr>
              <a:t>	</a:t>
            </a:r>
            <a:r>
              <a:rPr lang="de-DE" sz="1050" dirty="0">
                <a:latin typeface="Georgia" panose="02040502050405020303" pitchFamily="18" charset="0"/>
                <a:hlinkClick r:id="rId4"/>
              </a:rPr>
              <a:t>https://python-poetry.org/docs/basic-usage/</a:t>
            </a:r>
            <a:endParaRPr lang="de-DE" sz="1050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82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99EFA-A683-70B2-9361-2C9F3B65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611D4C00-593F-1D1B-8012-30A2CD60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Project Structure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A5B6251A-AF4C-CF22-38AE-A9BB9C0963D2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A67AD89E-AC75-7328-FF54-DC0EE641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72970367-AA44-1C25-648F-BEA679E0E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63126459-2E6D-CCF5-3F32-25B288D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6BF3A622-729E-7D31-6B05-F99C3AEDA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9475919-C166-E676-4123-0DB14A5F3C43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ED8AB-06B7-5183-01E0-1E8E3661B2EF}"/>
              </a:ext>
            </a:extLst>
          </p:cNvPr>
          <p:cNvSpPr txBox="1"/>
          <p:nvPr/>
        </p:nvSpPr>
        <p:spPr>
          <a:xfrm>
            <a:off x="228600" y="1256478"/>
            <a:ext cx="82281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There is no enforcement of how a repository is structured, mainly best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common layout: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C8EF4-F851-06C5-3A25-0476A0AE47A2}"/>
              </a:ext>
            </a:extLst>
          </p:cNvPr>
          <p:cNvSpPr txBox="1"/>
          <p:nvPr/>
        </p:nvSpPr>
        <p:spPr>
          <a:xfrm>
            <a:off x="605214" y="1743281"/>
            <a:ext cx="621002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data/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notebooks/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 err="1">
                <a:latin typeface="Georgia" panose="02040502050405020303" pitchFamily="18" charset="0"/>
              </a:rPr>
              <a:t>src</a:t>
            </a:r>
            <a:r>
              <a:rPr lang="en-US" sz="1050" dirty="0">
                <a:latin typeface="Georgia" panose="02040502050405020303" pitchFamily="18" charset="0"/>
              </a:rPr>
              <a:t>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data/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features/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models/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inference/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tests/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 err="1">
                <a:latin typeface="Georgia" panose="02040502050405020303" pitchFamily="18" charset="0"/>
              </a:rPr>
              <a:t>pyproject.toml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README.md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710A5-B1A3-66FC-3EFF-A03E9EC9E319}"/>
              </a:ext>
            </a:extLst>
          </p:cNvPr>
          <p:cNvSpPr txBox="1"/>
          <p:nvPr/>
        </p:nvSpPr>
        <p:spPr>
          <a:xfrm>
            <a:off x="342078" y="3572081"/>
            <a:ext cx="82281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Best practice: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Notebooks for exploration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Production code lives in </a:t>
            </a:r>
            <a:r>
              <a:rPr lang="en-US" sz="1050" dirty="0" err="1">
                <a:latin typeface="Georgia" panose="02040502050405020303" pitchFamily="18" charset="0"/>
              </a:rPr>
              <a:t>src</a:t>
            </a:r>
            <a:r>
              <a:rPr lang="en-US" sz="1050" dirty="0">
                <a:latin typeface="Georgia" panose="02040502050405020303" pitchFamily="18" charset="0"/>
              </a:rPr>
              <a:t>/ and is unit-tested.</a:t>
            </a:r>
            <a:endParaRPr lang="de-DE" sz="1050" dirty="0"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2863EE-F38C-F42F-F924-A69E7C8DF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80" y="1221759"/>
            <a:ext cx="1586060" cy="891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33FEBF-7D54-1F9B-CE9A-A8CF61148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497" y="2946896"/>
            <a:ext cx="1970343" cy="194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15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Seeds &amp; Determinism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0B339F-B006-330D-8EDF-EA732A77A360}"/>
              </a:ext>
            </a:extLst>
          </p:cNvPr>
          <p:cNvSpPr txBox="1"/>
          <p:nvPr/>
        </p:nvSpPr>
        <p:spPr>
          <a:xfrm>
            <a:off x="228600" y="1322262"/>
            <a:ext cx="82281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Our work needs to be reproducible, particularly with how a model was 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Exercise: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Jupyter</a:t>
            </a:r>
            <a:r>
              <a:rPr lang="en-US" sz="1050" dirty="0">
                <a:latin typeface="Georgia" panose="02040502050405020303" pitchFamily="18" charset="0"/>
              </a:rPr>
              <a:t> Notebook in day1/Session_1/</a:t>
            </a:r>
            <a:r>
              <a:rPr lang="en-US" sz="1050" dirty="0" err="1">
                <a:latin typeface="Georgia" panose="02040502050405020303" pitchFamily="18" charset="0"/>
              </a:rPr>
              <a:t>seeds_and_determinism.ipynb</a:t>
            </a: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Experiment Tracking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Without tracking you end up with…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model_final.pkl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, model_final_v2.pkl, model_final_v2_REAL.pkl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“What learning rate gave us 0.91 AUC last Tuesday?”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Two teammates reporting different numbers for the “same” model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 tracker records, for every run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Parameters 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— hyperparameters, dataset version, code commit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Metrics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— loss, accuracy, AUC, latency…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Artifacts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— model file, plots, confusion matrix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Tags / metadata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— author, git SHA, environment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MLflow at a Glance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Body"/>
          <p:cNvSpPr/>
          <p:nvPr/>
        </p:nvSpPr>
        <p:spPr>
          <a:xfrm>
            <a:off x="228420" y="2457460"/>
            <a:ext cx="8685720" cy="28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Four components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Tracking — log params, metrics, artifacts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Projects — package code in a reproducible form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Models — a standard format for packaging models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 Registry — versioned, stage-aware (Staging → Production)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D19DB-D690-53DD-67E0-583B437DD345}"/>
              </a:ext>
            </a:extLst>
          </p:cNvPr>
          <p:cNvSpPr txBox="1"/>
          <p:nvPr/>
        </p:nvSpPr>
        <p:spPr>
          <a:xfrm>
            <a:off x="228600" y="1217007"/>
            <a:ext cx="8228160" cy="127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We will be using </a:t>
            </a:r>
            <a:r>
              <a:rPr lang="en-US" sz="1050" dirty="0" err="1">
                <a:latin typeface="Georgia" panose="02040502050405020303" pitchFamily="18" charset="0"/>
              </a:rPr>
              <a:t>MLFlow</a:t>
            </a:r>
            <a:r>
              <a:rPr lang="en-US" sz="1050" dirty="0">
                <a:latin typeface="Georgia" panose="02040502050405020303" pitchFamily="18" charset="0"/>
              </a:rPr>
              <a:t>, which is the largest open-source engineering platform  </a:t>
            </a:r>
          </a:p>
          <a:p>
            <a:pPr lvl="1">
              <a:lnSpc>
                <a:spcPct val="150000"/>
              </a:lnSpc>
            </a:pPr>
            <a:r>
              <a:rPr lang="en-US" sz="1050" dirty="0">
                <a:latin typeface="Georgia" panose="02040502050405020303" pitchFamily="18" charset="0"/>
                <a:hlinkClick r:id="rId2"/>
              </a:rPr>
              <a:t>https://mlflow.org/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MLFlow</a:t>
            </a:r>
            <a:r>
              <a:rPr lang="en-US" sz="1050" dirty="0">
                <a:latin typeface="Georgia" panose="02040502050405020303" pitchFamily="18" charset="0"/>
              </a:rPr>
              <a:t> provides: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experiment tracking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model evaluation capabilities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CF959-C127-D01B-3B65-EFAE6B89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>
            <a:extLst>
              <a:ext uri="{FF2B5EF4-FFF2-40B4-BE49-F238E27FC236}">
                <a16:creationId xmlns:a16="http://schemas.microsoft.com/office/drawing/2014/main" id="{62142213-64C6-C629-4C3C-14BA1CBF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MLflow</a:t>
            </a: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 Exercise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GoldDash0">
            <a:extLst>
              <a:ext uri="{FF2B5EF4-FFF2-40B4-BE49-F238E27FC236}">
                <a16:creationId xmlns:a16="http://schemas.microsoft.com/office/drawing/2014/main" id="{00915009-8C15-9164-C6C6-7CA00B8F8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ldDash1">
            <a:extLst>
              <a:ext uri="{FF2B5EF4-FFF2-40B4-BE49-F238E27FC236}">
                <a16:creationId xmlns:a16="http://schemas.microsoft.com/office/drawing/2014/main" id="{41828D43-1F42-184F-451D-73B90C41E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ldDash2">
            <a:extLst>
              <a:ext uri="{FF2B5EF4-FFF2-40B4-BE49-F238E27FC236}">
                <a16:creationId xmlns:a16="http://schemas.microsoft.com/office/drawing/2014/main" id="{F5A7D416-26CD-CD75-BAA4-58CFA26B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opBar">
            <a:extLst>
              <a:ext uri="{FF2B5EF4-FFF2-40B4-BE49-F238E27FC236}">
                <a16:creationId xmlns:a16="http://schemas.microsoft.com/office/drawing/2014/main" id="{3CC159FD-FE2C-EF17-9FED-E48D74858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25E85-4A07-E64B-2270-B1454FB87179}"/>
              </a:ext>
            </a:extLst>
          </p:cNvPr>
          <p:cNvSpPr txBox="1"/>
          <p:nvPr/>
        </p:nvSpPr>
        <p:spPr>
          <a:xfrm>
            <a:off x="228600" y="1217007"/>
            <a:ext cx="8228160" cy="30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Access the Jupyter Notebook in day1/Session_2/</a:t>
            </a:r>
            <a:r>
              <a:rPr lang="en-US" sz="1050" dirty="0" err="1">
                <a:latin typeface="Georgia" panose="02040502050405020303" pitchFamily="18" charset="0"/>
              </a:rPr>
              <a:t>experiment_tracking.ipynb</a:t>
            </a:r>
            <a:endParaRPr lang="en-US" sz="1050" dirty="0">
              <a:latin typeface="Georgia" panose="02040502050405020303" pitchFamily="18" charset="0"/>
            </a:endParaRPr>
          </a:p>
        </p:txBody>
      </p:sp>
      <p:pic>
        <p:nvPicPr>
          <p:cNvPr id="3" name="Picture 2" descr="Stream Diabeetus Remix by JereTheJuggler | Listen online for free on  SoundCloud">
            <a:extLst>
              <a:ext uri="{FF2B5EF4-FFF2-40B4-BE49-F238E27FC236}">
                <a16:creationId xmlns:a16="http://schemas.microsoft.com/office/drawing/2014/main" id="{63BD15FC-EDE0-EC86-6B49-A06BD06B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511" y="1689170"/>
            <a:ext cx="1959769" cy="195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84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44765-EC0F-7016-D216-6D3B866A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33CA3766-4E9D-CAEB-8454-06545CA4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Data: Versioning, Validation, Pipelines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ldDash0">
            <a:extLst>
              <a:ext uri="{FF2B5EF4-FFF2-40B4-BE49-F238E27FC236}">
                <a16:creationId xmlns:a16="http://schemas.microsoft.com/office/drawing/2014/main" id="{7B70AE59-83A6-C038-DD63-905D10887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ldDash1">
            <a:extLst>
              <a:ext uri="{FF2B5EF4-FFF2-40B4-BE49-F238E27FC236}">
                <a16:creationId xmlns:a16="http://schemas.microsoft.com/office/drawing/2014/main" id="{F15E0EE1-5027-12E7-54AC-FA242905F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ldDash2">
            <a:extLst>
              <a:ext uri="{FF2B5EF4-FFF2-40B4-BE49-F238E27FC236}">
                <a16:creationId xmlns:a16="http://schemas.microsoft.com/office/drawing/2014/main" id="{710DF43A-D3F6-647E-0E2D-E13BE798C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opBar">
            <a:extLst>
              <a:ext uri="{FF2B5EF4-FFF2-40B4-BE49-F238E27FC236}">
                <a16:creationId xmlns:a16="http://schemas.microsoft.com/office/drawing/2014/main" id="{616C8D29-CC4B-1180-C5F7-AC9BC0809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Body">
            <a:extLst>
              <a:ext uri="{FF2B5EF4-FFF2-40B4-BE49-F238E27FC236}">
                <a16:creationId xmlns:a16="http://schemas.microsoft.com/office/drawing/2014/main" id="{1D123EC4-4660-AB4B-9CCB-250FCC76345B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Models are functions of: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Data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Code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Configuration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u="none" strike="noStrike" dirty="0">
              <a:solidFill>
                <a:srgbClr val="1F263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dirty="0">
                <a:solidFill>
                  <a:srgbClr val="1F2630"/>
                </a:solidFill>
                <a:latin typeface="Georgia" panose="02040502050405020303" pitchFamily="18" charset="0"/>
                <a:ea typeface="DejaVu Sans"/>
              </a:rPr>
              <a:t>If 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data changes unknowingly = irreproducible results </a:t>
            </a:r>
            <a:endParaRPr lang="en-US" sz="1050" dirty="0">
              <a:solidFill>
                <a:srgbClr val="000000"/>
              </a:solidFill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Examples include: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renamed columns, 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new country addition, 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redefined labels (e.g. “active user” now means 30 days, not 7)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41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Data: Versioning, Validation, Pipelines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BA377-1E2F-F071-2DA2-4C69854EA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835131"/>
              </p:ext>
            </p:extLst>
          </p:nvPr>
        </p:nvGraphicFramePr>
        <p:xfrm>
          <a:off x="228599" y="1263500"/>
          <a:ext cx="8770675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372">
                  <a:extLst>
                    <a:ext uri="{9D8B030D-6E8A-4147-A177-3AD203B41FA5}">
                      <a16:colId xmlns:a16="http://schemas.microsoft.com/office/drawing/2014/main" val="1074093951"/>
                    </a:ext>
                  </a:extLst>
                </a:gridCol>
                <a:gridCol w="1164695">
                  <a:extLst>
                    <a:ext uri="{9D8B030D-6E8A-4147-A177-3AD203B41FA5}">
                      <a16:colId xmlns:a16="http://schemas.microsoft.com/office/drawing/2014/main" val="3318617326"/>
                    </a:ext>
                  </a:extLst>
                </a:gridCol>
                <a:gridCol w="2034348">
                  <a:extLst>
                    <a:ext uri="{9D8B030D-6E8A-4147-A177-3AD203B41FA5}">
                      <a16:colId xmlns:a16="http://schemas.microsoft.com/office/drawing/2014/main" val="852619509"/>
                    </a:ext>
                  </a:extLst>
                </a:gridCol>
                <a:gridCol w="2034348">
                  <a:extLst>
                    <a:ext uri="{9D8B030D-6E8A-4147-A177-3AD203B41FA5}">
                      <a16:colId xmlns:a16="http://schemas.microsoft.com/office/drawing/2014/main" val="3689865760"/>
                    </a:ext>
                  </a:extLst>
                </a:gridCol>
                <a:gridCol w="2506912">
                  <a:extLst>
                    <a:ext uri="{9D8B030D-6E8A-4147-A177-3AD203B41FA5}">
                      <a16:colId xmlns:a16="http://schemas.microsoft.com/office/drawing/2014/main" val="3034100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Approach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Features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Trade-offs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Best when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20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Snapshots in object storage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S3 Versioning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Keeps copy of each object version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Simple, cheap, but no metadata (no information about run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etc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Not able to track differences like git.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Need a quick, auditable copy of each dataset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Few experiments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71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Git-Like data versioning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DVC,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LakeFS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Content-addressed hashes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Pointer is committed to git while data live in a remote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Ties data to exact commit.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Extra CLI to install and learn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Large-file rewrites are costly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Want code and data versioned together with a familiar git mental model.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9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 Warehouse Time Travel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Snowflake,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BigQuery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Delta Lake/ Iceberg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Engine retains table history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No extra tooling if already on platform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Vendor-coupled syntax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Retention window can expire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Still must log which snapshot a run is used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Training data already lives in a warehouse/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lakehouse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and query it with SQL.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04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Feature stores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Feast/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Tecton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Versioned feature definitions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Point in time correct joins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Reuse features across models.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Highest operational cost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Overkill for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small projects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Multiple models share features or need low latency online serving.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6953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Snapshots in object storage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9A888D-AC1E-1227-7C29-8708CC8D3C6F}"/>
              </a:ext>
            </a:extLst>
          </p:cNvPr>
          <p:cNvSpPr txBox="1"/>
          <p:nvPr/>
        </p:nvSpPr>
        <p:spPr>
          <a:xfrm>
            <a:off x="228600" y="1216080"/>
            <a:ext cx="822816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Simplest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Every time you prepare a dataset, write it to a new path or use a storage system that keeps old versions automatically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S3 versioning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Enabling versioning on an S3 bucket means every PUT keeps the previous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You can retrieve any past version by specifying its version 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No extra tooling is required.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Naming conventions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Many teams simply timestamp the path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Cheap, auditable, but you have to manage retention manually.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Limitations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There’s no metadata about why a version was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No diffing or concept of branches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Tracking files used can become its own problem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b="1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39C82-9CC0-B301-15D3-3223C5FA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70B62572-F9D0-A2B7-84C2-E965CE54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Git-like data versioning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408D338A-FF64-E6E2-A4F6-6259D222B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7F582245-4048-B13C-CBAE-2ECB5628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D0D99BFC-5C48-19EE-F504-D00A15569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48D4E790-E5BB-3A65-B26C-FF0F49F65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6C48E7EC-3A67-C08D-DFA9-EBC74449B69E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C7951C-5856-EDA7-FEDC-A72DAE0092C7}"/>
              </a:ext>
            </a:extLst>
          </p:cNvPr>
          <p:cNvSpPr txBox="1"/>
          <p:nvPr/>
        </p:nvSpPr>
        <p:spPr>
          <a:xfrm>
            <a:off x="457200" y="1216080"/>
            <a:ext cx="822816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Tools bring the git mental model (commits, branches, diffs, remotes) to large files and datasets.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DVC (Data Version Control)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Works alongside git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DVC stores a small .</a:t>
            </a: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pointer file in git while the actual data lives in a remote (e.g. S3, local)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add data/train.csv -&gt; creates ‘data/</a:t>
            </a:r>
            <a:r>
              <a:rPr lang="en-US" sz="1050" dirty="0" err="1">
                <a:latin typeface="Georgia" panose="02040502050405020303" pitchFamily="18" charset="0"/>
              </a:rPr>
              <a:t>train.csv.dvc</a:t>
            </a:r>
            <a:r>
              <a:rPr lang="en-US" sz="1050" dirty="0">
                <a:latin typeface="Georgia" panose="02040502050405020303" pitchFamily="18" charset="0"/>
              </a:rPr>
              <a:t>’ (committed to git) and pushes data to the remote.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repro re-runs the pipeline if inputs change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push/pull sync data the same way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git push/pull syncs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single commit captures code and the pointer to the exact data snapshot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Is a Python package and must be explicitly installed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Every developer and every CI machine needs </a:t>
            </a: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installed alongside the project’s normal Python dependencies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Remote S3, GCS, also needs credentials configured -&gt; DVC intentionally does not store credentials in the repo.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Caveats: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Large file rewrites are expensive -&gt; changing one byte of a 10 GB file creates a completely new cache entry.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Git push/pull will not automatically perform a </a:t>
            </a: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push/pull, both will need to be run.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Lake FS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Acts as a git-like layer on top of existing object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Get branches, commits, and merges for data lake without copying bytes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Teams use feature branches for data experiments and merge them when validated, exactly like code review for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Heavier infrastructure than DVC; better suited to large </a:t>
            </a:r>
            <a:r>
              <a:rPr lang="en-US" sz="1050" dirty="0" err="1">
                <a:latin typeface="Georgia" panose="02040502050405020303" pitchFamily="18" charset="0"/>
              </a:rPr>
              <a:t>organisations</a:t>
            </a:r>
            <a:r>
              <a:rPr lang="en-US" sz="1050" dirty="0">
                <a:latin typeface="Georgia" panose="02040502050405020303" pitchFamily="18" charset="0"/>
              </a:rPr>
              <a:t> with a dedicated data platform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Demonstration -&gt; </a:t>
            </a:r>
            <a:r>
              <a:rPr lang="en-US" sz="1050" dirty="0">
                <a:latin typeface="Georgia" panose="02040502050405020303" pitchFamily="18" charset="0"/>
                <a:hlinkClick r:id="rId3"/>
              </a:rPr>
              <a:t>https://www.youtube.com/watch?v=R1r023CsTOw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193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58972-C976-409E-D666-F1996B42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366EF4B-4309-9C32-C2BA-6104A166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Sidebar - Data Warehouses and Marts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361CBB1A-19CC-A527-7CE2-A7F77F758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53202BC1-4A15-1BFE-8E83-3C79D3D8A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3040963E-0C6C-DAA0-5D04-32EA0D5CF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FED0BB7D-6D7F-0CBC-CFF3-8524C53D4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C0FA0439-E4A5-4708-4B49-14C08F5D46A8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C2A7E7-CBB6-0178-B444-C616B44388A9}"/>
              </a:ext>
            </a:extLst>
          </p:cNvPr>
          <p:cNvSpPr txBox="1"/>
          <p:nvPr/>
        </p:nvSpPr>
        <p:spPr>
          <a:xfrm>
            <a:off x="457200" y="1216080"/>
            <a:ext cx="82281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Georgia" panose="02040502050405020303" pitchFamily="18" charset="0"/>
              </a:rPr>
              <a:t>Data Warehouse: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Centralised</a:t>
            </a:r>
            <a:r>
              <a:rPr lang="en-US" sz="1050" dirty="0">
                <a:latin typeface="Georgia" panose="02040502050405020303" pitchFamily="18" charset="0"/>
              </a:rPr>
              <a:t> repository that stores large volumes of structured, historical data from multiple sources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Optimised</a:t>
            </a:r>
            <a:r>
              <a:rPr lang="en-US" sz="1050" dirty="0">
                <a:latin typeface="Georgia" panose="02040502050405020303" pitchFamily="18" charset="0"/>
              </a:rPr>
              <a:t> for analytical queries rather than transactional write.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Data typically loaded in batches via ETL/ELT pipelines and organized into wide tables, so analysts and ML pipelines can query large data ranges quickly.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Data Mart: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Focused subset of a data warehouse scoped to a specific business domain or team (e.g. Marketing Data, or Churn prediction data)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Warehouse holds everything, a mart holds only tables and columns relevant to use case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Often with pre-aggregated views to speed up common queries.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Usually used for ML 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Time travel is a feature of modern analytical databases that keeps a change of history of every table, letting you query data as it was a t a point in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Matters for reproducibility</a:t>
            </a: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04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B08AC-C3CC-1624-0DC2-ADE7CD3F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FC08FB9E-DC4F-7EEF-39DE-E2D59F48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Feature stores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F01BD863-2051-EC9E-B9AA-C6521BE88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BCAADA97-5BE2-2786-875B-A366E402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43E23AA9-567C-19B2-37B5-520377F60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F8CF1A32-47DC-A828-F64E-116034655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DA39C10D-BB52-806F-64CE-01881DAAFCAD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43886-EAE7-DE32-E71A-4D9B7E655677}"/>
              </a:ext>
            </a:extLst>
          </p:cNvPr>
          <p:cNvSpPr txBox="1"/>
          <p:nvPr/>
        </p:nvSpPr>
        <p:spPr>
          <a:xfrm>
            <a:off x="457200" y="1141920"/>
            <a:ext cx="822816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Georgia" panose="02040502050405020303" pitchFamily="18" charset="0"/>
              </a:rPr>
              <a:t>Centralised</a:t>
            </a:r>
            <a:r>
              <a:rPr lang="en-US" sz="1050" dirty="0">
                <a:latin typeface="Georgia" panose="02040502050405020303" pitchFamily="18" charset="0"/>
              </a:rPr>
              <a:t> repository that computes, stores, and serves features </a:t>
            </a:r>
          </a:p>
          <a:p>
            <a:r>
              <a:rPr lang="en-US" sz="1050" dirty="0">
                <a:latin typeface="Georgia" panose="02040502050405020303" pitchFamily="18" charset="0"/>
                <a:hlinkClick r:id="rId3"/>
              </a:rPr>
              <a:t>https://youtu.be/WvdLydIAD44?si=V-kB49QClX9YO73O</a:t>
            </a: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Train/ serve skew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Features computed in a batch pipeline running overnight.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Model serves predictions in production, same features need to be recomputed in real-time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Often in a different codebase or language.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Any difference in that logic (different null handling, different rounding, different time window) leads model receiving inputs it has never seen during training.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Silently degrades because the distribution of inputs has shifted (transformation changed data)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Why it matters for versioning?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Can compute the same feature differently in the training pipeline and the serving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Solves with: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One definition, two paths: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Offline store – used by training pipelines to fetch large historical windows of feature values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Online store – used by the serving layer to look up the latest value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Both populated by the same compute job -&gt; Transformation is guaranteed identical across training and serving.</a:t>
            </a:r>
          </a:p>
          <a:p>
            <a:pPr lvl="1"/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When you actually need one?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Most small projects don’t.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Best suited: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Multiple models consuming the same feature – with no store, same logic is duplicated and diverge over time.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Low latency requirements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Compliance requirements</a:t>
            </a: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279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45F0B-2D27-DE46-62B2-82371532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E7E26118-B644-210B-FBC3-58DDD1AB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Data validation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22264A52-A95D-5865-47CE-6059B95E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5E1B688E-9ACA-547C-BCDF-891746801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FDD67DA2-1141-E158-ABE7-A05BBC13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91118220-A50F-B680-5EEC-497A985FE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86477C33-AEFA-280A-7896-DA94818706FA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4A410-760E-A198-2CAE-44FE0948FE71}"/>
              </a:ext>
            </a:extLst>
          </p:cNvPr>
          <p:cNvSpPr txBox="1"/>
          <p:nvPr/>
        </p:nvSpPr>
        <p:spPr>
          <a:xfrm>
            <a:off x="228600" y="1216080"/>
            <a:ext cx="827729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latin typeface="Georgia" panose="02040502050405020303" pitchFamily="18" charset="0"/>
              </a:rPr>
              <a:t>Before training and before serving, validate: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Schema: </a:t>
            </a:r>
            <a:r>
              <a:rPr lang="en-US" sz="1050" dirty="0">
                <a:latin typeface="Georgia" panose="02040502050405020303" pitchFamily="18" charset="0"/>
              </a:rPr>
              <a:t>Are the expected columns present? Do they have the right types? Are required fields non-null?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Distribution: </a:t>
            </a:r>
            <a:r>
              <a:rPr lang="en-US" sz="1050" dirty="0">
                <a:latin typeface="Georgia" panose="02040502050405020303" pitchFamily="18" charset="0"/>
              </a:rPr>
              <a:t>Have the statistical properties shifted? Is age now capped at 99 when it used to go to 120? Has a previously rare category suddenly become the majority class?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Referential integrity: </a:t>
            </a:r>
            <a:r>
              <a:rPr lang="en-US" sz="1050" dirty="0">
                <a:latin typeface="Georgia" panose="02040502050405020303" pitchFamily="18" charset="0"/>
              </a:rPr>
              <a:t>Do foreign keys resolve? Are join keys consistent across tables?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Catching these before training avoids wasting time and resources on a corrupted dataset.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Catching them before serving avoids making predictions on inputs the model has never seen.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77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FE32F-9F3B-1B4B-9610-A43CB6AE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2E4AFD8D-6DB6-641E-5751-15F7360E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Data validation - Tools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3C38B47D-7C8B-EE5F-373D-440E84B73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5AFAF75A-52D8-82B5-1376-D1DC9F40D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0E0E0321-BB2F-9E2B-C31D-A5E873583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FB71D0F0-8D5E-DC2D-6CEC-D85C43EF5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4D1F7817-8381-3197-201A-2EC34C3F2131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CED24B-C815-89CC-695A-828983947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1620"/>
              </p:ext>
            </p:extLst>
          </p:nvPr>
        </p:nvGraphicFramePr>
        <p:xfrm>
          <a:off x="258216" y="1307880"/>
          <a:ext cx="8198904" cy="3017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726">
                  <a:extLst>
                    <a:ext uri="{9D8B030D-6E8A-4147-A177-3AD203B41FA5}">
                      <a16:colId xmlns:a16="http://schemas.microsoft.com/office/drawing/2014/main" val="3392674335"/>
                    </a:ext>
                  </a:extLst>
                </a:gridCol>
                <a:gridCol w="2049726">
                  <a:extLst>
                    <a:ext uri="{9D8B030D-6E8A-4147-A177-3AD203B41FA5}">
                      <a16:colId xmlns:a16="http://schemas.microsoft.com/office/drawing/2014/main" val="3791539126"/>
                    </a:ext>
                  </a:extLst>
                </a:gridCol>
                <a:gridCol w="2049726">
                  <a:extLst>
                    <a:ext uri="{9D8B030D-6E8A-4147-A177-3AD203B41FA5}">
                      <a16:colId xmlns:a16="http://schemas.microsoft.com/office/drawing/2014/main" val="1589373105"/>
                    </a:ext>
                  </a:extLst>
                </a:gridCol>
                <a:gridCol w="2049726">
                  <a:extLst>
                    <a:ext uri="{9D8B030D-6E8A-4147-A177-3AD203B41FA5}">
                      <a16:colId xmlns:a16="http://schemas.microsoft.com/office/drawing/2014/main" val="3523908254"/>
                    </a:ext>
                  </a:extLst>
                </a:gridCol>
              </a:tblGrid>
              <a:tr h="31973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does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Best for: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 offs: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926997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Pandera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Validates pandas and Polars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DataFrames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by decorating them with a typed schema.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In-pipeline validation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– top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of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a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training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script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asset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column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types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ranges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and null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rates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before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any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processing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begins</a:t>
                      </a:r>
                      <a:endParaRPr lang="en-US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Lightweight and Pythonic.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Schema definitions live in code.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Less suited to generating reports for non-technical stakeholders.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55328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Great Expectations (GX)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Defines suite of assertions about data and generates HTML validation reports.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CICD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Dataquality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gates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–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blocks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pipeline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proceeding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if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incoming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fails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.</a:t>
                      </a:r>
                      <a:endParaRPr lang="en-US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Significant setup overhead.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Overkill for single-developer project.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170833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TFDV (</a:t>
                      </a: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Tensorflow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Data Validation)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Computes statistics over a dataset and compares them against saved schema or reference dataset to detect drift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TFX/ TensorFlow pipelines where you need tight integration with the rest of the TFX ecosystem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Tightly coupled to TensorFlow and TFX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Difficult to use outside that stack.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254775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Evidently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Generates interactive reports comparing a reference dataset (e.g. training data) to a current dataset across data drift, model performance, and data quality dimensions 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Production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Run on a schedule to monitor data drift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Designed for monitoring, not pre-training validation.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Will not block a pipeline step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Produces a report for review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609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147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936BE-C962-3D46-84B1-74C538A2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40A02AA-2D65-96D5-B282-40BB0876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Data validation - Exercise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CE30A69C-B861-E6B0-EF0B-32A7BE148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85AC2B6E-91F6-E1BA-112C-78C0A6F25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0AD31E6C-637E-EECB-854C-995ABC88C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E91D3D9A-125F-A694-9FAA-492126B48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96B519E7-2E73-83CB-7E0E-567B7553FF60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C27FF6-B892-EF89-B3EA-9A355A62E985}"/>
              </a:ext>
            </a:extLst>
          </p:cNvPr>
          <p:cNvSpPr txBox="1"/>
          <p:nvPr/>
        </p:nvSpPr>
        <p:spPr>
          <a:xfrm>
            <a:off x="228600" y="1307880"/>
            <a:ext cx="7441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Access the Jupyter Notebook in day1/Session_3/</a:t>
            </a:r>
            <a:r>
              <a:rPr lang="en-US" dirty="0" err="1">
                <a:latin typeface="Georgia" panose="02040502050405020303" pitchFamily="18" charset="0"/>
              </a:rPr>
              <a:t>data_validation.ipynb</a:t>
            </a:r>
            <a:endParaRPr lang="en-US" dirty="0">
              <a:latin typeface="Georgia" panose="02040502050405020303" pitchFamily="18" charset="0"/>
            </a:endParaRPr>
          </a:p>
          <a:p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718B8-178C-E38B-8E29-07F5412B1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50" y="2046011"/>
            <a:ext cx="3378200" cy="22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275DB-02D9-6CAA-68A1-5572E20C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CA14D3D7-761F-05C0-FA74-01F690A8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Pipelines &amp; Airflow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0CCC1D77-4334-A9C3-7AB6-26812202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FEEE95E9-1D78-4613-F3F2-C564335CA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8A780106-139D-7B45-08A5-A2EF85C93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372A1041-04EC-BEE6-0865-87CD4AE41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B46C93A5-8B83-9AC6-F363-9B870304DE65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6E04C8-712A-23D1-AFF8-381BCFDD09DE}"/>
              </a:ext>
            </a:extLst>
          </p:cNvPr>
          <p:cNvSpPr txBox="1"/>
          <p:nvPr/>
        </p:nvSpPr>
        <p:spPr>
          <a:xfrm>
            <a:off x="228600" y="1216080"/>
            <a:ext cx="822816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pipeline is a series of steps: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Ingest -&gt; Validate -&gt; Feature -&gt; Train -&gt; Evaluate -&gt; Register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Common </a:t>
            </a:r>
            <a:r>
              <a:rPr lang="en-US" sz="1050" b="1" dirty="0">
                <a:latin typeface="Georgia" panose="02040502050405020303" pitchFamily="18" charset="0"/>
              </a:rPr>
              <a:t>orchestration</a:t>
            </a:r>
            <a:r>
              <a:rPr lang="en-US" sz="1050" dirty="0">
                <a:latin typeface="Georgia" panose="02040502050405020303" pitchFamily="18" charset="0"/>
              </a:rPr>
              <a:t> tools used in industry: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Airflow, Prefect, </a:t>
            </a:r>
            <a:r>
              <a:rPr lang="en-US" sz="1050" dirty="0" err="1">
                <a:latin typeface="Georgia" panose="02040502050405020303" pitchFamily="18" charset="0"/>
              </a:rPr>
              <a:t>Dagster</a:t>
            </a:r>
            <a:r>
              <a:rPr lang="en-US" sz="1050" dirty="0">
                <a:latin typeface="Georgia" panose="02040502050405020303" pitchFamily="18" charset="0"/>
              </a:rPr>
              <a:t>, </a:t>
            </a:r>
            <a:r>
              <a:rPr lang="en-US" sz="1050" dirty="0" err="1">
                <a:latin typeface="Georgia" panose="02040502050405020303" pitchFamily="18" charset="0"/>
              </a:rPr>
              <a:t>KubeFlow</a:t>
            </a:r>
            <a:r>
              <a:rPr lang="en-US" sz="1050" dirty="0">
                <a:latin typeface="Georgia" panose="02040502050405020303" pitchFamily="18" charset="0"/>
              </a:rPr>
              <a:t> Pipelines, </a:t>
            </a:r>
            <a:r>
              <a:rPr lang="en-US" sz="1050" dirty="0" err="1">
                <a:latin typeface="Georgia" panose="02040502050405020303" pitchFamily="18" charset="0"/>
              </a:rPr>
              <a:t>Metaflow</a:t>
            </a:r>
            <a:r>
              <a:rPr lang="en-US" sz="1050" dirty="0">
                <a:latin typeface="Georgia" panose="02040502050405020303" pitchFamily="18" charset="0"/>
              </a:rPr>
              <a:t>, </a:t>
            </a:r>
            <a:r>
              <a:rPr lang="en-US" sz="1050" dirty="0" err="1">
                <a:latin typeface="Georgia" panose="02040502050405020303" pitchFamily="18" charset="0"/>
              </a:rPr>
              <a:t>ZenML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</a:t>
            </a:r>
            <a:r>
              <a:rPr lang="en-US" sz="1050" b="1" dirty="0">
                <a:latin typeface="Georgia" panose="02040502050405020303" pitchFamily="18" charset="0"/>
              </a:rPr>
              <a:t>Directed Acyclic Graph (DAG)</a:t>
            </a:r>
            <a:r>
              <a:rPr lang="en-US" sz="1050" dirty="0">
                <a:latin typeface="Georgia" panose="02040502050405020303" pitchFamily="18" charset="0"/>
              </a:rPr>
              <a:t> is a set of tasks with dependencies between them that form no cycles.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You define the graph structure in code – the what and in what order.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 tool’s scheduler handles the when, where, and retry logic.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Makes separation is what makes orchestration tools valuable</a:t>
            </a: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C03C7-DF40-4C17-C36D-FB2145F364CE}"/>
              </a:ext>
            </a:extLst>
          </p:cNvPr>
          <p:cNvSpPr/>
          <p:nvPr/>
        </p:nvSpPr>
        <p:spPr>
          <a:xfrm>
            <a:off x="526273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Data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E90C1-18A6-301D-D6CA-F6E89ACAFDCD}"/>
              </a:ext>
            </a:extLst>
          </p:cNvPr>
          <p:cNvSpPr/>
          <p:nvPr/>
        </p:nvSpPr>
        <p:spPr>
          <a:xfrm>
            <a:off x="1865529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Validate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26DE0-0522-E1B4-1044-DFFC640B9A88}"/>
              </a:ext>
            </a:extLst>
          </p:cNvPr>
          <p:cNvSpPr/>
          <p:nvPr/>
        </p:nvSpPr>
        <p:spPr>
          <a:xfrm>
            <a:off x="3204785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Featurise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C1ECF-CE2C-38BB-3637-41D6BFDE6797}"/>
              </a:ext>
            </a:extLst>
          </p:cNvPr>
          <p:cNvSpPr/>
          <p:nvPr/>
        </p:nvSpPr>
        <p:spPr>
          <a:xfrm>
            <a:off x="4544041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Train Model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D9545-4C5B-BDD4-2EF4-8433C551D87B}"/>
              </a:ext>
            </a:extLst>
          </p:cNvPr>
          <p:cNvSpPr/>
          <p:nvPr/>
        </p:nvSpPr>
        <p:spPr>
          <a:xfrm>
            <a:off x="5883854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Evaluate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2AD74-037F-C8FC-CB15-F26945E226E8}"/>
              </a:ext>
            </a:extLst>
          </p:cNvPr>
          <p:cNvSpPr/>
          <p:nvPr/>
        </p:nvSpPr>
        <p:spPr>
          <a:xfrm>
            <a:off x="4544041" y="4047754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Register Model</a:t>
            </a:r>
            <a:endParaRPr lang="de-DE" sz="11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715383-0AFA-A7C4-3925-EEC407E88F4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466987" y="3401899"/>
            <a:ext cx="39854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B4B271-1908-4326-56BA-3B90FA625A4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806243" y="3401899"/>
            <a:ext cx="39854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D628C8-32DF-9440-95A5-3ED7AC2059D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45499" y="3401899"/>
            <a:ext cx="39854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FFD3AF-398E-3F33-34D9-5E2B8D6B219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014398" y="3612408"/>
            <a:ext cx="0" cy="43534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EB1FC6-62A0-055B-40E6-55A1C45D325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484755" y="3401899"/>
            <a:ext cx="399099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877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– Core Concepts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The most widely deployed open-source pipeline orchestrator in data and ML engineering.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Now de-factor standard in data platforms.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A Webserver (UI) reads from the same metadata DB and provides a dashboard to monitor runs, inspect logs, trigger DAGs manually, and manage connections.</a:t>
            </a: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Core concepts: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DAG:</a:t>
            </a: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 Python file that defines a workflow as a graph of tasks.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Each DAG has a unique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dag_id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, a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start_date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, and a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schedule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Task/ Operator: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 single unit of work.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Built-in operators cover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PythonOperator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’,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BashOperator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’,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SQLExecuteQueryOperator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’, HTTP calls, Spark, </a:t>
            </a:r>
            <a:r>
              <a:rPr lang="en-US" sz="1000" dirty="0" err="1">
                <a:solidFill>
                  <a:srgbClr val="000000"/>
                </a:solidFill>
                <a:latin typeface="Georgia" panose="02040502050405020303" pitchFamily="18" charset="0"/>
              </a:rPr>
              <a:t>dbt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, and dozens.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TaskFlow</a:t>
            </a: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 API: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Modern way to write DAGs using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@dag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and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@task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decorators instead of a verbose operator instantiation.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Cleaner and more Pythonic.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XCom</a:t>
            </a: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Cross-communication – the mechanism tasks use to pass small values to each other.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A task returns a value; a downstream task receives it as a function argument.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Only use </a:t>
            </a:r>
            <a:r>
              <a:rPr lang="en-US" sz="1000" b="1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Xcoms</a:t>
            </a: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for small values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metadata, paths, IDs); pass large data through files or object storage.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allowing downstream tasks to run.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22800-B75D-4A85-0337-D1D99268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547AAF25-908F-04BA-D75F-9CC624583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– Core Concepts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146B6AB6-E682-8DA3-D499-84D590731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A5625084-6CF0-795A-B237-9E5832C9D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B857A802-BB31-43CA-A258-9C06B75A2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2D8D7FDF-3E38-D59F-63BD-6FC2F88FB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ody">
            <a:extLst>
              <a:ext uri="{FF2B5EF4-FFF2-40B4-BE49-F238E27FC236}">
                <a16:creationId xmlns:a16="http://schemas.microsoft.com/office/drawing/2014/main" id="{DAF82E36-B524-03D4-FB54-5AB75E6EB2F3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Core concepts: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Scheduler: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A daemon that reads DAG files, determines which task instances are due, and submits them to the executor.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b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Executor: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How tasks are actually run: 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LocalExecutor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(parallel subprocesses on one machine),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CeleryExecutor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(distributed workers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), 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KubernetesExecutor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(one pod per task).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Connection: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Credentials for external systems (databases, cloud providers,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APIs) stored encrypted in the </a:t>
            </a:r>
            <a:r>
              <a:rPr lang="en-US" sz="1000" dirty="0" err="1">
                <a:solidFill>
                  <a:srgbClr val="000000"/>
                </a:solidFill>
                <a:latin typeface="Georgia" panose="02040502050405020303" pitchFamily="18" charset="0"/>
              </a:rPr>
              <a:t>Airlow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metadata DB.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Referenced by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conn_id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 in operators – keeps secrets out of DAG code.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Variable: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Key-value store in the Airflow metadata DB for runtime configuration (e.g. ‘</a:t>
            </a:r>
            <a:r>
              <a:rPr lang="en-US" sz="100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batch_size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’, ‘s3_bucket’)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b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Sensor: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 special operator that polls for a condition (file exists, S3 key appears, upstream job finishes) before allowing downstream tasks to run.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6769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D536C-A84A-19BB-ED65-4A93401B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9A6F4691-F293-3290-62B4-717E3F26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- Architecture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F05ABB5C-0F42-1C27-D070-0C2217B2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D91B6139-7C08-44B5-9D43-0E470BF17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87E09296-0E24-0767-C71D-7BF03B1DB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B4E32D76-5BB0-7A58-CA38-D46F81A0C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3F21B-8B3C-8F2E-28B2-2C6B9C221DE1}"/>
              </a:ext>
            </a:extLst>
          </p:cNvPr>
          <p:cNvSpPr/>
          <p:nvPr/>
        </p:nvSpPr>
        <p:spPr>
          <a:xfrm>
            <a:off x="228600" y="1361464"/>
            <a:ext cx="1269635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DAG files (Python)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A21B3-A4C5-941E-16F1-32C1AA66AFD5}"/>
              </a:ext>
            </a:extLst>
          </p:cNvPr>
          <p:cNvSpPr/>
          <p:nvPr/>
        </p:nvSpPr>
        <p:spPr>
          <a:xfrm>
            <a:off x="1889649" y="1973114"/>
            <a:ext cx="1452187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Scheduler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(reads DAGs, creates task inst.)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1C5A9-BF65-BBE5-0C67-54C9EDBCBE4F}"/>
              </a:ext>
            </a:extLst>
          </p:cNvPr>
          <p:cNvSpPr/>
          <p:nvPr/>
        </p:nvSpPr>
        <p:spPr>
          <a:xfrm>
            <a:off x="3758311" y="2571750"/>
            <a:ext cx="1405748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Executor (</a:t>
            </a:r>
            <a:r>
              <a:rPr lang="en-US" sz="1000" dirty="0" err="1">
                <a:solidFill>
                  <a:schemeClr val="tx1"/>
                </a:solidFill>
                <a:latin typeface="Georgia" panose="02040502050405020303" pitchFamily="18" charset="0"/>
              </a:rPr>
              <a:t>LocalExecutor</a:t>
            </a:r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/ </a:t>
            </a:r>
            <a:r>
              <a:rPr lang="en-US" sz="1000" dirty="0" err="1">
                <a:solidFill>
                  <a:schemeClr val="tx1"/>
                </a:solidFill>
                <a:latin typeface="Georgia" panose="02040502050405020303" pitchFamily="18" charset="0"/>
              </a:rPr>
              <a:t>CeleryExecutor</a:t>
            </a:r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/ K8s)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09B9B5-3027-91F4-B568-F35658A05002}"/>
              </a:ext>
            </a:extLst>
          </p:cNvPr>
          <p:cNvSpPr/>
          <p:nvPr/>
        </p:nvSpPr>
        <p:spPr>
          <a:xfrm>
            <a:off x="5580534" y="3170386"/>
            <a:ext cx="1164378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Workers(s) (Execute task code)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1688A-0449-0B4B-F7FE-3EB17D2529CF}"/>
              </a:ext>
            </a:extLst>
          </p:cNvPr>
          <p:cNvSpPr/>
          <p:nvPr/>
        </p:nvSpPr>
        <p:spPr>
          <a:xfrm>
            <a:off x="7131960" y="3769022"/>
            <a:ext cx="1164378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Metadata DB (SQLite/ Postgres)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F3FBCBA-4F62-5012-4A1A-188675E32175}"/>
              </a:ext>
            </a:extLst>
          </p:cNvPr>
          <p:cNvCxnSpPr>
            <a:stCxn id="2" idx="2"/>
            <a:endCxn id="3" idx="1"/>
          </p:cNvCxnSpPr>
          <p:nvPr/>
        </p:nvCxnSpPr>
        <p:spPr>
          <a:xfrm rot="16200000" flipH="1">
            <a:off x="1220367" y="1603150"/>
            <a:ext cx="312332" cy="1026231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2162076-182A-1727-7B47-9E7F5D90F39B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6200000" flipH="1">
            <a:off x="3037368" y="2150125"/>
            <a:ext cx="299318" cy="1142568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7B4070F-DEBB-7475-D74B-32A19ADE8BD4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4871200" y="2760370"/>
            <a:ext cx="299318" cy="1119349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4313239-7173-2B4A-D314-62B8B767D2F9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6497682" y="3434062"/>
            <a:ext cx="299318" cy="969237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2B95084-16FD-53D7-8433-867701FBA3A2}"/>
              </a:ext>
            </a:extLst>
          </p:cNvPr>
          <p:cNvSpPr/>
          <p:nvPr/>
        </p:nvSpPr>
        <p:spPr>
          <a:xfrm>
            <a:off x="968281" y="2154021"/>
            <a:ext cx="585479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Parse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FB14EA-7A08-75F1-880E-32544B340AF5}"/>
              </a:ext>
            </a:extLst>
          </p:cNvPr>
          <p:cNvSpPr/>
          <p:nvPr/>
        </p:nvSpPr>
        <p:spPr>
          <a:xfrm>
            <a:off x="2867017" y="2752656"/>
            <a:ext cx="585479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Submit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77150F-CBA3-970F-65CF-3D6B19B497BE}"/>
              </a:ext>
            </a:extLst>
          </p:cNvPr>
          <p:cNvSpPr/>
          <p:nvPr/>
        </p:nvSpPr>
        <p:spPr>
          <a:xfrm>
            <a:off x="4643618" y="3351292"/>
            <a:ext cx="585479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Run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477BEC-5432-C236-238F-905E01F110A0}"/>
              </a:ext>
            </a:extLst>
          </p:cNvPr>
          <p:cNvSpPr/>
          <p:nvPr/>
        </p:nvSpPr>
        <p:spPr>
          <a:xfrm>
            <a:off x="6260292" y="3959386"/>
            <a:ext cx="678144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Metadata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280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F86AF-6468-5626-E602-ACC1723E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0520BD4F-6CFA-BC36-A59F-2DB3F7D0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- Exercise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F59F410B-4672-BD79-BC9A-4AE1A0C12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2804F721-539F-F28F-64C7-7C47A9AEC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2A9C5035-B7AE-A84E-AC13-DEAB6E80F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021BC3C3-33FB-2254-5C8D-726449DC8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6A25C-DC94-1290-8597-96FA02BD5F29}"/>
              </a:ext>
            </a:extLst>
          </p:cNvPr>
          <p:cNvSpPr txBox="1"/>
          <p:nvPr/>
        </p:nvSpPr>
        <p:spPr>
          <a:xfrm>
            <a:off x="228600" y="1249899"/>
            <a:ext cx="822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We will build a simple Airflow pipeline using the files in the following directory: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day1/Session_4/</a:t>
            </a:r>
            <a:r>
              <a:rPr lang="en-US" sz="1600" dirty="0" err="1">
                <a:latin typeface="Georgia" panose="02040502050405020303" pitchFamily="18" charset="0"/>
              </a:rPr>
              <a:t>airflow_pipeline.ipynb</a:t>
            </a:r>
            <a:endParaRPr lang="de-DE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66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79144-E56F-7511-1EFB-70DCD1D1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D65489D9-0CF6-45B4-716E-B48EF7F0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– </a:t>
            </a:r>
            <a:r>
              <a:rPr lang="en-US" sz="3400" dirty="0">
                <a:latin typeface="Georgia"/>
                <a:ea typeface="Georgia"/>
              </a:rPr>
              <a:t>Key </a:t>
            </a:r>
            <a:r>
              <a:rPr lang="en-US" sz="3400" dirty="0" err="1">
                <a:latin typeface="Georgia"/>
                <a:ea typeface="Georgia"/>
              </a:rPr>
              <a:t>behaviours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4652CA1E-FAA1-0C0F-CDAD-5853CC7C6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0612C2B7-F008-6406-5D74-8AC07CE59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056E2568-DF3B-6B65-7A48-51DE22C6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8E140033-CD3E-8E1D-10CE-6CAC9D72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1EBD4-B713-6945-5EC2-7C8B45AACF05}"/>
              </a:ext>
            </a:extLst>
          </p:cNvPr>
          <p:cNvSpPr txBox="1"/>
          <p:nvPr/>
        </p:nvSpPr>
        <p:spPr>
          <a:xfrm>
            <a:off x="228600" y="1249899"/>
            <a:ext cx="822816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Schedule: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Accepts </a:t>
            </a:r>
            <a:r>
              <a:rPr lang="en-US" sz="1050" dirty="0" err="1">
                <a:latin typeface="Georgia" panose="02040502050405020303" pitchFamily="18" charset="0"/>
              </a:rPr>
              <a:t>cron</a:t>
            </a:r>
            <a:r>
              <a:rPr lang="en-US" sz="1050" dirty="0">
                <a:latin typeface="Georgia" panose="02040502050405020303" pitchFamily="18" charset="0"/>
              </a:rPr>
              <a:t> strings (“ 0 6 * * * 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Georgia" panose="02040502050405020303" pitchFamily="18" charset="0"/>
              </a:rPr>
              <a:t>Timedelta</a:t>
            </a:r>
            <a:r>
              <a:rPr lang="en-US" sz="1050" b="1" dirty="0">
                <a:latin typeface="Georgia" panose="02040502050405020303" pitchFamily="18" charset="0"/>
              </a:rPr>
              <a:t> </a:t>
            </a:r>
            <a:r>
              <a:rPr lang="en-US" sz="1050" dirty="0">
                <a:latin typeface="Georgia" panose="02040502050405020303" pitchFamily="18" charset="0"/>
              </a:rPr>
              <a:t> objects, or </a:t>
            </a:r>
            <a:r>
              <a:rPr lang="en-US" sz="1050" b="1" dirty="0">
                <a:latin typeface="Georgia" panose="02040502050405020303" pitchFamily="18" charset="0"/>
              </a:rPr>
              <a:t>None </a:t>
            </a:r>
            <a:r>
              <a:rPr lang="en-US" sz="1050" dirty="0">
                <a:latin typeface="Georgia" panose="02040502050405020303" pitchFamily="18" charset="0"/>
              </a:rPr>
              <a:t>(manual trigger only).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Catchup=False </a:t>
            </a:r>
            <a:r>
              <a:rPr lang="en-US" sz="1050" dirty="0">
                <a:latin typeface="Georgia" panose="02040502050405020303" pitchFamily="18" charset="0"/>
              </a:rPr>
              <a:t>means Airflow won’t try to backfill all past intervals since </a:t>
            </a:r>
            <a:r>
              <a:rPr lang="en-US" sz="1050" b="1" dirty="0" err="1">
                <a:latin typeface="Georgia" panose="02040502050405020303" pitchFamily="18" charset="0"/>
              </a:rPr>
              <a:t>start_date</a:t>
            </a:r>
            <a:r>
              <a:rPr lang="en-US" sz="1050" b="1" dirty="0">
                <a:latin typeface="Georgia" panose="02040502050405020303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50" b="1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Georgia" panose="02040502050405020303" pitchFamily="18" charset="0"/>
              </a:rPr>
              <a:t>dags</a:t>
            </a:r>
            <a:r>
              <a:rPr lang="en-US" sz="1050" b="1" dirty="0">
                <a:latin typeface="Georgia" panose="02040502050405020303" pitchFamily="18" charset="0"/>
              </a:rPr>
              <a:t> test</a:t>
            </a:r>
            <a:r>
              <a:rPr lang="en-US" sz="1050" dirty="0">
                <a:latin typeface="Georgia" panose="02040502050405020303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Runs a single DAG run synchronously in the current process – no scheduler, no database required.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This is the </a:t>
            </a:r>
            <a:r>
              <a:rPr lang="en-US" sz="1050" dirty="0" err="1">
                <a:latin typeface="Georgia" panose="02040502050405020303" pitchFamily="18" charset="0"/>
              </a:rPr>
              <a:t>fastet</a:t>
            </a:r>
            <a:r>
              <a:rPr lang="en-US" sz="1050" dirty="0">
                <a:latin typeface="Georgia" panose="02040502050405020303" pitchFamily="18" charset="0"/>
              </a:rPr>
              <a:t> way to test logic locally.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Tasks are isolated: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Each task runs in its own process (or container).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Never assume shared in-memory state between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Use </a:t>
            </a:r>
            <a:r>
              <a:rPr lang="en-US" sz="1050" dirty="0" err="1">
                <a:latin typeface="Georgia" panose="02040502050405020303" pitchFamily="18" charset="0"/>
              </a:rPr>
              <a:t>Xcoms</a:t>
            </a:r>
            <a:r>
              <a:rPr lang="en-US" sz="1050" dirty="0">
                <a:latin typeface="Georgia" panose="02040502050405020303" pitchFamily="18" charset="0"/>
              </a:rPr>
              <a:t> or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Idempotency: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Tasks should be safe to  re-run.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If a run fails halfway through and you retry, already-succeeded tasks are skipped; only the failed task (and its dependents) re-run. 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F3935B-F2C2-80AC-3BC9-ECF50CD8AC56}"/>
              </a:ext>
            </a:extLst>
          </p:cNvPr>
          <p:cNvSpPr/>
          <p:nvPr/>
        </p:nvSpPr>
        <p:spPr>
          <a:xfrm>
            <a:off x="1765300" y="4225074"/>
            <a:ext cx="4041500" cy="450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800" dirty="0"/>
              <a:t>Idempotent means an operation can be applied multiple times without changing the result beyond the first time it is used</a:t>
            </a:r>
          </a:p>
        </p:txBody>
      </p:sp>
    </p:spTree>
    <p:extLst>
      <p:ext uri="{BB962C8B-B14F-4D97-AF65-F5344CB8AC3E}">
        <p14:creationId xmlns:p14="http://schemas.microsoft.com/office/powerpoint/2010/main" val="426769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93AC4-2207-A383-8A68-D6F1B085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E42BCCF2-2540-B98D-ED45-AB9414F8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Other orchestrators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621E58EF-E335-D27A-987E-5A27CBDE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207D8E95-940B-1FD0-3697-16DD45CE3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8318EF3D-6032-E37B-444E-D87FEAF65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C9F1E943-84F9-1F01-0C4D-22125AD39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952A02-5F22-C6C5-66B2-040B69E0D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33289"/>
              </p:ext>
            </p:extLst>
          </p:nvPr>
        </p:nvGraphicFramePr>
        <p:xfrm>
          <a:off x="228599" y="1283111"/>
          <a:ext cx="8228160" cy="3504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11">
                  <a:extLst>
                    <a:ext uri="{9D8B030D-6E8A-4147-A177-3AD203B41FA5}">
                      <a16:colId xmlns:a16="http://schemas.microsoft.com/office/drawing/2014/main" val="2987072432"/>
                    </a:ext>
                  </a:extLst>
                </a:gridCol>
                <a:gridCol w="2638869">
                  <a:extLst>
                    <a:ext uri="{9D8B030D-6E8A-4147-A177-3AD203B41FA5}">
                      <a16:colId xmlns:a16="http://schemas.microsoft.com/office/drawing/2014/main" val="332703118"/>
                    </a:ext>
                  </a:extLst>
                </a:gridCol>
                <a:gridCol w="2057040">
                  <a:extLst>
                    <a:ext uri="{9D8B030D-6E8A-4147-A177-3AD203B41FA5}">
                      <a16:colId xmlns:a16="http://schemas.microsoft.com/office/drawing/2014/main" val="1103757801"/>
                    </a:ext>
                  </a:extLst>
                </a:gridCol>
                <a:gridCol w="2057040">
                  <a:extLst>
                    <a:ext uri="{9D8B030D-6E8A-4147-A177-3AD203B41FA5}">
                      <a16:colId xmlns:a16="http://schemas.microsoft.com/office/drawing/2014/main" val="1496590461"/>
                    </a:ext>
                  </a:extLst>
                </a:gridCol>
              </a:tblGrid>
              <a:tr h="216768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Strengths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Weaknesses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Best for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816653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Georgia" panose="02040502050405020303" pitchFamily="18" charset="0"/>
                        </a:rPr>
                        <a:t>Airflow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Mature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Huge community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Powerful UI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Steep learning curve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Verbose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Scheduler overhead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Data platforms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ML pipelines at scale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12744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Georgia" panose="02040502050405020303" pitchFamily="18" charset="0"/>
                        </a:rPr>
                        <a:t>Prefect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Python-native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Minimal boilerplate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Smaller ecosystem than Airflow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Teams wanting quick iteration with a modern API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590893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Georgia" panose="02040502050405020303" pitchFamily="18" charset="0"/>
                        </a:rPr>
                        <a:t>Dagster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Strong asset-based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Built-in data cataloguing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Biggest conceptual shift from plain Python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Teams that want traceability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85159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Georgia" panose="02040502050405020303" pitchFamily="18" charset="0"/>
                        </a:rPr>
                        <a:t>ZenML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ML-focused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Step-caching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Stack abstraction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Less general-purpose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Pure ML pipelines where you want reproducibility without infrastructure setup.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578932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Georgia" panose="02040502050405020303" pitchFamily="18" charset="0"/>
                        </a:rPr>
                        <a:t>Metaflow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Data Science friendly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Notebook first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Tied to AWS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UI requires </a:t>
                      </a:r>
                      <a:r>
                        <a:rPr lang="en-US" sz="900" dirty="0" err="1">
                          <a:latin typeface="Georgia" panose="02040502050405020303" pitchFamily="18" charset="0"/>
                        </a:rPr>
                        <a:t>Metaflow</a:t>
                      </a:r>
                      <a:r>
                        <a:rPr lang="en-US" sz="900" dirty="0">
                          <a:latin typeface="Georgia" panose="02040502050405020303" pitchFamily="18" charset="0"/>
                        </a:rPr>
                        <a:t> Services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Netflix-style large-scale ML on AWS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894532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Georgia" panose="02040502050405020303" pitchFamily="18" charset="0"/>
                        </a:rPr>
                        <a:t>Make/ plain Python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Zero dependencies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Easy to understand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 retries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 scheduling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 parallelism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Single-developer projects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Early PoC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633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330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Day 1 — Best Practices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Treat ML projects like software: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V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ersion control,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R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eview,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Tests,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CI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One command to reproduce — make train, not “run cell 3 then 7”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Log everything that affects the result: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C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ommit,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D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ata version,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P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arams,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E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nv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Validate data at boundaries — never trust upstream silently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Notebooks for exploration, modules for production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Start small — a README + requirements + </a:t>
            </a:r>
            <a:r>
              <a:rPr lang="en-US" sz="105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MLflow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+ one training script wins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</TotalTime>
  <Words>4287</Words>
  <Application>Microsoft Macintosh PowerPoint</Application>
  <PresentationFormat>On-screen Show (16:9)</PresentationFormat>
  <Paragraphs>634</Paragraphs>
  <Slides>41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Georgia</vt:lpstr>
      <vt:lpstr>OpenSymbol</vt:lpstr>
      <vt:lpstr>Symbol</vt:lpstr>
      <vt:lpstr>Times New Roman</vt:lpstr>
      <vt:lpstr>Wingdings</vt:lpstr>
      <vt:lpstr>Office Theme</vt:lpstr>
      <vt:lpstr>ML OPS</vt:lpstr>
      <vt:lpstr>So you’ve trained your model. Now what?</vt:lpstr>
      <vt:lpstr>Enter ML Ops</vt:lpstr>
      <vt:lpstr>Why ML Ops?</vt:lpstr>
      <vt:lpstr>OK… so what’s DevOps though?</vt:lpstr>
      <vt:lpstr>Sidebar – What’s IaC?</vt:lpstr>
      <vt:lpstr>MLOps vs DevOps</vt:lpstr>
      <vt:lpstr>MLOps Maturity Levels</vt:lpstr>
      <vt:lpstr>The ML Lifecycle</vt:lpstr>
      <vt:lpstr>Why models decay - example</vt:lpstr>
      <vt:lpstr>Why models decay - example</vt:lpstr>
      <vt:lpstr>Reproducibility and Environments</vt:lpstr>
      <vt:lpstr>Environment Management</vt:lpstr>
      <vt:lpstr>Environment Management</vt:lpstr>
      <vt:lpstr>Lockfiles</vt:lpstr>
      <vt:lpstr>Poetry vs pip-tools vs uv</vt:lpstr>
      <vt:lpstr>Poetry vs pip-tools vs uv</vt:lpstr>
      <vt:lpstr>Choosing in practice</vt:lpstr>
      <vt:lpstr>Exercise - Poetry</vt:lpstr>
      <vt:lpstr>Project Structure</vt:lpstr>
      <vt:lpstr>Seeds &amp; Determinism</vt:lpstr>
      <vt:lpstr>Experiment Tracking</vt:lpstr>
      <vt:lpstr>MLflow at a Glance</vt:lpstr>
      <vt:lpstr>MLflow Exercise</vt:lpstr>
      <vt:lpstr>Data: Versioning, Validation, Pipelines</vt:lpstr>
      <vt:lpstr>Data: Versioning, Validation, Pipelines</vt:lpstr>
      <vt:lpstr>Snapshots in object storage</vt:lpstr>
      <vt:lpstr>Git-like data versioning</vt:lpstr>
      <vt:lpstr>Sidebar - Data Warehouses and Marts</vt:lpstr>
      <vt:lpstr>Feature stores</vt:lpstr>
      <vt:lpstr>Data validation</vt:lpstr>
      <vt:lpstr>Data validation - Tools</vt:lpstr>
      <vt:lpstr>Data validation - Exercise</vt:lpstr>
      <vt:lpstr>Pipelines &amp; Airflow</vt:lpstr>
      <vt:lpstr>Airflow – Core Concepts</vt:lpstr>
      <vt:lpstr>Airflow – Core Concepts</vt:lpstr>
      <vt:lpstr>Airflow - Architecture</vt:lpstr>
      <vt:lpstr>Airflow - Exercise</vt:lpstr>
      <vt:lpstr>Airflow – Key behaviours</vt:lpstr>
      <vt:lpstr>Other orchestrators</vt:lpstr>
      <vt:lpstr>Day 1 —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Boris Maric</dc:creator>
  <dc:description/>
  <cp:lastModifiedBy>David Jeon</cp:lastModifiedBy>
  <cp:revision>27</cp:revision>
  <dcterms:created xsi:type="dcterms:W3CDTF">2026-06-05T18:01:53Z</dcterms:created>
  <dcterms:modified xsi:type="dcterms:W3CDTF">2026-09-13T14:21:11Z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