
<file path=[Content_Types].xml><?xml version="1.0" encoding="utf-8"?>
<Types xmlns="http://schemas.openxmlformats.org/package/2006/content-types">
  <Default Extension="jpeg" ContentType="image/jpeg"/>
  <Default Extension="org&amp;utm_campaign=index&amp;utm_content=thumbnail&amp;_=20210416084743" ContentType="image/png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media/image11.svg" ContentType="image/svg+xml"/>
  <Override PartName="/ppt/media/image12.svg" ContentType="image/svg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75" r:id="rId4"/>
    <p:sldId id="258" r:id="rId5"/>
    <p:sldId id="276" r:id="rId6"/>
    <p:sldId id="277" r:id="rId7"/>
    <p:sldId id="259" r:id="rId8"/>
    <p:sldId id="307" r:id="rId9"/>
    <p:sldId id="278" r:id="rId10"/>
    <p:sldId id="279" r:id="rId11"/>
    <p:sldId id="280" r:id="rId12"/>
    <p:sldId id="281" r:id="rId13"/>
    <p:sldId id="260" r:id="rId14"/>
    <p:sldId id="282" r:id="rId15"/>
    <p:sldId id="261" r:id="rId16"/>
    <p:sldId id="285" r:id="rId17"/>
    <p:sldId id="283" r:id="rId18"/>
    <p:sldId id="262" r:id="rId19"/>
    <p:sldId id="263" r:id="rId20"/>
    <p:sldId id="286" r:id="rId21"/>
    <p:sldId id="264" r:id="rId22"/>
    <p:sldId id="287" r:id="rId23"/>
    <p:sldId id="265" r:id="rId24"/>
    <p:sldId id="288" r:id="rId25"/>
    <p:sldId id="289" r:id="rId26"/>
    <p:sldId id="290" r:id="rId27"/>
    <p:sldId id="291" r:id="rId28"/>
    <p:sldId id="309" r:id="rId29"/>
    <p:sldId id="266" r:id="rId30"/>
    <p:sldId id="292" r:id="rId31"/>
    <p:sldId id="293" r:id="rId32"/>
    <p:sldId id="294" r:id="rId33"/>
    <p:sldId id="295" r:id="rId34"/>
    <p:sldId id="296" r:id="rId35"/>
    <p:sldId id="267" r:id="rId36"/>
    <p:sldId id="297" r:id="rId37"/>
    <p:sldId id="298" r:id="rId38"/>
    <p:sldId id="299" r:id="rId39"/>
    <p:sldId id="300" r:id="rId40"/>
    <p:sldId id="268" r:id="rId41"/>
    <p:sldId id="301" r:id="rId42"/>
    <p:sldId id="302" r:id="rId43"/>
    <p:sldId id="303" r:id="rId44"/>
    <p:sldId id="269" r:id="rId45"/>
    <p:sldId id="304" r:id="rId46"/>
    <p:sldId id="270" r:id="rId47"/>
    <p:sldId id="305" r:id="rId48"/>
    <p:sldId id="271" r:id="rId49"/>
    <p:sldId id="273" r:id="rId50"/>
    <p:sldId id="306" r:id="rId51"/>
  </p:sldIdLst>
  <p:sldSz cx="9144000" cy="5143500" type="screen16x9"/>
  <p:notesSz cx="51435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94"/>
    <p:restoredTop sz="66829"/>
  </p:normalViewPr>
  <p:slideViewPr>
    <p:cSldViewPr snapToGrid="0">
      <p:cViewPr varScale="1">
        <p:scale>
          <a:sx n="193" d="100"/>
          <a:sy n="193" d="100"/>
        </p:scale>
        <p:origin x="2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A96551-3115-7F49-BB91-7962D0279C68}" type="doc">
      <dgm:prSet loTypeId="urn:microsoft.com/office/officeart/2005/8/layout/pyramid1" loCatId="" qsTypeId="urn:microsoft.com/office/officeart/2005/8/quickstyle/simple3" qsCatId="simple" csTypeId="urn:microsoft.com/office/officeart/2005/8/colors/colorful1" csCatId="colorful" phldr="1"/>
      <dgm:spPr/>
    </dgm:pt>
    <dgm:pt modelId="{21AEC24A-9570-8E47-873E-2FA2648F9EAB}">
      <dgm:prSet phldrT="[Text]"/>
      <dgm:spPr/>
      <dgm:t>
        <a:bodyPr/>
        <a:lstStyle/>
        <a:p>
          <a:r>
            <a:rPr lang="en-GB" dirty="0"/>
            <a:t>Integration</a:t>
          </a:r>
        </a:p>
      </dgm:t>
    </dgm:pt>
    <dgm:pt modelId="{00E5D3C9-EFD9-9440-BF0B-B53302C467CC}" type="parTrans" cxnId="{2CA8D942-C831-2441-AC10-3BE3C49C93F7}">
      <dgm:prSet/>
      <dgm:spPr/>
      <dgm:t>
        <a:bodyPr/>
        <a:lstStyle/>
        <a:p>
          <a:endParaRPr lang="en-GB"/>
        </a:p>
      </dgm:t>
    </dgm:pt>
    <dgm:pt modelId="{3A246331-E83F-784C-8643-11CE8C4C0E3D}" type="sibTrans" cxnId="{2CA8D942-C831-2441-AC10-3BE3C49C93F7}">
      <dgm:prSet/>
      <dgm:spPr/>
      <dgm:t>
        <a:bodyPr/>
        <a:lstStyle/>
        <a:p>
          <a:endParaRPr lang="en-GB"/>
        </a:p>
      </dgm:t>
    </dgm:pt>
    <dgm:pt modelId="{F9622483-3FC8-6549-AE1D-30434EE699CA}">
      <dgm:prSet phldrT="[Text]"/>
      <dgm:spPr/>
      <dgm:t>
        <a:bodyPr/>
        <a:lstStyle/>
        <a:p>
          <a:r>
            <a:rPr lang="en-GB" dirty="0"/>
            <a:t>Smoke</a:t>
          </a:r>
        </a:p>
      </dgm:t>
    </dgm:pt>
    <dgm:pt modelId="{F178891F-8014-3B41-93F8-40F0D16FD923}" type="parTrans" cxnId="{DF57951F-DA83-E94B-85D8-8AD1C8A9DC23}">
      <dgm:prSet/>
      <dgm:spPr/>
      <dgm:t>
        <a:bodyPr/>
        <a:lstStyle/>
        <a:p>
          <a:endParaRPr lang="en-GB"/>
        </a:p>
      </dgm:t>
    </dgm:pt>
    <dgm:pt modelId="{0A925539-3E1A-C140-8165-3D1E567DE243}" type="sibTrans" cxnId="{DF57951F-DA83-E94B-85D8-8AD1C8A9DC23}">
      <dgm:prSet/>
      <dgm:spPr/>
      <dgm:t>
        <a:bodyPr/>
        <a:lstStyle/>
        <a:p>
          <a:endParaRPr lang="en-GB"/>
        </a:p>
      </dgm:t>
    </dgm:pt>
    <dgm:pt modelId="{09386727-D39F-2D41-BCB2-1FBF87EB4A9B}">
      <dgm:prSet phldrT="[Text]"/>
      <dgm:spPr/>
      <dgm:t>
        <a:bodyPr/>
        <a:lstStyle/>
        <a:p>
          <a:r>
            <a:rPr lang="en-GB" dirty="0"/>
            <a:t>Model</a:t>
          </a:r>
        </a:p>
      </dgm:t>
    </dgm:pt>
    <dgm:pt modelId="{2361EEF8-B423-804B-A3F6-A62CF199538D}" type="parTrans" cxnId="{6BB0BCFA-E334-6D48-B528-3A423EA42608}">
      <dgm:prSet/>
      <dgm:spPr/>
      <dgm:t>
        <a:bodyPr/>
        <a:lstStyle/>
        <a:p>
          <a:endParaRPr lang="en-GB"/>
        </a:p>
      </dgm:t>
    </dgm:pt>
    <dgm:pt modelId="{F960E947-2F54-504C-9509-F63AD676A5D3}" type="sibTrans" cxnId="{6BB0BCFA-E334-6D48-B528-3A423EA42608}">
      <dgm:prSet/>
      <dgm:spPr/>
      <dgm:t>
        <a:bodyPr/>
        <a:lstStyle/>
        <a:p>
          <a:endParaRPr lang="en-GB"/>
        </a:p>
      </dgm:t>
    </dgm:pt>
    <dgm:pt modelId="{C24668C6-EB78-CB4E-B5F9-E23A5D6F8086}">
      <dgm:prSet phldrT="[Text]"/>
      <dgm:spPr/>
      <dgm:t>
        <a:bodyPr/>
        <a:lstStyle/>
        <a:p>
          <a:r>
            <a:rPr lang="en-GB" dirty="0"/>
            <a:t>Behavioural</a:t>
          </a:r>
        </a:p>
      </dgm:t>
    </dgm:pt>
    <dgm:pt modelId="{B080869F-11C8-6D4F-9462-46074D787E9E}" type="parTrans" cxnId="{7259943D-4053-4345-860D-D677B97DE11C}">
      <dgm:prSet/>
      <dgm:spPr/>
      <dgm:t>
        <a:bodyPr/>
        <a:lstStyle/>
        <a:p>
          <a:endParaRPr lang="en-GB"/>
        </a:p>
      </dgm:t>
    </dgm:pt>
    <dgm:pt modelId="{ECAB8E37-5099-A44F-82B1-1A3D11838467}" type="sibTrans" cxnId="{7259943D-4053-4345-860D-D677B97DE11C}">
      <dgm:prSet/>
      <dgm:spPr/>
      <dgm:t>
        <a:bodyPr/>
        <a:lstStyle/>
        <a:p>
          <a:endParaRPr lang="en-GB"/>
        </a:p>
      </dgm:t>
    </dgm:pt>
    <dgm:pt modelId="{ADEC8AE7-4251-794E-ABF7-CD3E6E2154FD}">
      <dgm:prSet phldrT="[Text]"/>
      <dgm:spPr/>
      <dgm:t>
        <a:bodyPr/>
        <a:lstStyle/>
        <a:p>
          <a:r>
            <a:rPr lang="en-GB" dirty="0"/>
            <a:t>Data</a:t>
          </a:r>
        </a:p>
      </dgm:t>
    </dgm:pt>
    <dgm:pt modelId="{F62AF9E4-6432-884F-B999-883915CC277E}" type="parTrans" cxnId="{17455D92-5488-F24B-9B64-0977390CEDA9}">
      <dgm:prSet/>
      <dgm:spPr/>
      <dgm:t>
        <a:bodyPr/>
        <a:lstStyle/>
        <a:p>
          <a:endParaRPr lang="en-GB"/>
        </a:p>
      </dgm:t>
    </dgm:pt>
    <dgm:pt modelId="{BB83C751-2DE7-B940-A2FD-4644961DCFF9}" type="sibTrans" cxnId="{17455D92-5488-F24B-9B64-0977390CEDA9}">
      <dgm:prSet/>
      <dgm:spPr/>
      <dgm:t>
        <a:bodyPr/>
        <a:lstStyle/>
        <a:p>
          <a:endParaRPr lang="en-GB"/>
        </a:p>
      </dgm:t>
    </dgm:pt>
    <dgm:pt modelId="{C5D33BFE-BA58-0D40-9A0A-14F44F44AA62}">
      <dgm:prSet phldrT="[Text]"/>
      <dgm:spPr/>
      <dgm:t>
        <a:bodyPr/>
        <a:lstStyle/>
        <a:p>
          <a:r>
            <a:rPr lang="en-GB" dirty="0"/>
            <a:t>Unit</a:t>
          </a:r>
        </a:p>
      </dgm:t>
    </dgm:pt>
    <dgm:pt modelId="{8DF3FEE2-8554-9640-976C-0F9B92BD5E30}" type="parTrans" cxnId="{D8686381-4D6D-104E-9384-D837E48D8D8E}">
      <dgm:prSet/>
      <dgm:spPr/>
      <dgm:t>
        <a:bodyPr/>
        <a:lstStyle/>
        <a:p>
          <a:endParaRPr lang="en-GB"/>
        </a:p>
      </dgm:t>
    </dgm:pt>
    <dgm:pt modelId="{B24A3B97-9A37-E54C-9CCA-9FAFB0778647}" type="sibTrans" cxnId="{D8686381-4D6D-104E-9384-D837E48D8D8E}">
      <dgm:prSet/>
      <dgm:spPr/>
      <dgm:t>
        <a:bodyPr/>
        <a:lstStyle/>
        <a:p>
          <a:endParaRPr lang="en-GB"/>
        </a:p>
      </dgm:t>
    </dgm:pt>
    <dgm:pt modelId="{EF5077BA-5E70-1841-B604-1F9C66F54FC8}" type="pres">
      <dgm:prSet presAssocID="{F8A96551-3115-7F49-BB91-7962D0279C68}" presName="Name0" presStyleCnt="0">
        <dgm:presLayoutVars>
          <dgm:dir/>
          <dgm:animLvl val="lvl"/>
          <dgm:resizeHandles val="exact"/>
        </dgm:presLayoutVars>
      </dgm:prSet>
      <dgm:spPr/>
    </dgm:pt>
    <dgm:pt modelId="{330F17C4-AC46-3D4C-96C6-B331EA333B81}" type="pres">
      <dgm:prSet presAssocID="{21AEC24A-9570-8E47-873E-2FA2648F9EAB}" presName="Name8" presStyleCnt="0"/>
      <dgm:spPr/>
    </dgm:pt>
    <dgm:pt modelId="{33987AE9-48EC-0A4D-B26C-4BEAF61DDB53}" type="pres">
      <dgm:prSet presAssocID="{21AEC24A-9570-8E47-873E-2FA2648F9EAB}" presName="level" presStyleLbl="node1" presStyleIdx="0" presStyleCnt="6">
        <dgm:presLayoutVars>
          <dgm:chMax val="1"/>
          <dgm:bulletEnabled val="1"/>
        </dgm:presLayoutVars>
      </dgm:prSet>
      <dgm:spPr/>
    </dgm:pt>
    <dgm:pt modelId="{4AEA3408-03CB-5748-9D7D-CEE814935C42}" type="pres">
      <dgm:prSet presAssocID="{21AEC24A-9570-8E47-873E-2FA2648F9EA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B2FE242-7598-7746-B73C-438C5B8ABE0C}" type="pres">
      <dgm:prSet presAssocID="{F9622483-3FC8-6549-AE1D-30434EE699CA}" presName="Name8" presStyleCnt="0"/>
      <dgm:spPr/>
    </dgm:pt>
    <dgm:pt modelId="{2E27A4C3-C19A-6444-AD97-3FAC316AA311}" type="pres">
      <dgm:prSet presAssocID="{F9622483-3FC8-6549-AE1D-30434EE699CA}" presName="level" presStyleLbl="node1" presStyleIdx="1" presStyleCnt="6">
        <dgm:presLayoutVars>
          <dgm:chMax val="1"/>
          <dgm:bulletEnabled val="1"/>
        </dgm:presLayoutVars>
      </dgm:prSet>
      <dgm:spPr/>
    </dgm:pt>
    <dgm:pt modelId="{F89BA71E-13A1-9047-9EEB-F3E4D7AFFE55}" type="pres">
      <dgm:prSet presAssocID="{F9622483-3FC8-6549-AE1D-30434EE699CA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04ACC672-FBEC-614B-8349-D966D08FE783}" type="pres">
      <dgm:prSet presAssocID="{09386727-D39F-2D41-BCB2-1FBF87EB4A9B}" presName="Name8" presStyleCnt="0"/>
      <dgm:spPr/>
    </dgm:pt>
    <dgm:pt modelId="{837B03AD-F324-414B-987E-78AF13FA71DD}" type="pres">
      <dgm:prSet presAssocID="{09386727-D39F-2D41-BCB2-1FBF87EB4A9B}" presName="level" presStyleLbl="node1" presStyleIdx="2" presStyleCnt="6">
        <dgm:presLayoutVars>
          <dgm:chMax val="1"/>
          <dgm:bulletEnabled val="1"/>
        </dgm:presLayoutVars>
      </dgm:prSet>
      <dgm:spPr/>
    </dgm:pt>
    <dgm:pt modelId="{110446CE-51EB-F34A-A4AD-0452903A1EF5}" type="pres">
      <dgm:prSet presAssocID="{09386727-D39F-2D41-BCB2-1FBF87EB4A9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74AE8BA3-6CDE-DE4B-A112-F4138FAB2C6A}" type="pres">
      <dgm:prSet presAssocID="{C24668C6-EB78-CB4E-B5F9-E23A5D6F8086}" presName="Name8" presStyleCnt="0"/>
      <dgm:spPr/>
    </dgm:pt>
    <dgm:pt modelId="{044BCBE2-683C-0C4E-97DE-6A8E7FDD0CA0}" type="pres">
      <dgm:prSet presAssocID="{C24668C6-EB78-CB4E-B5F9-E23A5D6F8086}" presName="level" presStyleLbl="node1" presStyleIdx="3" presStyleCnt="6">
        <dgm:presLayoutVars>
          <dgm:chMax val="1"/>
          <dgm:bulletEnabled val="1"/>
        </dgm:presLayoutVars>
      </dgm:prSet>
      <dgm:spPr/>
    </dgm:pt>
    <dgm:pt modelId="{A27373B6-1550-4842-95CE-17751F8F60B5}" type="pres">
      <dgm:prSet presAssocID="{C24668C6-EB78-CB4E-B5F9-E23A5D6F808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26B05C8-798F-5740-B888-6E5BDEC0313E}" type="pres">
      <dgm:prSet presAssocID="{ADEC8AE7-4251-794E-ABF7-CD3E6E2154FD}" presName="Name8" presStyleCnt="0"/>
      <dgm:spPr/>
    </dgm:pt>
    <dgm:pt modelId="{9C468B84-35F2-5645-AD28-48553995E638}" type="pres">
      <dgm:prSet presAssocID="{ADEC8AE7-4251-794E-ABF7-CD3E6E2154FD}" presName="level" presStyleLbl="node1" presStyleIdx="4" presStyleCnt="6">
        <dgm:presLayoutVars>
          <dgm:chMax val="1"/>
          <dgm:bulletEnabled val="1"/>
        </dgm:presLayoutVars>
      </dgm:prSet>
      <dgm:spPr/>
    </dgm:pt>
    <dgm:pt modelId="{CE92A3B9-DBF7-6949-820A-58293DB752F7}" type="pres">
      <dgm:prSet presAssocID="{ADEC8AE7-4251-794E-ABF7-CD3E6E2154FD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B260AD60-C30A-9240-B790-37D3AD619707}" type="pres">
      <dgm:prSet presAssocID="{C5D33BFE-BA58-0D40-9A0A-14F44F44AA62}" presName="Name8" presStyleCnt="0"/>
      <dgm:spPr/>
    </dgm:pt>
    <dgm:pt modelId="{C4CA179F-E3B5-9F47-A4E7-AE5706229E0F}" type="pres">
      <dgm:prSet presAssocID="{C5D33BFE-BA58-0D40-9A0A-14F44F44AA62}" presName="level" presStyleLbl="node1" presStyleIdx="5" presStyleCnt="6">
        <dgm:presLayoutVars>
          <dgm:chMax val="1"/>
          <dgm:bulletEnabled val="1"/>
        </dgm:presLayoutVars>
      </dgm:prSet>
      <dgm:spPr/>
    </dgm:pt>
    <dgm:pt modelId="{11FA0568-3F04-A849-8BD3-CAAD6D13B1F8}" type="pres">
      <dgm:prSet presAssocID="{C5D33BFE-BA58-0D40-9A0A-14F44F44AA62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14445E14-EB4D-1848-B93A-848462880E61}" type="presOf" srcId="{21AEC24A-9570-8E47-873E-2FA2648F9EAB}" destId="{33987AE9-48EC-0A4D-B26C-4BEAF61DDB53}" srcOrd="0" destOrd="0" presId="urn:microsoft.com/office/officeart/2005/8/layout/pyramid1"/>
    <dgm:cxn modelId="{DF57951F-DA83-E94B-85D8-8AD1C8A9DC23}" srcId="{F8A96551-3115-7F49-BB91-7962D0279C68}" destId="{F9622483-3FC8-6549-AE1D-30434EE699CA}" srcOrd="1" destOrd="0" parTransId="{F178891F-8014-3B41-93F8-40F0D16FD923}" sibTransId="{0A925539-3E1A-C140-8165-3D1E567DE243}"/>
    <dgm:cxn modelId="{7259943D-4053-4345-860D-D677B97DE11C}" srcId="{F8A96551-3115-7F49-BB91-7962D0279C68}" destId="{C24668C6-EB78-CB4E-B5F9-E23A5D6F8086}" srcOrd="3" destOrd="0" parTransId="{B080869F-11C8-6D4F-9462-46074D787E9E}" sibTransId="{ECAB8E37-5099-A44F-82B1-1A3D11838467}"/>
    <dgm:cxn modelId="{2CA8D942-C831-2441-AC10-3BE3C49C93F7}" srcId="{F8A96551-3115-7F49-BB91-7962D0279C68}" destId="{21AEC24A-9570-8E47-873E-2FA2648F9EAB}" srcOrd="0" destOrd="0" parTransId="{00E5D3C9-EFD9-9440-BF0B-B53302C467CC}" sibTransId="{3A246331-E83F-784C-8643-11CE8C4C0E3D}"/>
    <dgm:cxn modelId="{10BFB757-281F-6C41-ADD8-7A9B3559A2A3}" type="presOf" srcId="{C24668C6-EB78-CB4E-B5F9-E23A5D6F8086}" destId="{044BCBE2-683C-0C4E-97DE-6A8E7FDD0CA0}" srcOrd="0" destOrd="0" presId="urn:microsoft.com/office/officeart/2005/8/layout/pyramid1"/>
    <dgm:cxn modelId="{B14FCF72-075C-E143-9F68-37E594D9C0D4}" type="presOf" srcId="{F9622483-3FC8-6549-AE1D-30434EE699CA}" destId="{F89BA71E-13A1-9047-9EEB-F3E4D7AFFE55}" srcOrd="1" destOrd="0" presId="urn:microsoft.com/office/officeart/2005/8/layout/pyramid1"/>
    <dgm:cxn modelId="{D03E8180-8438-AA40-AA41-6CD04A81E4D6}" type="presOf" srcId="{09386727-D39F-2D41-BCB2-1FBF87EB4A9B}" destId="{837B03AD-F324-414B-987E-78AF13FA71DD}" srcOrd="0" destOrd="0" presId="urn:microsoft.com/office/officeart/2005/8/layout/pyramid1"/>
    <dgm:cxn modelId="{D8686381-4D6D-104E-9384-D837E48D8D8E}" srcId="{F8A96551-3115-7F49-BB91-7962D0279C68}" destId="{C5D33BFE-BA58-0D40-9A0A-14F44F44AA62}" srcOrd="5" destOrd="0" parTransId="{8DF3FEE2-8554-9640-976C-0F9B92BD5E30}" sibTransId="{B24A3B97-9A37-E54C-9CCA-9FAFB0778647}"/>
    <dgm:cxn modelId="{CE9CD889-4FCF-9A40-9928-B73F5D196890}" type="presOf" srcId="{F8A96551-3115-7F49-BB91-7962D0279C68}" destId="{EF5077BA-5E70-1841-B604-1F9C66F54FC8}" srcOrd="0" destOrd="0" presId="urn:microsoft.com/office/officeart/2005/8/layout/pyramid1"/>
    <dgm:cxn modelId="{0965918A-3603-EC49-ADC9-6F1102A8B03A}" type="presOf" srcId="{21AEC24A-9570-8E47-873E-2FA2648F9EAB}" destId="{4AEA3408-03CB-5748-9D7D-CEE814935C42}" srcOrd="1" destOrd="0" presId="urn:microsoft.com/office/officeart/2005/8/layout/pyramid1"/>
    <dgm:cxn modelId="{17455D92-5488-F24B-9B64-0977390CEDA9}" srcId="{F8A96551-3115-7F49-BB91-7962D0279C68}" destId="{ADEC8AE7-4251-794E-ABF7-CD3E6E2154FD}" srcOrd="4" destOrd="0" parTransId="{F62AF9E4-6432-884F-B999-883915CC277E}" sibTransId="{BB83C751-2DE7-B940-A2FD-4644961DCFF9}"/>
    <dgm:cxn modelId="{3228E3A8-737D-DF43-959B-06A06D18B471}" type="presOf" srcId="{09386727-D39F-2D41-BCB2-1FBF87EB4A9B}" destId="{110446CE-51EB-F34A-A4AD-0452903A1EF5}" srcOrd="1" destOrd="0" presId="urn:microsoft.com/office/officeart/2005/8/layout/pyramid1"/>
    <dgm:cxn modelId="{61ED43B8-08A2-904E-B2E0-0BC2659885C1}" type="presOf" srcId="{C5D33BFE-BA58-0D40-9A0A-14F44F44AA62}" destId="{C4CA179F-E3B5-9F47-A4E7-AE5706229E0F}" srcOrd="0" destOrd="0" presId="urn:microsoft.com/office/officeart/2005/8/layout/pyramid1"/>
    <dgm:cxn modelId="{00A023BF-2CF0-6B4C-B320-94378C9CA8A8}" type="presOf" srcId="{ADEC8AE7-4251-794E-ABF7-CD3E6E2154FD}" destId="{CE92A3B9-DBF7-6949-820A-58293DB752F7}" srcOrd="1" destOrd="0" presId="urn:microsoft.com/office/officeart/2005/8/layout/pyramid1"/>
    <dgm:cxn modelId="{0C97D0C6-971F-EA4D-880E-41D38E6FE8E2}" type="presOf" srcId="{F9622483-3FC8-6549-AE1D-30434EE699CA}" destId="{2E27A4C3-C19A-6444-AD97-3FAC316AA311}" srcOrd="0" destOrd="0" presId="urn:microsoft.com/office/officeart/2005/8/layout/pyramid1"/>
    <dgm:cxn modelId="{C64775C9-958E-F442-9F2A-23F96250D565}" type="presOf" srcId="{ADEC8AE7-4251-794E-ABF7-CD3E6E2154FD}" destId="{9C468B84-35F2-5645-AD28-48553995E638}" srcOrd="0" destOrd="0" presId="urn:microsoft.com/office/officeart/2005/8/layout/pyramid1"/>
    <dgm:cxn modelId="{9D6694E6-A241-714C-B2C9-9FF6E995EE29}" type="presOf" srcId="{C5D33BFE-BA58-0D40-9A0A-14F44F44AA62}" destId="{11FA0568-3F04-A849-8BD3-CAAD6D13B1F8}" srcOrd="1" destOrd="0" presId="urn:microsoft.com/office/officeart/2005/8/layout/pyramid1"/>
    <dgm:cxn modelId="{B6B476F0-C160-E347-A476-59C53EB44F85}" type="presOf" srcId="{C24668C6-EB78-CB4E-B5F9-E23A5D6F8086}" destId="{A27373B6-1550-4842-95CE-17751F8F60B5}" srcOrd="1" destOrd="0" presId="urn:microsoft.com/office/officeart/2005/8/layout/pyramid1"/>
    <dgm:cxn modelId="{6BB0BCFA-E334-6D48-B528-3A423EA42608}" srcId="{F8A96551-3115-7F49-BB91-7962D0279C68}" destId="{09386727-D39F-2D41-BCB2-1FBF87EB4A9B}" srcOrd="2" destOrd="0" parTransId="{2361EEF8-B423-804B-A3F6-A62CF199538D}" sibTransId="{F960E947-2F54-504C-9509-F63AD676A5D3}"/>
    <dgm:cxn modelId="{A7399365-862E-7848-A8C5-DFFF65D00F0D}" type="presParOf" srcId="{EF5077BA-5E70-1841-B604-1F9C66F54FC8}" destId="{330F17C4-AC46-3D4C-96C6-B331EA333B81}" srcOrd="0" destOrd="0" presId="urn:microsoft.com/office/officeart/2005/8/layout/pyramid1"/>
    <dgm:cxn modelId="{F591C21E-2580-994B-83CD-8DDB0BB67A4C}" type="presParOf" srcId="{330F17C4-AC46-3D4C-96C6-B331EA333B81}" destId="{33987AE9-48EC-0A4D-B26C-4BEAF61DDB53}" srcOrd="0" destOrd="0" presId="urn:microsoft.com/office/officeart/2005/8/layout/pyramid1"/>
    <dgm:cxn modelId="{09BBEAD1-6570-034C-9C34-B9EEE527F17B}" type="presParOf" srcId="{330F17C4-AC46-3D4C-96C6-B331EA333B81}" destId="{4AEA3408-03CB-5748-9D7D-CEE814935C42}" srcOrd="1" destOrd="0" presId="urn:microsoft.com/office/officeart/2005/8/layout/pyramid1"/>
    <dgm:cxn modelId="{B472FF4A-344E-FF47-B6EF-D51CFF84D39E}" type="presParOf" srcId="{EF5077BA-5E70-1841-B604-1F9C66F54FC8}" destId="{AB2FE242-7598-7746-B73C-438C5B8ABE0C}" srcOrd="1" destOrd="0" presId="urn:microsoft.com/office/officeart/2005/8/layout/pyramid1"/>
    <dgm:cxn modelId="{0C42A2F1-2969-1744-A1F9-7B38A18DB765}" type="presParOf" srcId="{AB2FE242-7598-7746-B73C-438C5B8ABE0C}" destId="{2E27A4C3-C19A-6444-AD97-3FAC316AA311}" srcOrd="0" destOrd="0" presId="urn:microsoft.com/office/officeart/2005/8/layout/pyramid1"/>
    <dgm:cxn modelId="{3C37D30D-C954-2E48-9A79-87502B6D3826}" type="presParOf" srcId="{AB2FE242-7598-7746-B73C-438C5B8ABE0C}" destId="{F89BA71E-13A1-9047-9EEB-F3E4D7AFFE55}" srcOrd="1" destOrd="0" presId="urn:microsoft.com/office/officeart/2005/8/layout/pyramid1"/>
    <dgm:cxn modelId="{CF302F2B-D13D-DF46-9006-89EBFE3294F9}" type="presParOf" srcId="{EF5077BA-5E70-1841-B604-1F9C66F54FC8}" destId="{04ACC672-FBEC-614B-8349-D966D08FE783}" srcOrd="2" destOrd="0" presId="urn:microsoft.com/office/officeart/2005/8/layout/pyramid1"/>
    <dgm:cxn modelId="{BF6AC3F3-973B-7244-AC6F-80AC9058831F}" type="presParOf" srcId="{04ACC672-FBEC-614B-8349-D966D08FE783}" destId="{837B03AD-F324-414B-987E-78AF13FA71DD}" srcOrd="0" destOrd="0" presId="urn:microsoft.com/office/officeart/2005/8/layout/pyramid1"/>
    <dgm:cxn modelId="{1A431297-98CF-C14D-BF44-463693629C49}" type="presParOf" srcId="{04ACC672-FBEC-614B-8349-D966D08FE783}" destId="{110446CE-51EB-F34A-A4AD-0452903A1EF5}" srcOrd="1" destOrd="0" presId="urn:microsoft.com/office/officeart/2005/8/layout/pyramid1"/>
    <dgm:cxn modelId="{F6A1453B-1425-DE40-AB6D-A1B827692DF4}" type="presParOf" srcId="{EF5077BA-5E70-1841-B604-1F9C66F54FC8}" destId="{74AE8BA3-6CDE-DE4B-A112-F4138FAB2C6A}" srcOrd="3" destOrd="0" presId="urn:microsoft.com/office/officeart/2005/8/layout/pyramid1"/>
    <dgm:cxn modelId="{7980010F-9624-524B-9301-E41EE87D8233}" type="presParOf" srcId="{74AE8BA3-6CDE-DE4B-A112-F4138FAB2C6A}" destId="{044BCBE2-683C-0C4E-97DE-6A8E7FDD0CA0}" srcOrd="0" destOrd="0" presId="urn:microsoft.com/office/officeart/2005/8/layout/pyramid1"/>
    <dgm:cxn modelId="{537B6B4E-8507-F94A-BD99-A004F39A120A}" type="presParOf" srcId="{74AE8BA3-6CDE-DE4B-A112-F4138FAB2C6A}" destId="{A27373B6-1550-4842-95CE-17751F8F60B5}" srcOrd="1" destOrd="0" presId="urn:microsoft.com/office/officeart/2005/8/layout/pyramid1"/>
    <dgm:cxn modelId="{53208B93-0194-D44A-A5BD-A64B842FF342}" type="presParOf" srcId="{EF5077BA-5E70-1841-B604-1F9C66F54FC8}" destId="{626B05C8-798F-5740-B888-6E5BDEC0313E}" srcOrd="4" destOrd="0" presId="urn:microsoft.com/office/officeart/2005/8/layout/pyramid1"/>
    <dgm:cxn modelId="{96C10A43-6AE1-234F-A9F7-84E0CF248CAE}" type="presParOf" srcId="{626B05C8-798F-5740-B888-6E5BDEC0313E}" destId="{9C468B84-35F2-5645-AD28-48553995E638}" srcOrd="0" destOrd="0" presId="urn:microsoft.com/office/officeart/2005/8/layout/pyramid1"/>
    <dgm:cxn modelId="{63538293-48F2-7342-9186-DC2C254E880D}" type="presParOf" srcId="{626B05C8-798F-5740-B888-6E5BDEC0313E}" destId="{CE92A3B9-DBF7-6949-820A-58293DB752F7}" srcOrd="1" destOrd="0" presId="urn:microsoft.com/office/officeart/2005/8/layout/pyramid1"/>
    <dgm:cxn modelId="{3EBAE7D4-581B-3447-882E-C6C86D54DBFA}" type="presParOf" srcId="{EF5077BA-5E70-1841-B604-1F9C66F54FC8}" destId="{B260AD60-C30A-9240-B790-37D3AD619707}" srcOrd="5" destOrd="0" presId="urn:microsoft.com/office/officeart/2005/8/layout/pyramid1"/>
    <dgm:cxn modelId="{BB66B0C3-831F-9A4B-A3EA-C670CDC59588}" type="presParOf" srcId="{B260AD60-C30A-9240-B790-37D3AD619707}" destId="{C4CA179F-E3B5-9F47-A4E7-AE5706229E0F}" srcOrd="0" destOrd="0" presId="urn:microsoft.com/office/officeart/2005/8/layout/pyramid1"/>
    <dgm:cxn modelId="{4A4707C4-4528-8341-91B1-0279C6CEEBC9}" type="presParOf" srcId="{B260AD60-C30A-9240-B790-37D3AD619707}" destId="{11FA0568-3F04-A849-8BD3-CAAD6D13B1F8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987AE9-48EC-0A4D-B26C-4BEAF61DDB53}">
      <dsp:nvSpPr>
        <dsp:cNvPr id="0" name=""/>
        <dsp:cNvSpPr/>
      </dsp:nvSpPr>
      <dsp:spPr>
        <a:xfrm>
          <a:off x="1878815" y="0"/>
          <a:ext cx="751526" cy="450299"/>
        </a:xfrm>
        <a:prstGeom prst="trapezoid">
          <a:avLst>
            <a:gd name="adj" fmla="val 83447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tint val="81000"/>
              </a:schemeClr>
            </a:gs>
          </a:gsLst>
          <a:lin ang="5400000" scaled="0"/>
          <a:tileRect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Integration</a:t>
          </a:r>
        </a:p>
      </dsp:txBody>
      <dsp:txXfrm>
        <a:off x="1878815" y="0"/>
        <a:ext cx="751526" cy="450299"/>
      </dsp:txXfrm>
    </dsp:sp>
    <dsp:sp modelId="{2E27A4C3-C19A-6444-AD97-3FAC316AA311}">
      <dsp:nvSpPr>
        <dsp:cNvPr id="0" name=""/>
        <dsp:cNvSpPr/>
      </dsp:nvSpPr>
      <dsp:spPr>
        <a:xfrm>
          <a:off x="1503052" y="450299"/>
          <a:ext cx="1503052" cy="450299"/>
        </a:xfrm>
        <a:prstGeom prst="trapezoid">
          <a:avLst>
            <a:gd name="adj" fmla="val 83447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tint val="81000"/>
              </a:schemeClr>
            </a:gs>
          </a:gsLst>
          <a:lin ang="5400000" scaled="0"/>
          <a:tileRect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Smoke</a:t>
          </a:r>
        </a:p>
      </dsp:txBody>
      <dsp:txXfrm>
        <a:off x="1766086" y="450299"/>
        <a:ext cx="976983" cy="450299"/>
      </dsp:txXfrm>
    </dsp:sp>
    <dsp:sp modelId="{837B03AD-F324-414B-987E-78AF13FA71DD}">
      <dsp:nvSpPr>
        <dsp:cNvPr id="0" name=""/>
        <dsp:cNvSpPr/>
      </dsp:nvSpPr>
      <dsp:spPr>
        <a:xfrm>
          <a:off x="1127289" y="900599"/>
          <a:ext cx="2254577" cy="450299"/>
        </a:xfrm>
        <a:prstGeom prst="trapezoid">
          <a:avLst>
            <a:gd name="adj" fmla="val 83447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tint val="81000"/>
              </a:schemeClr>
            </a:gs>
          </a:gsLst>
          <a:lin ang="5400000" scaled="0"/>
          <a:tileRect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Model</a:t>
          </a:r>
        </a:p>
      </dsp:txBody>
      <dsp:txXfrm>
        <a:off x="1521840" y="900599"/>
        <a:ext cx="1465475" cy="450299"/>
      </dsp:txXfrm>
    </dsp:sp>
    <dsp:sp modelId="{044BCBE2-683C-0C4E-97DE-6A8E7FDD0CA0}">
      <dsp:nvSpPr>
        <dsp:cNvPr id="0" name=""/>
        <dsp:cNvSpPr/>
      </dsp:nvSpPr>
      <dsp:spPr>
        <a:xfrm>
          <a:off x="751526" y="1350899"/>
          <a:ext cx="3006104" cy="450299"/>
        </a:xfrm>
        <a:prstGeom prst="trapezoid">
          <a:avLst>
            <a:gd name="adj" fmla="val 83447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tint val="81000"/>
              </a:schemeClr>
            </a:gs>
          </a:gsLst>
          <a:lin ang="5400000" scaled="0"/>
          <a:tileRect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Behavioural</a:t>
          </a:r>
        </a:p>
      </dsp:txBody>
      <dsp:txXfrm>
        <a:off x="1277594" y="1350899"/>
        <a:ext cx="1953967" cy="450299"/>
      </dsp:txXfrm>
    </dsp:sp>
    <dsp:sp modelId="{9C468B84-35F2-5645-AD28-48553995E638}">
      <dsp:nvSpPr>
        <dsp:cNvPr id="0" name=""/>
        <dsp:cNvSpPr/>
      </dsp:nvSpPr>
      <dsp:spPr>
        <a:xfrm>
          <a:off x="375763" y="1801198"/>
          <a:ext cx="3757630" cy="450299"/>
        </a:xfrm>
        <a:prstGeom prst="trapezoid">
          <a:avLst>
            <a:gd name="adj" fmla="val 83447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tint val="81000"/>
              </a:schemeClr>
            </a:gs>
          </a:gsLst>
          <a:lin ang="5400000" scaled="0"/>
          <a:tileRect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Data</a:t>
          </a:r>
        </a:p>
      </dsp:txBody>
      <dsp:txXfrm>
        <a:off x="1033348" y="1801198"/>
        <a:ext cx="2442459" cy="450299"/>
      </dsp:txXfrm>
    </dsp:sp>
    <dsp:sp modelId="{C4CA179F-E3B5-9F47-A4E7-AE5706229E0F}">
      <dsp:nvSpPr>
        <dsp:cNvPr id="0" name=""/>
        <dsp:cNvSpPr/>
      </dsp:nvSpPr>
      <dsp:spPr>
        <a:xfrm>
          <a:off x="0" y="2251498"/>
          <a:ext cx="4509155" cy="450299"/>
        </a:xfrm>
        <a:prstGeom prst="trapezoid">
          <a:avLst>
            <a:gd name="adj" fmla="val 83447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tint val="81000"/>
              </a:schemeClr>
            </a:gs>
          </a:gsLst>
          <a:lin ang="5400000" scaled="0"/>
          <a:tileRect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Unit</a:t>
          </a:r>
        </a:p>
      </dsp:txBody>
      <dsp:txXfrm>
        <a:off x="789102" y="2251498"/>
        <a:ext cx="2930951" cy="4502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B20B4E3-E32D-4A76-A39F-2D19AC33AE9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F8AEDAE-8C60-4626-ABFD-D4DBDFA62CF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pickle / joblib</a:t>
            </a:r>
          </a:p>
          <a:p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Easy in Python; security risk if deserializing untrusted files; tied to library versions. </a:t>
            </a:r>
          </a:p>
          <a:p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Pickle is a module from the Python Standard Library. It can serialize any Python object, including custom Python classes and objects.</a:t>
            </a:r>
            <a:b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DE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joblib is more efficient than pickle when working with large machine learning models or large numpy arrays.</a:t>
            </a:r>
          </a:p>
          <a:p>
            <a:b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DE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ONNX</a:t>
            </a:r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Cross-framework, runtime-optimized inference. </a:t>
            </a:r>
          </a:p>
          <a:p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ONNX is an open format built to represent machine learning models. ONNX defines a common set of operators - the building blocks of machine learning and deep learning models - and a common file format to enable AI devleopers to use models with a variety of frameworks, tools, runtimes, and compilers.</a:t>
            </a:r>
          </a:p>
          <a:p>
            <a:b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DE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holds the architecture and parameters i.e. "weights". It makes it easy to move a model between frameworks.</a:t>
            </a:r>
          </a:p>
          <a:p>
            <a:b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DE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TorchScript</a:t>
            </a:r>
          </a:p>
          <a:p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SavedModel</a:t>
            </a:r>
          </a:p>
          <a:p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Framework-native, production-grade. </a:t>
            </a:r>
          </a:p>
          <a:p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subset of Python that allows developers to create serializable, optimizable, and production-ready models from PyTorch code.</a:t>
            </a:r>
          </a:p>
          <a:p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enables executing deep learning models in high performance environments without requiring a Python runtime.</a:t>
            </a:r>
          </a:p>
          <a:p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when there are no Python dependencies, such as running models on mobile devices, edge computing platforms, or in C++ inference servers.</a:t>
            </a:r>
          </a:p>
          <a:p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Trims overheads associated with the Python interpreter, allowing for faster inference times and hardware-level optimisations.</a:t>
            </a:r>
          </a:p>
          <a:p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Saves entire model architectures, weights, and logic into a single .pt or .pth file.</a:t>
            </a:r>
          </a:p>
          <a:p>
            <a:b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DE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MLflow Model</a:t>
            </a:r>
          </a:p>
          <a:p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Wraps any of the above with metadata + signature. |</a:t>
            </a:r>
          </a:p>
          <a:p>
            <a:b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DE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3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328471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It means the actual model artifacts (including the </a:t>
            </a:r>
            <a:r>
              <a:rPr lang="en-GB" dirty="0" err="1"/>
              <a:t>MLmodel</a:t>
            </a:r>
            <a:r>
              <a:rPr lang="en-GB" dirty="0"/>
              <a:t> file that holds the signature/schema) are saved to a cloud object store like S3, GCS, or Azure Blob rather than the local filesystem or a git repo.</a:t>
            </a:r>
          </a:p>
          <a:p>
            <a:r>
              <a:rPr lang="en-GB" dirty="0"/>
              <a:t>- During dev, </a:t>
            </a:r>
            <a:r>
              <a:rPr lang="en-GB" dirty="0" err="1"/>
              <a:t>log_model</a:t>
            </a:r>
            <a:r>
              <a:rPr lang="en-GB" dirty="0"/>
              <a:t>() writes artifacts to a local directory or tracking server.</a:t>
            </a:r>
          </a:p>
          <a:p>
            <a:r>
              <a:rPr lang="en-GB" dirty="0"/>
              <a:t>- In production, </a:t>
            </a:r>
            <a:r>
              <a:rPr lang="en-GB" dirty="0" err="1"/>
              <a:t>log_model</a:t>
            </a:r>
            <a:r>
              <a:rPr lang="en-GB" dirty="0"/>
              <a:t>() points the artifact store at object storage (e.g. s3://bucket/...), so the serialized model + its </a:t>
            </a:r>
            <a:r>
              <a:rPr lang="en-GB" dirty="0" err="1"/>
              <a:t>MLmodel</a:t>
            </a:r>
            <a:r>
              <a:rPr lang="en-GB" dirty="0"/>
              <a:t> manifest live there.</a:t>
            </a:r>
          </a:p>
          <a:p>
            <a:r>
              <a:rPr lang="en-GB" dirty="0"/>
              <a:t>- Object storage is used because it's durable, scalable, versioned, and cheap — and serves as the single source of truth that a serving platform (SageMaker, Seldon, </a:t>
            </a:r>
            <a:r>
              <a:rPr lang="en-GB" dirty="0" err="1"/>
              <a:t>KServe</a:t>
            </a:r>
            <a:r>
              <a:rPr lang="en-GB" dirty="0"/>
              <a:t>, etc.) reads from when loading a model.</a:t>
            </a:r>
          </a:p>
          <a:p>
            <a:r>
              <a:rPr lang="en-GB" dirty="0"/>
              <a:t>The key point: the schema/signature isn't just a file in your repo — it travels with the model artifact, and in production that artifact lives in object storage.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4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286596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5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934860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FFE0E-740E-8F3E-E254-8975BE3F6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EBAC6F-603E-BE29-A276-B5222CAA76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CAE334-FBF0-E5F7-8031-0ACDE01063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507203-A13C-493D-4E19-A5B3610985F2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6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304191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9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843880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D9064-F60F-5854-5C08-7C1EB7FEA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1A8AE4-11A9-1ACA-1AAF-C213091736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7DD11C-83B1-74E5-97BB-56919387C2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3C309D-257C-CEC7-25FE-24030BEDDD7A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10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532779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AB79F-2F50-614B-CE29-1BA98D0F2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4FC2CF-4F6B-245E-052D-7F27A3EA44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8DFDCE-1D99-9364-6CA2-93C5F7FC20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8BEF02-325A-BD37-3043-10C686FBFF59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846254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0760B-FEEE-A241-A091-9D77E3E6A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93CADE-BE81-486B-7A82-505A9E164D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B72111-9272-A777-B727-C578475DCE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08B1E-A701-E84A-00AF-D053C62D2443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12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0640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13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371384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27579-3DC9-CDBA-4F1A-C094E8E1F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3DD57E-BFF5-3450-52C0-EC3E6BB17F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94083A-D484-80CF-3A88-0D92D3ACA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44D12-BE41-7FC4-7320-0E6B74FA6760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14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975118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Docker builds an image, it executes each instruction (FROM, COPY, RUN, etc.) as a separate </a:t>
            </a:r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it saves a snapshot after each one. On the next build, before executing a layer, Docker checks: </a:t>
            </a:r>
            <a:r>
              <a:rPr lang="en-DE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 anything changed since last time?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If not, it reuses the saved snapshot instead of re-running the instruction — this is called a </a:t>
            </a:r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 hit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key rule: </a:t>
            </a:r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once a layer's cache is invalidated, every layer after it also re-runs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even if those files haven't changed. So putting the slow, stable step (pip install) before the fast, frequently-changing step (COPY service.py) means you only pay the pip install cost when requirements.txt actually changes — not on every code edit.</a:t>
            </a:r>
          </a:p>
          <a:p>
            <a:endParaRPr lang="en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you run docker build, two separate processes are involved:</a:t>
            </a:r>
          </a:p>
          <a:p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terminal (the Docker client)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where you type the command</a:t>
            </a:r>
          </a:p>
          <a:p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Docker daemon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the background service that actually builds the image</a:t>
            </a:r>
          </a:p>
          <a:p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can be on different machines (e.g. a remote build server). The client cannot just let the daemon read files off your local disk directly. Instead, it packages up a directory and </a:t>
            </a:r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sends it over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the daemon first. That package is the </a:t>
            </a:r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 context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DE" dirty="0"/>
          </a:p>
          <a:p>
            <a:endParaRPr lang="en-DE" dirty="0"/>
          </a:p>
          <a:p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daemon then executes each COPY instruction by pulling files out of that received tarball — not from your filesystem directly. This is why </a:t>
            </a:r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files outside the build context are completely invisible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Sending a 2 GB .venv/ directory to the daemon on every build is wasteful. A .dockerignore file (placed next to the build context root, i.e., the repo root) works like .gitignore</a:t>
            </a: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15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713944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60283-4CF0-EE95-31D4-4878C126E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DB65C2-748A-E3D5-B8F3-E2D4CFCBB0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0AFB51-F071-C785-F1EE-F568E823F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Docker builds an image, it executes each instruction (FROM, COPY, RUN, etc.) as a separate </a:t>
            </a:r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it saves a snapshot after each one. On the next build, before executing a layer, Docker checks: </a:t>
            </a:r>
            <a:r>
              <a:rPr lang="en-DE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 anything changed since last time?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If not, it reuses the saved snapshot instead of re-running the instruction — this is called a </a:t>
            </a:r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 hit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key rule: </a:t>
            </a:r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once a layer's cache is invalidated, every layer after it also re-runs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even if those files haven't changed. So putting the slow, stable step (pip install) before the fast, frequently-changing step (COPY service.py) means you only pay the pip install cost when requirements.txt actually changes — not on every code edit.</a:t>
            </a:r>
          </a:p>
          <a:p>
            <a:endParaRPr lang="en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you run docker build, two separate processes are involved:</a:t>
            </a:r>
          </a:p>
          <a:p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terminal (the Docker client)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where you type the command</a:t>
            </a:r>
          </a:p>
          <a:p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Docker daemon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the background service that actually builds the image</a:t>
            </a:r>
          </a:p>
          <a:p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can be on different machines (e.g. a remote build server). The client cannot just let the daemon read files off your local disk directly. Instead, it packages up a directory and </a:t>
            </a:r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sends it over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the daemon first. That package is the </a:t>
            </a:r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 context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DE" dirty="0"/>
          </a:p>
          <a:p>
            <a:endParaRPr lang="en-DE" dirty="0"/>
          </a:p>
          <a:p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daemon then executes each COPY instruction by pulling files out of that received tarball — not from your filesystem directly. This is why </a:t>
            </a:r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files outside the build context are completely invisible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Sending a 2 GB .venv/ directory to the daemon on every build is wasteful. A .dockerignore file (placed next to the build context root, i.e., the repo root) works like .gitignore</a:t>
            </a:r>
          </a:p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73913-E076-3A33-4A4B-24DED15EE822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16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365820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7630F-90FD-5DEE-D4CA-9CFA98BD6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D40C9E-161F-C214-BAD3-AC10039088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1D38B6-5E0E-9151-3282-55CE4B8A33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Docker builds an image, it executes each instruction (FROM, COPY, RUN, etc.) as a separate </a:t>
            </a:r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it saves a snapshot after each one. On the next build, before executing a layer, Docker checks: </a:t>
            </a:r>
            <a:r>
              <a:rPr lang="en-DE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 anything changed since last time?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If not, it reuses the saved snapshot instead of re-running the instruction — this is called a </a:t>
            </a:r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 hit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key rule: </a:t>
            </a:r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once a layer's cache is invalidated, every layer after it also re-runs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even if those files haven't changed. So putting the slow, stable step (pip install) before the fast, frequently-changing step (COPY service.py) means you only pay the pip install cost when requirements.txt actually changes — not on every code edit.</a:t>
            </a:r>
          </a:p>
          <a:p>
            <a:endParaRPr lang="en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you run docker build, two separate processes are involved:</a:t>
            </a:r>
          </a:p>
          <a:p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terminal (the Docker client)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where you type the command</a:t>
            </a:r>
          </a:p>
          <a:p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Docker daemon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the background service that actually builds the image</a:t>
            </a:r>
          </a:p>
          <a:p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can be on different machines (e.g. a remote build server). The client cannot just let the daemon read files off your local disk directly. Instead, it packages up a directory and </a:t>
            </a:r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sends it over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the daemon first. That package is the </a:t>
            </a:r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 context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DE" dirty="0"/>
          </a:p>
          <a:p>
            <a:endParaRPr lang="en-DE" dirty="0"/>
          </a:p>
          <a:p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daemon then executes each COPY instruction by pulling files out of that received tarball — not from your filesystem directly. This is why </a:t>
            </a:r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files outside the build context are completely invisible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Sending a 2 GB .venv/ directory to the daemon on every build is wasteful. A .dockerignore file (placed next to the build context root, i.e., the repo root) works like .gitignore</a:t>
            </a:r>
          </a:p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C341CA-9748-48DD-CE08-CCC47523CB86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17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182870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Linting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checks code </a:t>
            </a:r>
            <a:r>
              <a:rPr lang="en-DE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style and structure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without running it.</a:t>
            </a:r>
          </a:p>
          <a:p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catches things like undefined variables, unused imports, inconsistent formatting, and obvious mistakes — before the code even executes. It's the fastest check since no code runs.</a:t>
            </a:r>
          </a:p>
          <a:p>
            <a:endParaRPr lang="en-DE" dirty="0"/>
          </a:p>
          <a:p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 tests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test a </a:t>
            </a:r>
            <a:r>
              <a:rPr lang="en-DE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single function in isolation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call one function with known inputs and assert the output is correct. Nothing else (database, network, other modules) is involved. Fast because there are no dependencies.</a:t>
            </a:r>
          </a:p>
          <a:p>
            <a:endParaRPr lang="en-DE" dirty="0"/>
          </a:p>
          <a:p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Integration tests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test </a:t>
            </a:r>
            <a:r>
              <a:rPr lang="en-DE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multiple components working together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spin up the actual service (or a close approximation) and send real HTTP requests to it. This catches bugs that only appear when the model, server, and network stack are all running together — things a unit test can never catch.</a:t>
            </a: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18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624384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21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632072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b="1" dirty="0"/>
              <a:t>Unit tests </a:t>
            </a:r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 a single function in isolation. These are the tests you may already be writing. They run in milliseconds and catch regressions immediately.</a:t>
            </a:r>
          </a:p>
          <a:p>
            <a:endParaRPr lang="en-DE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tests</a:t>
            </a:r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assert properties of the actual training or inference data. They catch pipeline bugs (a join that silently produced nulls, a schema change upstream) before they corrupt a model.</a:t>
            </a:r>
          </a:p>
          <a:p>
            <a:endParaRPr lang="en-DE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 tests </a:t>
            </a:r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 quality gates that block a model from being promoted if it doesn't meet a minimum bar. They use a held-out evaluation set.</a:t>
            </a:r>
          </a:p>
          <a:p>
            <a:endParaRPr lang="en-DE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Behavioural tests</a:t>
            </a:r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check that the model makes intuitive sense — even when the exact output value is not predictable. These catch models that overfit to noise or have spurious correlations.</a:t>
            </a:r>
          </a:p>
          <a:p>
            <a:endParaRPr lang="en-DE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Integration tests</a:t>
            </a:r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hit the running service over HTTP. They catch issues that only appear when the model, server, and network are all in play together.</a:t>
            </a:r>
          </a:p>
          <a:p>
            <a:endParaRPr lang="en-DE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Smoke tests </a:t>
            </a:r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 the simplest possible checks run immediately after a deploy — just enough to confirm the process started and is reachable. They are often a  single `curl /health` in a deployment script.</a:t>
            </a:r>
          </a:p>
          <a:p>
            <a:endParaRPr lang="en-DE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DE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DE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DE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22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527480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23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040994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17F67-BAB5-E164-46C4-B0FCEEA1D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971831-B29B-F26C-6559-E25D22622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C6BDDA-059B-E024-45CD-397162446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31EE9-51E3-6BA2-E20B-B25BA1B939C1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24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794626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7695D-795D-DA38-808C-B564E8E35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E62726-1DFC-C98E-01F4-B6947E4598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0332CA-EB01-4FCE-9A00-944CED0BF8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E01B4-9CD5-7E79-5E25-6F145C400D3F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25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293229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CB388-F026-A57D-63EA-6C0070605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A8AA4-E817-6696-F502-A9F2CA077A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3DEB7A-D45F-7467-921B-142FDEE5B6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0EED78-D97B-EB19-E2E5-1D94B79303CB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26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251719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3A902-1DB8-8438-1132-95D1B48AF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FFC280-87B4-E8B0-D99E-2574EBE10C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DAA988-9D1A-3276-BEFC-1B5A989CE7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9AD921-159A-903B-1E39-234E6617E349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27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313727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1E6C6-9FF2-73B3-E092-A650D7334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7583D8-8269-062A-1A93-226276B685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4EEA17-D758-841C-0DB6-20FA19C82D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DE" dirty="0"/>
              <a:t>Ordering is only within a shart – don’t write tests that depend on another shard’s state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E</a:t>
            </a:r>
            <a:r>
              <a:rPr lang="en-DE" dirty="0"/>
              <a:t>ach shard re-runs installations of packages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E" dirty="0"/>
              <a:t>Should be balanced – 1 slow test will still leave you waiting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B0E83-2FC2-4FE9-8B46-307B43C138EE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28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2671397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31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376713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DD126-635D-B1A5-767B-FBA1FA44D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16AB9A-B19C-9A80-2B89-0ADAA2B9E5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F43F67-925B-BC56-1823-2C48F60B76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1096E-2892-8C73-7744-06E6CB27D1FE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32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73863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2C625-2311-18C1-16E0-88D5978FE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35CD3A-9D09-9AF3-F6DD-C1D3A9F08B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3F4032-ED3A-0682-DEE9-689376EC38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DFA1C-686A-0D46-C84F-EC4FEC1BCBFA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33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2876537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577BA-ADC9-8504-5BC8-C02F12E87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6DDA12-1513-CEE6-116D-E36E61B43D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8B5767-2E98-9C3C-C7A5-5CEBC65FCF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FC5E3-69B1-2333-CCA6-5F8C9F8AF342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34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7389871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38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636365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Transformations that were dependent on certain conditions in the data not carried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39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9759686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41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8803261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A6897-5802-A18B-BF23-108566695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7B64EB-BB6D-1B67-98B9-9A3AB2E3C9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CB3293-070A-D018-5463-1B49918BB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2306E-994A-D83E-F80A-A85CCEC4026B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42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6445835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8CDC6-24A8-74DB-42BC-9041BB6F2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40A993-977E-DC8D-EDCF-112EBAD359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29B05E-E071-4311-F340-86C1B0D9E3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1FF2F-859E-7446-3CAA-E3D81A3781B7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43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9805524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44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4063228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8D8C6-1E1B-5B5E-6AC5-1A2040984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9C80AB-9D9F-8209-48E6-E13BEC56DB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51B993-C434-D827-5B62-ECFD91DFAB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4202A-C754-280D-5504-D213372A85DE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45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5425890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Proxy metrics: Chargebacks, Loan defaults, conversions etc.</a:t>
            </a: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47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6321178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48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3607837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49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4168605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C3874-35AD-89C6-954A-DC4B57970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CF5D0F-C379-E48D-4AD9-F93FEC26EA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DE79E2-C087-8182-0A5D-133AF03FE1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5F1389-44E7-706D-14A7-7E0DD177DA8C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50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05754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org&amp;utm_campaign=index&amp;utm_content=thumbnail&amp;_=20210416084743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hyperlink" Target="https://www.youtube.com/watch?v=-RDyEFvnTXI&amp;t=278s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sv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2360" cy="514296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360" tIns="45000" rIns="36360" bIns="4500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Text 1"/>
          <p:cNvSpPr/>
          <p:nvPr/>
        </p:nvSpPr>
        <p:spPr>
          <a:xfrm>
            <a:off x="731520" y="68580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31520" y="1280160"/>
            <a:ext cx="7771680" cy="20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F5F0E6"/>
                </a:solidFill>
                <a:effectLst/>
                <a:uFillTx/>
                <a:latin typeface="Georgia"/>
                <a:ea typeface="Georgia"/>
              </a:rPr>
              <a:t>ML OPS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3520440"/>
            <a:ext cx="731520" cy="360"/>
          </a:xfrm>
          <a:prstGeom prst="line">
            <a:avLst/>
          </a:prstGeom>
          <a:ln w="1905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Text 4"/>
          <p:cNvSpPr/>
          <p:nvPr/>
        </p:nvSpPr>
        <p:spPr>
          <a:xfrm>
            <a:off x="731520" y="3657600"/>
            <a:ext cx="594288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 dirty="0">
                <a:solidFill>
                  <a:srgbClr val="C8CCD3"/>
                </a:solidFill>
                <a:effectLst/>
                <a:uFillTx/>
                <a:latin typeface="Calibri"/>
                <a:ea typeface="Calibri"/>
              </a:rPr>
              <a:t>DSR — </a:t>
            </a:r>
            <a:r>
              <a:rPr lang="en-US" sz="1200" i="1" dirty="0">
                <a:solidFill>
                  <a:srgbClr val="C8CCD3"/>
                </a:solidFill>
                <a:latin typeface="Calibri"/>
                <a:ea typeface="Calibri"/>
              </a:rPr>
              <a:t>September</a:t>
            </a:r>
            <a:r>
              <a:rPr lang="en-US" sz="1200" b="0" i="1" u="none" strike="noStrike" dirty="0">
                <a:solidFill>
                  <a:srgbClr val="C8CCD3"/>
                </a:solidFill>
                <a:effectLst/>
                <a:uFillTx/>
                <a:latin typeface="Calibri"/>
                <a:ea typeface="Calibri"/>
              </a:rPr>
              <a:t> 2026  ·  Day 2: In Production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7863840" y="640080"/>
            <a:ext cx="82224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D4A24C"/>
                </a:solidFill>
                <a:effectLst/>
                <a:uFillTx/>
                <a:latin typeface="Georgia"/>
                <a:ea typeface="Georgia"/>
              </a:rPr>
              <a:t>01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7863840" y="1143000"/>
            <a:ext cx="8222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 spc="300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/ 04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800600"/>
            <a:ext cx="914400" cy="360"/>
          </a:xfrm>
          <a:prstGeom prst="line">
            <a:avLst/>
          </a:prstGeom>
          <a:ln w="15875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Text 8"/>
          <p:cNvSpPr/>
          <p:nvPr/>
        </p:nvSpPr>
        <p:spPr>
          <a:xfrm>
            <a:off x="457200" y="4864680"/>
            <a:ext cx="365688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" name="Graphic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3080" y="0"/>
            <a:ext cx="9070200" cy="51429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Goals for the day</a:t>
            </a:r>
          </a:p>
        </p:txBody>
      </p:sp>
      <p:sp>
        <p:nvSpPr>
          <p:cNvPr id="7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/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Georgi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755B30-E750-F1EE-0783-38FE414E4798}"/>
              </a:ext>
            </a:extLst>
          </p:cNvPr>
          <p:cNvSpPr txBox="1"/>
          <p:nvPr/>
        </p:nvSpPr>
        <p:spPr>
          <a:xfrm>
            <a:off x="343260" y="1528653"/>
            <a:ext cx="8000280" cy="2811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dirty="0">
                <a:latin typeface="Georgia" panose="02040502050405020303" pitchFamily="18" charset="0"/>
              </a:rPr>
              <a:t>By the end of today, you will be able to:</a:t>
            </a:r>
          </a:p>
          <a:p>
            <a:pPr>
              <a:lnSpc>
                <a:spcPct val="150000"/>
              </a:lnSpc>
            </a:pPr>
            <a:r>
              <a:rPr lang="en-DE" dirty="0">
                <a:latin typeface="Georgia" panose="02040502050405020303" pitchFamily="18" charset="0"/>
              </a:rPr>
              <a:t>1. </a:t>
            </a:r>
            <a:r>
              <a:rPr lang="en-DE" b="1" dirty="0">
                <a:latin typeface="Georgia" panose="02040502050405020303" pitchFamily="18" charset="0"/>
              </a:rPr>
              <a:t>Package</a:t>
            </a:r>
            <a:r>
              <a:rPr lang="en-DE" dirty="0">
                <a:latin typeface="Georgia" panose="02040502050405020303" pitchFamily="18" charset="0"/>
              </a:rPr>
              <a:t> a trained model and serve it behind a REST API.</a:t>
            </a:r>
          </a:p>
          <a:p>
            <a:pPr>
              <a:lnSpc>
                <a:spcPct val="150000"/>
              </a:lnSpc>
            </a:pPr>
            <a:r>
              <a:rPr lang="en-DE" dirty="0">
                <a:latin typeface="Georgia" panose="02040502050405020303" pitchFamily="18" charset="0"/>
              </a:rPr>
              <a:t>2. Containerize the service for portable deployment.</a:t>
            </a:r>
          </a:p>
          <a:p>
            <a:pPr>
              <a:lnSpc>
                <a:spcPct val="150000"/>
              </a:lnSpc>
            </a:pPr>
            <a:r>
              <a:rPr lang="en-DE" dirty="0">
                <a:latin typeface="Georgia" panose="02040502050405020303" pitchFamily="18" charset="0"/>
              </a:rPr>
              <a:t>3. Design a </a:t>
            </a:r>
            <a:r>
              <a:rPr lang="en-DE" b="1" dirty="0">
                <a:latin typeface="Georgia" panose="02040502050405020303" pitchFamily="18" charset="0"/>
              </a:rPr>
              <a:t>CI/CD pipeline for ML</a:t>
            </a:r>
            <a:r>
              <a:rPr lang="en-DE" dirty="0">
                <a:latin typeface="Georgia" panose="02040502050405020303" pitchFamily="18" charset="0"/>
              </a:rPr>
              <a:t> (testing data, code, and models).</a:t>
            </a:r>
          </a:p>
          <a:p>
            <a:pPr>
              <a:lnSpc>
                <a:spcPct val="150000"/>
              </a:lnSpc>
            </a:pPr>
            <a:r>
              <a:rPr lang="en-DE" dirty="0">
                <a:latin typeface="Georgia" panose="02040502050405020303" pitchFamily="18" charset="0"/>
              </a:rPr>
              <a:t>4. Monitor a model in production and detect </a:t>
            </a:r>
            <a:r>
              <a:rPr lang="en-DE" b="1" dirty="0">
                <a:latin typeface="Georgia" panose="02040502050405020303" pitchFamily="18" charset="0"/>
              </a:rPr>
              <a:t>data and concept drift</a:t>
            </a:r>
            <a:r>
              <a:rPr lang="en-DE" dirty="0">
                <a:latin typeface="Georgia" panose="02040502050405020303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DE" dirty="0">
                <a:latin typeface="Georgia" panose="02040502050405020303" pitchFamily="18" charset="0"/>
              </a:rPr>
              <a:t>5. Apply industry best practices around </a:t>
            </a:r>
            <a:r>
              <a:rPr lang="en-DE" b="1" dirty="0">
                <a:latin typeface="Georgia" panose="02040502050405020303" pitchFamily="18" charset="0"/>
              </a:rPr>
              <a:t>governance, security, and team structure</a:t>
            </a:r>
            <a:r>
              <a:rPr lang="en-DE" dirty="0">
                <a:latin typeface="Georgia" panose="02040502050405020303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BC2CE3-90D8-D439-AB3E-9125A7B6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AFF2EC2A-EF3C-3BAA-8B17-1768B2327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Packaging Models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5A14C3B5-2EEE-112F-3C3A-FC49C2354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83AC4D5D-D726-FCEC-D046-3D7DAB08B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76673BA9-5C29-5A47-B9D0-3005B55D4B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94B9F5BB-5F3F-C482-F702-7BD6DCE17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>
            <a:extLst>
              <a:ext uri="{FF2B5EF4-FFF2-40B4-BE49-F238E27FC236}">
                <a16:creationId xmlns:a16="http://schemas.microsoft.com/office/drawing/2014/main" id="{BDE096CB-B51F-4CEF-D413-912B0E1E713F}"/>
              </a:ext>
            </a:extLst>
          </p:cNvPr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500" b="1" u="none" strike="noStrike" dirty="0">
              <a:solidFill>
                <a:srgbClr val="1F2630"/>
              </a:solidFill>
              <a:effectLst/>
              <a:uFillTx/>
              <a:latin typeface="Georgia"/>
            </a:endParaRPr>
          </a:p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r>
              <a:rPr lang="en-US" sz="1500" b="1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A trained model in memory is useless in production — you need a portable artifact*.</a:t>
            </a:r>
          </a:p>
          <a:p>
            <a:pPr marL="0" indent="0">
              <a:lnSpc>
                <a:spcPct val="110000"/>
              </a:lnSpc>
              <a:buNone/>
            </a:pPr>
            <a:endParaRPr lang="en-US" sz="600" dirty="0"/>
          </a:p>
          <a:p>
            <a:pPr marL="0" indent="0">
              <a:lnSpc>
                <a:spcPct val="110000"/>
              </a:lnSpc>
              <a:buNone/>
            </a:pPr>
            <a:endParaRPr lang="en-US" sz="1500" b="1" u="none" strike="noStrike" dirty="0">
              <a:solidFill>
                <a:srgbClr val="1F2630"/>
              </a:solidFill>
              <a:effectLst/>
              <a:uFillTx/>
              <a:latin typeface="Georgia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1500" b="1" u="none" strike="noStrike" dirty="0">
              <a:solidFill>
                <a:srgbClr val="1F2630"/>
              </a:solidFill>
              <a:effectLst/>
              <a:uFillTx/>
              <a:latin typeface="Georgia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1500" b="1" dirty="0">
              <a:solidFill>
                <a:srgbClr val="1F2630"/>
              </a:solidFill>
              <a:latin typeface="Georgia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1500" b="1" u="none" strike="noStrike" dirty="0">
              <a:solidFill>
                <a:srgbClr val="1F2630"/>
              </a:solidFill>
              <a:effectLst/>
              <a:uFillTx/>
              <a:latin typeface="Georgia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Common formats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500" b="1" dirty="0">
              <a:solidFill>
                <a:srgbClr val="1F2630"/>
              </a:solidFill>
              <a:latin typeface="Georgia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1500" b="1" u="none" strike="noStrike" dirty="0">
              <a:solidFill>
                <a:srgbClr val="1F2630"/>
              </a:solidFill>
              <a:effectLst/>
              <a:uFillTx/>
              <a:latin typeface="Georgia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1500" b="1" u="none" strike="noStrike" dirty="0">
              <a:solidFill>
                <a:srgbClr val="1F2630"/>
              </a:solidFill>
              <a:effectLst/>
              <a:uFillTx/>
              <a:latin typeface="Georgia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0C6FE60-C183-3B03-CCE4-02DD42B929A3}"/>
              </a:ext>
            </a:extLst>
          </p:cNvPr>
          <p:cNvSpPr/>
          <p:nvPr/>
        </p:nvSpPr>
        <p:spPr>
          <a:xfrm>
            <a:off x="291313" y="1812638"/>
            <a:ext cx="7841183" cy="80920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DE" sz="1100" dirty="0">
              <a:solidFill>
                <a:schemeClr val="tx1"/>
              </a:solidFill>
            </a:endParaRPr>
          </a:p>
          <a:p>
            <a:endParaRPr lang="en-DE" sz="1100" dirty="0">
              <a:solidFill>
                <a:schemeClr val="tx1"/>
              </a:solidFill>
            </a:endParaRPr>
          </a:p>
          <a:p>
            <a:r>
              <a:rPr lang="en-DE" sz="1100" dirty="0">
                <a:solidFill>
                  <a:schemeClr val="tx1"/>
                </a:solidFill>
              </a:rPr>
              <a:t>*Definition time:</a:t>
            </a:r>
          </a:p>
          <a:p>
            <a:r>
              <a:rPr lang="en-DE" sz="1050" dirty="0">
                <a:solidFill>
                  <a:schemeClr val="tx1"/>
                </a:solidFill>
              </a:rPr>
              <a:t>In software and ML, an </a:t>
            </a:r>
            <a:r>
              <a:rPr lang="en-DE" sz="1050" b="1" dirty="0">
                <a:solidFill>
                  <a:schemeClr val="tx1"/>
                </a:solidFill>
              </a:rPr>
              <a:t>artifact</a:t>
            </a:r>
            <a:r>
              <a:rPr lang="en-DE" sz="1050" dirty="0">
                <a:solidFill>
                  <a:schemeClr val="tx1"/>
                </a:solidFill>
              </a:rPr>
              <a:t> is any tangible output produced during the development process that you need to keep, version, or deploy.  The </a:t>
            </a:r>
            <a:r>
              <a:rPr lang="en-DE" sz="1050" b="1" dirty="0">
                <a:solidFill>
                  <a:schemeClr val="tx1"/>
                </a:solidFill>
              </a:rPr>
              <a:t>primary artifact</a:t>
            </a:r>
            <a:r>
              <a:rPr lang="en-DE" sz="1050" dirty="0">
                <a:solidFill>
                  <a:schemeClr val="tx1"/>
                </a:solidFill>
              </a:rPr>
              <a:t> is the main deliverable of your workflow — in traditional software that's the application code/binary; in ML it's the </a:t>
            </a:r>
            <a:r>
              <a:rPr lang="en-DE" sz="1050" b="1" dirty="0">
                <a:solidFill>
                  <a:schemeClr val="tx1"/>
                </a:solidFill>
              </a:rPr>
              <a:t>code </a:t>
            </a:r>
            <a:r>
              <a:rPr lang="en-DE" sz="1050" i="1" dirty="0">
                <a:solidFill>
                  <a:schemeClr val="tx1"/>
                </a:solidFill>
              </a:rPr>
              <a:t>plus</a:t>
            </a:r>
            <a:r>
              <a:rPr lang="en-DE" sz="1050" dirty="0">
                <a:solidFill>
                  <a:schemeClr val="tx1"/>
                </a:solidFill>
              </a:rPr>
              <a:t> </a:t>
            </a:r>
            <a:r>
              <a:rPr lang="en-DE" sz="1050" b="1" dirty="0">
                <a:solidFill>
                  <a:schemeClr val="tx1"/>
                </a:solidFill>
              </a:rPr>
              <a:t>the trained model </a:t>
            </a:r>
            <a:r>
              <a:rPr lang="en-DE" sz="1050" i="1" dirty="0">
                <a:solidFill>
                  <a:schemeClr val="tx1"/>
                </a:solidFill>
              </a:rPr>
              <a:t>plus</a:t>
            </a:r>
            <a:r>
              <a:rPr lang="en-DE" sz="1050" dirty="0">
                <a:solidFill>
                  <a:schemeClr val="tx1"/>
                </a:solidFill>
              </a:rPr>
              <a:t> </a:t>
            </a:r>
            <a:r>
              <a:rPr lang="en-DE" sz="1050" b="1" dirty="0">
                <a:solidFill>
                  <a:schemeClr val="tx1"/>
                </a:solidFill>
              </a:rPr>
              <a:t>the data </a:t>
            </a:r>
            <a:r>
              <a:rPr lang="en-DE" sz="1050" dirty="0">
                <a:solidFill>
                  <a:schemeClr val="tx1"/>
                </a:solidFill>
              </a:rPr>
              <a:t>that produced it.</a:t>
            </a:r>
          </a:p>
          <a:p>
            <a:endParaRPr lang="en-DE" sz="1100" dirty="0">
              <a:solidFill>
                <a:schemeClr val="tx1"/>
              </a:solidFill>
            </a:endParaRPr>
          </a:p>
          <a:p>
            <a:endParaRPr lang="en-DE" sz="1100" dirty="0">
              <a:solidFill>
                <a:schemeClr val="tx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FFBFD0C-2A9C-85B9-1B25-AE91CEB5A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8822962"/>
              </p:ext>
            </p:extLst>
          </p:nvPr>
        </p:nvGraphicFramePr>
        <p:xfrm>
          <a:off x="457560" y="3217138"/>
          <a:ext cx="7215399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9024">
                  <a:extLst>
                    <a:ext uri="{9D8B030D-6E8A-4147-A177-3AD203B41FA5}">
                      <a16:colId xmlns:a16="http://schemas.microsoft.com/office/drawing/2014/main" val="2358123121"/>
                    </a:ext>
                  </a:extLst>
                </a:gridCol>
                <a:gridCol w="5226375">
                  <a:extLst>
                    <a:ext uri="{9D8B030D-6E8A-4147-A177-3AD203B41FA5}">
                      <a16:colId xmlns:a16="http://schemas.microsoft.com/office/drawing/2014/main" val="4095575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pickle / </a:t>
                      </a:r>
                      <a:r>
                        <a:rPr lang="en-US" sz="11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joblib</a:t>
                      </a: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 </a:t>
                      </a:r>
                      <a:endParaRPr lang="en-DE" sz="11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easy in Python; version-tied; security risk on untrusted files</a:t>
                      </a:r>
                    </a:p>
                    <a:p>
                      <a:endParaRPr lang="en-DE" sz="11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245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ONNX</a:t>
                      </a:r>
                      <a:endParaRPr lang="en-DE" sz="11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open, cross-framework, runtime-optimized inference</a:t>
                      </a:r>
                    </a:p>
                    <a:p>
                      <a:endParaRPr lang="en-DE" sz="11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1569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TorchScript</a:t>
                      </a: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 / </a:t>
                      </a:r>
                      <a:r>
                        <a:rPr lang="en-US" sz="11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SavedModel</a:t>
                      </a: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 </a:t>
                      </a:r>
                      <a:endParaRPr lang="en-DE" sz="11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framework-native, production-grade, no Python needed</a:t>
                      </a:r>
                    </a:p>
                    <a:p>
                      <a:endParaRPr lang="en-DE" sz="11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5858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MLflow</a:t>
                      </a: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 Model </a:t>
                      </a:r>
                      <a:endParaRPr lang="en-DE" sz="11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wraps any of the above with metadata + signature</a:t>
                      </a:r>
                      <a:endParaRPr lang="en-DE" sz="11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12260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6012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Model Signature &amp; Schema</a:t>
            </a:r>
          </a:p>
        </p:txBody>
      </p:sp>
      <p:sp>
        <p:nvSpPr>
          <p:cNvPr id="7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/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400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A model should declare what it accepts and returns.</a:t>
            </a:r>
          </a:p>
          <a:p>
            <a:pPr marL="171450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F2630"/>
                </a:solidFill>
                <a:latin typeface="Georgia"/>
              </a:rPr>
              <a:t>Best practice to include a schema (example YAML)</a:t>
            </a:r>
          </a:p>
          <a:p>
            <a:pPr marL="171450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F2630"/>
                </a:solidFill>
                <a:latin typeface="Georgia"/>
              </a:rPr>
              <a:t>In </a:t>
            </a:r>
            <a:r>
              <a:rPr lang="en-US" sz="1400" dirty="0" err="1">
                <a:solidFill>
                  <a:srgbClr val="1F2630"/>
                </a:solidFill>
                <a:latin typeface="Georgia"/>
              </a:rPr>
              <a:t>MLFLow</a:t>
            </a:r>
            <a:r>
              <a:rPr lang="en-US" sz="1400" dirty="0">
                <a:solidFill>
                  <a:srgbClr val="1F2630"/>
                </a:solidFill>
                <a:latin typeface="Georgia"/>
              </a:rPr>
              <a:t> it is Stored in the </a:t>
            </a:r>
            <a:r>
              <a:rPr lang="en-US" sz="1400" dirty="0" err="1">
                <a:solidFill>
                  <a:srgbClr val="1F2630"/>
                </a:solidFill>
                <a:latin typeface="Georgia"/>
              </a:rPr>
              <a:t>MLmodel</a:t>
            </a:r>
            <a:r>
              <a:rPr lang="en-US" sz="1400" dirty="0">
                <a:solidFill>
                  <a:srgbClr val="1F2630"/>
                </a:solidFill>
                <a:latin typeface="Georgia"/>
              </a:rPr>
              <a:t> manifest, written on every </a:t>
            </a:r>
            <a:r>
              <a:rPr lang="en-US" sz="1400" dirty="0" err="1">
                <a:solidFill>
                  <a:srgbClr val="1F2630"/>
                </a:solidFill>
                <a:latin typeface="Georgia"/>
              </a:rPr>
              <a:t>log_model</a:t>
            </a:r>
            <a:r>
              <a:rPr lang="en-US" sz="1400" dirty="0">
                <a:solidFill>
                  <a:srgbClr val="1F2630"/>
                </a:solidFill>
                <a:latin typeface="Georgia"/>
              </a:rPr>
              <a:t>()</a:t>
            </a:r>
          </a:p>
          <a:p>
            <a:pPr>
              <a:lnSpc>
                <a:spcPct val="150000"/>
              </a:lnSpc>
              <a:buClr>
                <a:srgbClr val="000000"/>
              </a:buClr>
              <a:buSzPct val="45000"/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SzPct val="45000"/>
            </a:pPr>
            <a:endParaRPr lang="en-US" sz="14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SzPct val="45000"/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SzPct val="45000"/>
            </a:pPr>
            <a:endParaRPr lang="en-US" sz="14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SzPct val="45000"/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SzPct val="45000"/>
            </a:pPr>
            <a:endParaRPr lang="en-US" sz="14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SzPct val="45000"/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  <a:p>
            <a:pPr marL="171450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Georgia" panose="02040502050405020303" pitchFamily="18" charset="0"/>
              </a:rPr>
              <a:t>In live production, this is usually stored in object storage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69BEC9-3AF9-A559-9D15-4AE6E6E540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3534" y="2231865"/>
            <a:ext cx="2297922" cy="8870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5BBD64-FCC4-3ED0-F331-8A86FB92C1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560" y="2231865"/>
            <a:ext cx="4507632" cy="22440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BDFD07-F6E8-A15A-8E0C-67555D746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1A28917D-36DB-76BC-5827-6FBAF2127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Model Signature &amp; Schema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151EA7F3-9610-8978-BEA1-ED31EA4C7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1E1C7EF6-4559-66E0-5752-C0C2D5359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2D5413B8-BAD2-2910-7FD4-A90056051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84A9E0E0-DDEF-FCD8-C494-C845C4B98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>
            <a:extLst>
              <a:ext uri="{FF2B5EF4-FFF2-40B4-BE49-F238E27FC236}">
                <a16:creationId xmlns:a16="http://schemas.microsoft.com/office/drawing/2014/main" id="{402DF3FC-F026-5C5C-4068-665FE2411C73}"/>
              </a:ext>
            </a:extLst>
          </p:cNvPr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Georgia" panose="02040502050405020303" pitchFamily="18" charset="0"/>
              </a:rPr>
              <a:t>Inferred automatically or explicitly defined</a:t>
            </a:r>
          </a:p>
          <a:p>
            <a:pPr marL="171450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marL="171450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marL="171450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SzPct val="45000"/>
            </a:pPr>
            <a:endParaRPr lang="en-US" sz="14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marL="171450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Georgia" panose="02040502050405020303" pitchFamily="18" charset="0"/>
              </a:rPr>
              <a:t>When serving or loading the model, every input is validated against the schema before passing to the model.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A6C4B3-40E4-FB6C-2E17-64D9878C06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170" y="1625601"/>
            <a:ext cx="5033518" cy="11485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C29B1A-86E6-ADCF-D41F-A0CD01BBFF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560" y="3543046"/>
            <a:ext cx="5943240" cy="101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233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B2ABA1-71CF-D640-5B30-BE1F796F4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3D1A143F-9801-7CCE-08A8-AFA45AFBE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Model Signature &amp; Schema – the why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982F9D4C-0479-73A0-A8A0-0D7BA229D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82BC92F0-C731-AFB7-33D0-7F1B0EECE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C19B4958-35DE-1DE6-543E-D390AFD39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1FBFD05E-F54D-527B-D26C-CFB12615E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>
            <a:extLst>
              <a:ext uri="{FF2B5EF4-FFF2-40B4-BE49-F238E27FC236}">
                <a16:creationId xmlns:a16="http://schemas.microsoft.com/office/drawing/2014/main" id="{C6A61F4B-285F-48C9-C41D-4882575B8B67}"/>
              </a:ext>
            </a:extLst>
          </p:cNvPr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DE" sz="1200" b="1" dirty="0">
                <a:latin typeface="Georgia" panose="02040502050405020303" pitchFamily="18" charset="0"/>
              </a:rPr>
              <a:t>Governance and compatibility checks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Signature compared against previous version.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Schema schanges are flagged before model reaches production.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DE" sz="1200" dirty="0">
              <a:latin typeface="Georgia" panose="02040502050405020303" pitchFamily="18" charset="0"/>
            </a:endParaRPr>
          </a:p>
          <a:p>
            <a:pPr>
              <a:lnSpc>
                <a:spcPct val="150000"/>
              </a:lnSpc>
            </a:pPr>
            <a:r>
              <a:rPr lang="en-DE" sz="1200" b="1" dirty="0">
                <a:latin typeface="Georgia" panose="02040502050405020303" pitchFamily="18" charset="0"/>
              </a:rPr>
              <a:t>Signatures and metadata beyond M</a:t>
            </a:r>
            <a:r>
              <a:rPr lang="en-GB" sz="1200" b="1" dirty="0">
                <a:latin typeface="Georgia" panose="02040502050405020303" pitchFamily="18" charset="0"/>
              </a:rPr>
              <a:t>l</a:t>
            </a:r>
            <a:r>
              <a:rPr lang="en-DE" sz="1200" b="1" dirty="0">
                <a:latin typeface="Georgia" panose="02040502050405020303" pitchFamily="18" charset="0"/>
              </a:rPr>
              <a:t>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The pattern — declare types at save time, validate at load/serve time, inspect for governance — is not MLflow-specific.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It appears across the ML ecosystem in different forms.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ONNX: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Every .onnx file embeds typed input/output tensor specs directly in the binary.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The ONNX runtime reads them before any inference and rejects mismatched inputs.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Converting from sklearn to ONNX also forces you to declare types explicitly, which catches train/serve skew at export time rather than at runtime.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TensorFlow: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A TensorFlow SavedModel stores named </a:t>
            </a:r>
            <a:r>
              <a:rPr lang="en-DE" sz="1200" i="1" dirty="0">
                <a:latin typeface="Georgia" panose="02040502050405020303" pitchFamily="18" charset="0"/>
              </a:rPr>
              <a:t>serving signatures</a:t>
            </a:r>
            <a:r>
              <a:rPr lang="en-DE" sz="1200" dirty="0">
                <a:latin typeface="Georgia" panose="02040502050405020303" pitchFamily="18" charset="0"/>
              </a:rPr>
              <a:t> inside saved_model.pb.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DE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4014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Serving Patterns</a:t>
            </a:r>
          </a:p>
        </p:txBody>
      </p:sp>
      <p:sp>
        <p:nvSpPr>
          <p:cNvPr id="7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/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Georgia"/>
              </a:rPr>
              <a:t>How the model is used in production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Georgia"/>
              </a:rPr>
              <a:t>Four major serving patterns:</a:t>
            </a:r>
          </a:p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500" dirty="0">
              <a:solidFill>
                <a:srgbClr val="000000"/>
              </a:solidFill>
              <a:latin typeface="Georgia"/>
            </a:endParaRPr>
          </a:p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Georgia"/>
            </a:endParaRPr>
          </a:p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Georgia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4029959-DF9D-772B-4296-9038769AD5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3798089"/>
              </p:ext>
            </p:extLst>
          </p:nvPr>
        </p:nvGraphicFramePr>
        <p:xfrm>
          <a:off x="456840" y="1954530"/>
          <a:ext cx="8229600" cy="2087880"/>
        </p:xfrm>
        <a:graphic>
          <a:graphicData uri="http://schemas.openxmlformats.org/drawingml/2006/table">
            <a:tbl>
              <a:tblPr/>
              <a:tblGrid>
                <a:gridCol w="2231496">
                  <a:extLst>
                    <a:ext uri="{9D8B030D-6E8A-4147-A177-3AD203B41FA5}">
                      <a16:colId xmlns:a16="http://schemas.microsoft.com/office/drawing/2014/main" val="2103192524"/>
                    </a:ext>
                  </a:extLst>
                </a:gridCol>
                <a:gridCol w="5998104">
                  <a:extLst>
                    <a:ext uri="{9D8B030D-6E8A-4147-A177-3AD203B41FA5}">
                      <a16:colId xmlns:a16="http://schemas.microsoft.com/office/drawing/2014/main" val="5973649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</a:rPr>
                        <a:t>Batch</a:t>
                      </a:r>
                      <a:r>
                        <a:rPr lang="en-DE" sz="1400" dirty="0">
                          <a:effectLst/>
                        </a:rPr>
                        <a:t> </a:t>
                      </a:r>
                    </a:p>
                  </a:txBody>
                  <a:tcPr marL="95250" marR="95250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dirty="0">
                          <a:effectLst/>
                        </a:rPr>
                        <a:t>Usually offline.</a:t>
                      </a:r>
                    </a:p>
                    <a:p>
                      <a:pPr>
                        <a:buNone/>
                      </a:pPr>
                      <a:r>
                        <a:rPr lang="en-DE" sz="1400" dirty="0">
                          <a:effectLst/>
                        </a:rPr>
                        <a:t>Data passed in batches at certain times to model.</a:t>
                      </a:r>
                    </a:p>
                    <a:p>
                      <a:pPr>
                        <a:buNone/>
                      </a:pPr>
                      <a:r>
                        <a:rPr lang="en-DE" sz="1400" dirty="0">
                          <a:effectLst/>
                        </a:rPr>
                        <a:t>Output stored in DB</a:t>
                      </a:r>
                    </a:p>
                  </a:txBody>
                  <a:tcPr marL="95250" marR="95250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6329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</a:rPr>
                        <a:t>Online </a:t>
                      </a:r>
                      <a:endParaRPr lang="en-DE" sz="1400" dirty="0">
                        <a:effectLst/>
                      </a:endParaRPr>
                    </a:p>
                  </a:txBody>
                  <a:tcPr marL="95250" marR="95250" marT="47625" marB="47625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dirty="0">
                          <a:effectLst/>
                        </a:rPr>
                        <a:t>Using APIs </a:t>
                      </a:r>
                    </a:p>
                    <a:p>
                      <a:pPr>
                        <a:buNone/>
                      </a:pPr>
                      <a:r>
                        <a:rPr lang="en-DE" sz="1400" dirty="0">
                          <a:effectLst/>
                        </a:rPr>
                        <a:t>On Demand</a:t>
                      </a:r>
                    </a:p>
                  </a:txBody>
                  <a:tcPr marL="95250" marR="95250" marT="47625" marB="47625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3822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</a:rPr>
                        <a:t>Streaming/ real-time</a:t>
                      </a:r>
                      <a:endParaRPr lang="en-DE" sz="1400" dirty="0">
                        <a:effectLst/>
                      </a:endParaRPr>
                    </a:p>
                  </a:txBody>
                  <a:tcPr marL="95250" marR="95250" marT="47625" marB="47625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dirty="0">
                          <a:effectLst/>
                        </a:rPr>
                        <a:t>Continuous event scoring (Kafka, Flink)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400" dirty="0">
                          <a:effectLst/>
                        </a:rPr>
                        <a:t>Mainly for latency-sensitive cases</a:t>
                      </a:r>
                    </a:p>
                  </a:txBody>
                  <a:tcPr marL="95250" marR="95250" marT="47625" marB="47625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229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>
                          <a:effectLst/>
                        </a:rPr>
                        <a:t>Embedded / on-device</a:t>
                      </a:r>
                      <a:endParaRPr lang="en-DE" sz="1400">
                        <a:effectLst/>
                      </a:endParaRPr>
                    </a:p>
                  </a:txBody>
                  <a:tcPr marL="95250" marR="95250" marT="47625" marB="47625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dirty="0">
                          <a:effectLst/>
                        </a:rPr>
                        <a:t>Mobile, IoT</a:t>
                      </a:r>
                    </a:p>
                  </a:txBody>
                  <a:tcPr marL="95250" marR="95250" marT="47625" marB="47625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601143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5A55B6-5592-04F3-3E72-F1F929384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96B50FD3-001B-B23E-F7A5-24CBD130A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Sidebar – Kafka and Flink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65E68E01-A97B-4CD0-832C-9C27F2D3F7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AA7CD704-3E58-162D-3D6A-435084B7E0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7FCB1F2C-4505-918C-F820-B7D6D2D437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7CDCD896-D640-A907-531F-05DEF3F21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>
            <a:extLst>
              <a:ext uri="{FF2B5EF4-FFF2-40B4-BE49-F238E27FC236}">
                <a16:creationId xmlns:a16="http://schemas.microsoft.com/office/drawing/2014/main" id="{3E8CDDE5-778C-FA03-9941-C6E1E72622BC}"/>
              </a:ext>
            </a:extLst>
          </p:cNvPr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Georgia"/>
              </a:rPr>
              <a:t>Kafka is a distributed commit (event) log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Georgia"/>
              </a:rPr>
              <a:t>Every written event is appended to the end of a log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Georgia"/>
              </a:rPr>
              <a:t>Stays there for the retention window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Georgia"/>
              </a:rPr>
              <a:t>Consumers read from a position and remember location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000000"/>
              </a:solidFill>
              <a:latin typeface="Georgia"/>
            </a:endParaRP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Georgia"/>
              </a:rPr>
              <a:t>Stateful stream processor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Georgia"/>
              </a:rPr>
              <a:t>Distributed processing engine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Georgia"/>
              </a:rPr>
              <a:t>Reads events from Kafka (or other sources)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Georgia"/>
              </a:rPr>
              <a:t>Applies transformations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Georgia"/>
              </a:rPr>
              <a:t>Maintains state across events 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000000"/>
              </a:solidFill>
              <a:latin typeface="Georgia"/>
            </a:endParaRP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Georgia"/>
              </a:rPr>
              <a:t>Common use cases of both combined:</a:t>
            </a:r>
          </a:p>
          <a:p>
            <a:pPr marL="742950" lvl="1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Georgia"/>
              </a:rPr>
              <a:t>Real-time data</a:t>
            </a:r>
          </a:p>
          <a:p>
            <a:pPr marL="742950" lvl="1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Georgia"/>
              </a:rPr>
              <a:t>Continuous  ETL pipelines</a:t>
            </a:r>
          </a:p>
          <a:p>
            <a:pPr marL="742950" lvl="1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Georgia"/>
              </a:rPr>
              <a:t>Monitoring and analytics for IoT devices and clickstreams</a:t>
            </a:r>
          </a:p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Georgia"/>
            </a:endParaRPr>
          </a:p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Georgia"/>
            </a:endParaRPr>
          </a:p>
        </p:txBody>
      </p:sp>
      <p:pic>
        <p:nvPicPr>
          <p:cNvPr id="3" name="Picture 2" descr="Thumbnail for version as of 08:47, 16 April 2021">
            <a:extLst>
              <a:ext uri="{FF2B5EF4-FFF2-40B4-BE49-F238E27FC236}">
                <a16:creationId xmlns:a16="http://schemas.microsoft.com/office/drawing/2014/main" id="{C84DAFE8-2112-28BE-B77F-8D4EDB025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800" y="1189440"/>
            <a:ext cx="1524000" cy="76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4A85A9-99B5-79FC-D874-8128CE88D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5957" y="1951440"/>
            <a:ext cx="1520083" cy="7843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BF006DE-A112-4823-4AED-16865CF33578}"/>
              </a:ext>
            </a:extLst>
          </p:cNvPr>
          <p:cNvSpPr txBox="1"/>
          <p:nvPr/>
        </p:nvSpPr>
        <p:spPr>
          <a:xfrm>
            <a:off x="5785818" y="2686800"/>
            <a:ext cx="278922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/>
              <a:t>Kafka:</a:t>
            </a:r>
          </a:p>
          <a:p>
            <a:r>
              <a:rPr lang="en-GB" sz="700" dirty="0">
                <a:hlinkClick r:id="rId4"/>
              </a:rPr>
              <a:t>https://www.youtube.com/watch?v=-RDyEFvnTXI&amp;t=278s</a:t>
            </a:r>
            <a:endParaRPr lang="en-GB" sz="700" dirty="0"/>
          </a:p>
          <a:p>
            <a:endParaRPr lang="en-DE" sz="700" dirty="0"/>
          </a:p>
        </p:txBody>
      </p:sp>
      <p:pic>
        <p:nvPicPr>
          <p:cNvPr id="11" name="Picture 10" descr="Tuesdays should be a holiday">
            <a:extLst>
              <a:ext uri="{FF2B5EF4-FFF2-40B4-BE49-F238E27FC236}">
                <a16:creationId xmlns:a16="http://schemas.microsoft.com/office/drawing/2014/main" id="{3E0CAD5A-7CAA-0405-C3F1-8E8466052B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8800" y="3117840"/>
            <a:ext cx="1524000" cy="1922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342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A192FC-F712-EE08-42D7-BCC02628F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2817CFC8-D24F-18F1-7F72-097F4549D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Serving Patterns – Batch processing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DDD09404-C847-2258-1F58-D6A1D537A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C0A08427-97C5-6814-6B75-97B4F6B76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CB54D8F7-9534-9FF6-1563-8195AB7712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D90F3775-B155-8EE0-FE9C-0C2C4C335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>
            <a:extLst>
              <a:ext uri="{FF2B5EF4-FFF2-40B4-BE49-F238E27FC236}">
                <a16:creationId xmlns:a16="http://schemas.microsoft.com/office/drawing/2014/main" id="{872A9DBF-8EEB-CAA5-7044-66FD04CEA151}"/>
              </a:ext>
            </a:extLst>
          </p:cNvPr>
          <p:cNvSpPr/>
          <p:nvPr/>
        </p:nvSpPr>
        <p:spPr>
          <a:xfrm>
            <a:off x="722916" y="136350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000000"/>
              </a:solidFill>
              <a:latin typeface="Georgia"/>
            </a:endParaRPr>
          </a:p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Georgia"/>
            </a:endParaRPr>
          </a:p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Georgia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C0314C5-2BDB-49A2-E9D1-B24E98D85056}"/>
              </a:ext>
            </a:extLst>
          </p:cNvPr>
          <p:cNvSpPr/>
          <p:nvPr/>
        </p:nvSpPr>
        <p:spPr>
          <a:xfrm>
            <a:off x="1243224" y="1632384"/>
            <a:ext cx="1335024" cy="64008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dirty="0">
                <a:solidFill>
                  <a:schemeClr val="tx1"/>
                </a:solidFill>
                <a:latin typeface="Georgia" panose="02040502050405020303" pitchFamily="18" charset="0"/>
              </a:rPr>
              <a:t>Source DB/ data lake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626020E-CA12-0B34-EF6B-5FE599B5A1C0}"/>
              </a:ext>
            </a:extLst>
          </p:cNvPr>
          <p:cNvSpPr/>
          <p:nvPr/>
        </p:nvSpPr>
        <p:spPr>
          <a:xfrm>
            <a:off x="3675888" y="1632384"/>
            <a:ext cx="1335024" cy="64008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dirty="0">
                <a:solidFill>
                  <a:schemeClr val="tx1"/>
                </a:solidFill>
                <a:latin typeface="Georgia" panose="02040502050405020303" pitchFamily="18" charset="0"/>
              </a:rPr>
              <a:t>Model processing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8A6C88A-2464-3CB5-192F-1674EA4A8EDA}"/>
              </a:ext>
            </a:extLst>
          </p:cNvPr>
          <p:cNvSpPr/>
          <p:nvPr/>
        </p:nvSpPr>
        <p:spPr>
          <a:xfrm>
            <a:off x="6108552" y="1637136"/>
            <a:ext cx="1335024" cy="64008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dirty="0">
                <a:solidFill>
                  <a:schemeClr val="tx1"/>
                </a:solidFill>
                <a:latin typeface="Georgia" panose="02040502050405020303" pitchFamily="18" charset="0"/>
              </a:rPr>
              <a:t>Output table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7CE3179-22DE-C6DF-61BC-D10E606FC1DD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2578248" y="1952424"/>
            <a:ext cx="109764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02961B9-702B-E687-43D6-165892F3FD21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5010912" y="1952424"/>
            <a:ext cx="1097640" cy="475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77DB7AA1-3212-5552-F3D0-FE5584AF1F70}"/>
              </a:ext>
            </a:extLst>
          </p:cNvPr>
          <p:cNvCxnSpPr>
            <a:stCxn id="5" idx="2"/>
            <a:endCxn id="3" idx="2"/>
          </p:cNvCxnSpPr>
          <p:nvPr/>
        </p:nvCxnSpPr>
        <p:spPr>
          <a:xfrm rot="5400000" flipH="1">
            <a:off x="4341024" y="-157824"/>
            <a:ext cx="4752" cy="4865328"/>
          </a:xfrm>
          <a:prstGeom prst="bentConnector3">
            <a:avLst>
              <a:gd name="adj1" fmla="val -2328333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redefined Process 15">
            <a:extLst>
              <a:ext uri="{FF2B5EF4-FFF2-40B4-BE49-F238E27FC236}">
                <a16:creationId xmlns:a16="http://schemas.microsoft.com/office/drawing/2014/main" id="{1110BF2A-9201-DFAE-0985-E2C1122F27ED}"/>
              </a:ext>
            </a:extLst>
          </p:cNvPr>
          <p:cNvSpPr/>
          <p:nvPr/>
        </p:nvSpPr>
        <p:spPr>
          <a:xfrm>
            <a:off x="3675888" y="2532204"/>
            <a:ext cx="1335024" cy="658368"/>
          </a:xfrm>
          <a:prstGeom prst="flowChartPredefinedProcess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100" dirty="0">
                <a:solidFill>
                  <a:schemeClr val="tx1"/>
                </a:solidFill>
              </a:rPr>
              <a:t>Airflow orchestration / cronjob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BE7FA68-897D-A37D-33D3-AD429EFE9BA3}"/>
              </a:ext>
            </a:extLst>
          </p:cNvPr>
          <p:cNvSpPr/>
          <p:nvPr/>
        </p:nvSpPr>
        <p:spPr>
          <a:xfrm>
            <a:off x="2788920" y="1728216"/>
            <a:ext cx="704088" cy="4297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400" dirty="0"/>
              <a:t>Read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F4459EF-EB76-BAEF-2E4D-B0F9F5DA91F7}"/>
              </a:ext>
            </a:extLst>
          </p:cNvPr>
          <p:cNvSpPr/>
          <p:nvPr/>
        </p:nvSpPr>
        <p:spPr>
          <a:xfrm>
            <a:off x="5171022" y="1705536"/>
            <a:ext cx="704088" cy="4297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400" dirty="0"/>
              <a:t>Predict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33C13E-50A2-0DA9-E557-55A6BFA9CF3F}"/>
              </a:ext>
            </a:extLst>
          </p:cNvPr>
          <p:cNvSpPr/>
          <p:nvPr/>
        </p:nvSpPr>
        <p:spPr>
          <a:xfrm>
            <a:off x="3991356" y="3288348"/>
            <a:ext cx="704088" cy="4297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400" dirty="0"/>
              <a:t>Write</a:t>
            </a:r>
          </a:p>
        </p:txBody>
      </p:sp>
      <p:sp>
        <p:nvSpPr>
          <p:cNvPr id="20" name="Up Arrow 19">
            <a:extLst>
              <a:ext uri="{FF2B5EF4-FFF2-40B4-BE49-F238E27FC236}">
                <a16:creationId xmlns:a16="http://schemas.microsoft.com/office/drawing/2014/main" id="{FFA28009-DFF0-8B99-A3B0-DB8DB7DD2DC0}"/>
              </a:ext>
            </a:extLst>
          </p:cNvPr>
          <p:cNvSpPr/>
          <p:nvPr/>
        </p:nvSpPr>
        <p:spPr>
          <a:xfrm>
            <a:off x="4215384" y="2272464"/>
            <a:ext cx="274320" cy="25974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D1D32C-4736-4782-0477-8B5906D7EC44}"/>
              </a:ext>
            </a:extLst>
          </p:cNvPr>
          <p:cNvSpPr txBox="1"/>
          <p:nvPr/>
        </p:nvSpPr>
        <p:spPr>
          <a:xfrm>
            <a:off x="457560" y="3785616"/>
            <a:ext cx="83755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200" b="1" dirty="0">
                <a:latin typeface="Georgia" panose="02040502050405020303" pitchFamily="18" charset="0"/>
              </a:rPr>
              <a:t>Trade-offs: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Simple to build and operate — it's just a Python script with a scheduler.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No latency requirements; you can score millions of rows overnight.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Scores go stale — the prediction was made hours ago and may not reflect the current state of the entity.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Works well when the downstream consumer (e.g. a marketing tool) pulls scores on a fixed schedule.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DE" sz="1200" b="1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343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969D2C-9E6C-47A5-A441-4A3ED4D9A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0554ACCF-4A6E-B085-D267-E617C468E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Serving Patterns – Online/ On-Demand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2237467C-8790-7789-9C93-69F56A5C9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F9193073-F3CA-E584-C28E-7C32507D0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2346B44D-1B63-0A09-07F0-60C202C31A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4271F1AE-67BA-E33A-B0DB-FB8A5DA9A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>
            <a:extLst>
              <a:ext uri="{FF2B5EF4-FFF2-40B4-BE49-F238E27FC236}">
                <a16:creationId xmlns:a16="http://schemas.microsoft.com/office/drawing/2014/main" id="{4B4ED2AC-CE87-EEBE-5890-3B8961E6E093}"/>
              </a:ext>
            </a:extLst>
          </p:cNvPr>
          <p:cNvSpPr/>
          <p:nvPr/>
        </p:nvSpPr>
        <p:spPr>
          <a:xfrm>
            <a:off x="722916" y="136350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000000"/>
              </a:solidFill>
              <a:latin typeface="Georgia"/>
            </a:endParaRPr>
          </a:p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Georgia"/>
            </a:endParaRPr>
          </a:p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Georgia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00B5C93-2437-13BE-13C8-DB77CA1585F7}"/>
              </a:ext>
            </a:extLst>
          </p:cNvPr>
          <p:cNvSpPr/>
          <p:nvPr/>
        </p:nvSpPr>
        <p:spPr>
          <a:xfrm>
            <a:off x="2350368" y="1380398"/>
            <a:ext cx="1335024" cy="64008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dirty="0">
                <a:solidFill>
                  <a:schemeClr val="tx1"/>
                </a:solidFill>
                <a:latin typeface="Georgia" panose="02040502050405020303" pitchFamily="18" charset="0"/>
              </a:rPr>
              <a:t>Client/ App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BDDA1C7-50D1-AA22-2A4C-C27B0AD88D9E}"/>
              </a:ext>
            </a:extLst>
          </p:cNvPr>
          <p:cNvSpPr/>
          <p:nvPr/>
        </p:nvSpPr>
        <p:spPr>
          <a:xfrm>
            <a:off x="4801320" y="1380398"/>
            <a:ext cx="1335024" cy="64008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dirty="0">
                <a:solidFill>
                  <a:schemeClr val="tx1"/>
                </a:solidFill>
                <a:latin typeface="Georgia" panose="02040502050405020303" pitchFamily="18" charset="0"/>
              </a:rPr>
              <a:t>API Server (model loaded into memory)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49A6318-2C78-BF0E-2F5E-74062894EFC8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3685392" y="1700438"/>
            <a:ext cx="109764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926CB42E-FCD4-7A89-A507-F54B2A8E9175}"/>
              </a:ext>
            </a:extLst>
          </p:cNvPr>
          <p:cNvCxnSpPr>
            <a:stCxn id="5" idx="2"/>
            <a:endCxn id="3" idx="2"/>
          </p:cNvCxnSpPr>
          <p:nvPr/>
        </p:nvCxnSpPr>
        <p:spPr>
          <a:xfrm rot="5400000">
            <a:off x="4243356" y="795002"/>
            <a:ext cx="12700" cy="2450952"/>
          </a:xfrm>
          <a:prstGeom prst="bentConnector3">
            <a:avLst>
              <a:gd name="adj1" fmla="val 180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F7D83DF1-579F-253F-09E5-95059E1AC49C}"/>
              </a:ext>
            </a:extLst>
          </p:cNvPr>
          <p:cNvSpPr/>
          <p:nvPr/>
        </p:nvSpPr>
        <p:spPr>
          <a:xfrm>
            <a:off x="3882168" y="1363500"/>
            <a:ext cx="704088" cy="4297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400" dirty="0"/>
              <a:t>POST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6DC355-DD75-9F3E-230D-6C503FF43C53}"/>
              </a:ext>
            </a:extLst>
          </p:cNvPr>
          <p:cNvSpPr/>
          <p:nvPr/>
        </p:nvSpPr>
        <p:spPr>
          <a:xfrm>
            <a:off x="3882168" y="2042842"/>
            <a:ext cx="704088" cy="4297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050" dirty="0"/>
              <a:t>Response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E89E12-F22C-04B2-679E-C9EDCC92A277}"/>
              </a:ext>
            </a:extLst>
          </p:cNvPr>
          <p:cNvSpPr txBox="1"/>
          <p:nvPr/>
        </p:nvSpPr>
        <p:spPr>
          <a:xfrm>
            <a:off x="457560" y="2571750"/>
            <a:ext cx="809208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The model is wrapped in an HTTP server that another service can call synchronously.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The caller sends features in the request body and gets a prediction back in the response, typically within tens of milliseconds.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The model is loaded </a:t>
            </a:r>
            <a:r>
              <a:rPr lang="en-DE" sz="1200" b="1" dirty="0">
                <a:latin typeface="Georgia" panose="02040502050405020303" pitchFamily="18" charset="0"/>
              </a:rPr>
              <a:t>once at startup</a:t>
            </a:r>
            <a:r>
              <a:rPr lang="en-DE" sz="1200" dirty="0">
                <a:latin typeface="Georgia" panose="02040502050405020303" pitchFamily="18" charset="0"/>
              </a:rPr>
              <a:t> and kept in memory. Every request hits the already-loaded model — no disk I/O per request.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sz="1200" dirty="0">
              <a:latin typeface="Georgia" panose="02040502050405020303" pitchFamily="18" charset="0"/>
            </a:endParaRPr>
          </a:p>
          <a:p>
            <a:r>
              <a:rPr lang="en-DE" sz="1200" b="1" dirty="0">
                <a:latin typeface="Georgia" panose="02040502050405020303" pitchFamily="18" charset="0"/>
              </a:rPr>
              <a:t>Trade-offs:</a:t>
            </a:r>
          </a:p>
          <a:p>
            <a:endParaRPr lang="en-DE" sz="1200" b="1" dirty="0">
              <a:latin typeface="Georgia" panose="02040502050405020303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The application blocks waiting for the response — low latency matters.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You pay for an always-on server even during idle periods.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Model updates require a rolling pod restart (or a blue/green deploy).</a:t>
            </a:r>
          </a:p>
          <a:p>
            <a:endParaRPr lang="en-DE" b="1" dirty="0"/>
          </a:p>
        </p:txBody>
      </p:sp>
    </p:spTree>
    <p:extLst>
      <p:ext uri="{BB962C8B-B14F-4D97-AF65-F5344CB8AC3E}">
        <p14:creationId xmlns:p14="http://schemas.microsoft.com/office/powerpoint/2010/main" val="739533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65DCA3-417C-3398-A33F-D57E21634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32FB2126-8D4E-DEC3-D59F-F4F4836A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Serving Patterns – Streaming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2256D7F6-BE05-EBAB-62F9-239D32CB2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B4F2B073-3E9B-318D-2300-7824C747E7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369B76DF-3F88-434D-6377-7DA8273EE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C01C726B-E9D3-3B5B-5B9F-F9379BC94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>
            <a:extLst>
              <a:ext uri="{FF2B5EF4-FFF2-40B4-BE49-F238E27FC236}">
                <a16:creationId xmlns:a16="http://schemas.microsoft.com/office/drawing/2014/main" id="{16A839FC-3E0F-E6BE-743A-FA6F2BD257C5}"/>
              </a:ext>
            </a:extLst>
          </p:cNvPr>
          <p:cNvSpPr/>
          <p:nvPr/>
        </p:nvSpPr>
        <p:spPr>
          <a:xfrm>
            <a:off x="722916" y="136350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000000"/>
              </a:solidFill>
              <a:latin typeface="Georgia"/>
            </a:endParaRPr>
          </a:p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Georgia"/>
            </a:endParaRPr>
          </a:p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Georgia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875408B-9E88-5993-DF1C-43BED451B1F7}"/>
              </a:ext>
            </a:extLst>
          </p:cNvPr>
          <p:cNvSpPr/>
          <p:nvPr/>
        </p:nvSpPr>
        <p:spPr>
          <a:xfrm>
            <a:off x="846900" y="1412640"/>
            <a:ext cx="1335024" cy="64008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dirty="0">
                <a:solidFill>
                  <a:schemeClr val="tx1"/>
                </a:solidFill>
                <a:latin typeface="Georgia" panose="02040502050405020303" pitchFamily="18" charset="0"/>
              </a:rPr>
              <a:t>Event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A71C045-6A13-2948-254E-DDC8B448AB3D}"/>
              </a:ext>
            </a:extLst>
          </p:cNvPr>
          <p:cNvSpPr/>
          <p:nvPr/>
        </p:nvSpPr>
        <p:spPr>
          <a:xfrm>
            <a:off x="5683356" y="1431784"/>
            <a:ext cx="1335024" cy="64008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dirty="0">
                <a:solidFill>
                  <a:schemeClr val="tx1"/>
                </a:solidFill>
                <a:latin typeface="Georgia" panose="02040502050405020303" pitchFamily="18" charset="0"/>
              </a:rPr>
              <a:t>Downstream consumption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3F9732C-BCE9-991D-D9D4-E7B17CEF244A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2181924" y="1732680"/>
            <a:ext cx="10737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0A62C4ED-C599-23C8-C8F4-045CF91D7A2D}"/>
              </a:ext>
            </a:extLst>
          </p:cNvPr>
          <p:cNvSpPr/>
          <p:nvPr/>
        </p:nvSpPr>
        <p:spPr>
          <a:xfrm>
            <a:off x="2295684" y="1501928"/>
            <a:ext cx="704088" cy="4297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400" dirty="0"/>
              <a:t>ESP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D95FFC-1266-C342-D9CF-5017711437BC}"/>
              </a:ext>
            </a:extLst>
          </p:cNvPr>
          <p:cNvSpPr txBox="1"/>
          <p:nvPr/>
        </p:nvSpPr>
        <p:spPr>
          <a:xfrm>
            <a:off x="457560" y="2571750"/>
            <a:ext cx="809208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Events arrive on a message queue (Kafka, Kinesis, Pub/Sub) and are scored as they flow through.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The model is embedded inside a stream-processing job that consumes the topic, runs inference, and publishes results to an output topic.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sz="1200" dirty="0">
              <a:latin typeface="Georgia" panose="02040502050405020303" pitchFamily="18" charset="0"/>
            </a:endParaRPr>
          </a:p>
          <a:p>
            <a:r>
              <a:rPr lang="en-DE" sz="1200" b="1" dirty="0">
                <a:latin typeface="Georgia" panose="02040502050405020303" pitchFamily="18" charset="0"/>
              </a:rPr>
              <a:t>Trade-offs: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Scores are available within milliseconds of the event arriving — no polling, no stale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Model updates require redeploying the Flink/Spark job and restarting the pipeline.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Operationally heavier: you need a running Kafka cluster and a stream processor.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Best for use cases where something else reacts to the score immediately (e.g. fraud block, real-time personalisation feed).</a:t>
            </a:r>
          </a:p>
          <a:p>
            <a:endParaRPr lang="en-DE" sz="1200" b="1" dirty="0">
              <a:latin typeface="Georgia" panose="02040502050405020303" pitchFamily="18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6F47562-71E7-DC16-A5A7-FB3AC71D1D28}"/>
              </a:ext>
            </a:extLst>
          </p:cNvPr>
          <p:cNvSpPr/>
          <p:nvPr/>
        </p:nvSpPr>
        <p:spPr>
          <a:xfrm>
            <a:off x="3265128" y="1435004"/>
            <a:ext cx="1335024" cy="64008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000" dirty="0">
                <a:solidFill>
                  <a:schemeClr val="tx1"/>
                </a:solidFill>
                <a:latin typeface="Georgia" panose="02040502050405020303" pitchFamily="18" charset="0"/>
              </a:rPr>
              <a:t>Streaming Framework (model loaded to memory)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21DF7C5-DADA-8A04-19BF-BB6B2CDF5A7C}"/>
              </a:ext>
            </a:extLst>
          </p:cNvPr>
          <p:cNvCxnSpPr>
            <a:cxnSpLocks/>
            <a:stCxn id="9" idx="3"/>
            <a:endCxn id="5" idx="1"/>
          </p:cNvCxnSpPr>
          <p:nvPr/>
        </p:nvCxnSpPr>
        <p:spPr>
          <a:xfrm flipV="1">
            <a:off x="4600152" y="1751824"/>
            <a:ext cx="1083204" cy="32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3D359B06-DF07-29EB-F052-B1FCF7048AB5}"/>
              </a:ext>
            </a:extLst>
          </p:cNvPr>
          <p:cNvSpPr/>
          <p:nvPr/>
        </p:nvSpPr>
        <p:spPr>
          <a:xfrm>
            <a:off x="4741344" y="1523685"/>
            <a:ext cx="704088" cy="4297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400" dirty="0"/>
              <a:t>ESP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D7FD85-A52C-59A7-46F0-F6E64F3DB718}"/>
              </a:ext>
            </a:extLst>
          </p:cNvPr>
          <p:cNvSpPr txBox="1"/>
          <p:nvPr/>
        </p:nvSpPr>
        <p:spPr>
          <a:xfrm>
            <a:off x="7647876" y="1432598"/>
            <a:ext cx="1298448" cy="6001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DE" sz="1100" dirty="0">
                <a:latin typeface="Georgia" panose="02040502050405020303" pitchFamily="18" charset="0"/>
              </a:rPr>
              <a:t>* ESP – Event Streaming Platform</a:t>
            </a:r>
          </a:p>
        </p:txBody>
      </p:sp>
    </p:spTree>
    <p:extLst>
      <p:ext uri="{BB962C8B-B14F-4D97-AF65-F5344CB8AC3E}">
        <p14:creationId xmlns:p14="http://schemas.microsoft.com/office/powerpoint/2010/main" val="3277276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CCFC31-FBEB-DE95-3144-0BFC7C6FB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EB1ADA4E-B6FB-E2F5-E709-C472399B7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Serving Patterns – Choosing a pattern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ED176D5B-71F0-6A59-E298-5BA4C8AE6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D74A2D4E-E5D4-0860-51F7-73C525AADE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CF982024-B429-48EF-BCE0-578892A93B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6A2E928F-EE7A-7269-80AC-7A278F9742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>
            <a:extLst>
              <a:ext uri="{FF2B5EF4-FFF2-40B4-BE49-F238E27FC236}">
                <a16:creationId xmlns:a16="http://schemas.microsoft.com/office/drawing/2014/main" id="{3FE55908-7417-D9F2-E936-7CDDECDC1460}"/>
              </a:ext>
            </a:extLst>
          </p:cNvPr>
          <p:cNvSpPr/>
          <p:nvPr/>
        </p:nvSpPr>
        <p:spPr>
          <a:xfrm>
            <a:off x="722916" y="136350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000000"/>
              </a:solidFill>
              <a:latin typeface="Georgia"/>
            </a:endParaRPr>
          </a:p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Georgia"/>
            </a:endParaRPr>
          </a:p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Georgia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8290D5D-E8A6-C954-1F68-E0D914235791}"/>
              </a:ext>
            </a:extLst>
          </p:cNvPr>
          <p:cNvSpPr/>
          <p:nvPr/>
        </p:nvSpPr>
        <p:spPr>
          <a:xfrm>
            <a:off x="3548232" y="1271700"/>
            <a:ext cx="1709568" cy="64008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dirty="0">
                <a:solidFill>
                  <a:schemeClr val="tx1"/>
                </a:solidFill>
                <a:latin typeface="Georgia" panose="02040502050405020303" pitchFamily="18" charset="0"/>
              </a:rPr>
              <a:t>Does the consumer need the score quicky?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DFC1F11-2A4D-CCE8-B358-81A3E9AE2B95}"/>
              </a:ext>
            </a:extLst>
          </p:cNvPr>
          <p:cNvSpPr/>
          <p:nvPr/>
        </p:nvSpPr>
        <p:spPr>
          <a:xfrm>
            <a:off x="1682856" y="1895670"/>
            <a:ext cx="1335024" cy="64008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dirty="0">
                <a:solidFill>
                  <a:schemeClr val="tx1"/>
                </a:solidFill>
                <a:latin typeface="Georgia" panose="02040502050405020303" pitchFamily="18" charset="0"/>
              </a:rPr>
              <a:t>Is the consumer on-device/ offline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C0F6D1F-5EF0-D6E7-138B-03CBCD54C365}"/>
              </a:ext>
            </a:extLst>
          </p:cNvPr>
          <p:cNvSpPr/>
          <p:nvPr/>
        </p:nvSpPr>
        <p:spPr>
          <a:xfrm>
            <a:off x="374904" y="2933460"/>
            <a:ext cx="1335024" cy="64008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dirty="0">
                <a:solidFill>
                  <a:schemeClr val="tx1"/>
                </a:solidFill>
                <a:latin typeface="Georgia" panose="02040502050405020303" pitchFamily="18" charset="0"/>
              </a:rPr>
              <a:t>Embedded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C0570A1-6D52-EB49-8F65-CF414D13340D}"/>
              </a:ext>
            </a:extLst>
          </p:cNvPr>
          <p:cNvSpPr/>
          <p:nvPr/>
        </p:nvSpPr>
        <p:spPr>
          <a:xfrm>
            <a:off x="3728052" y="2975490"/>
            <a:ext cx="1335024" cy="64008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dirty="0">
                <a:solidFill>
                  <a:schemeClr val="tx1"/>
                </a:solidFill>
                <a:latin typeface="Georgia" panose="02040502050405020303" pitchFamily="18" charset="0"/>
              </a:rPr>
              <a:t>Message Queue in place?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2C6C1F6-75A3-9897-CDAD-EE9FC772F9B6}"/>
              </a:ext>
            </a:extLst>
          </p:cNvPr>
          <p:cNvSpPr/>
          <p:nvPr/>
        </p:nvSpPr>
        <p:spPr>
          <a:xfrm>
            <a:off x="5726126" y="1931670"/>
            <a:ext cx="1709568" cy="64008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dirty="0">
                <a:solidFill>
                  <a:schemeClr val="tx1"/>
                </a:solidFill>
                <a:latin typeface="Georgia" panose="02040502050405020303" pitchFamily="18" charset="0"/>
              </a:rPr>
              <a:t>Score needed within seconds of event?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CF97EE8-9138-B19A-8E46-25779A0557A1}"/>
              </a:ext>
            </a:extLst>
          </p:cNvPr>
          <p:cNvSpPr/>
          <p:nvPr/>
        </p:nvSpPr>
        <p:spPr>
          <a:xfrm>
            <a:off x="7650840" y="2888730"/>
            <a:ext cx="1335024" cy="64008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dirty="0">
                <a:solidFill>
                  <a:schemeClr val="tx1"/>
                </a:solidFill>
                <a:latin typeface="Georgia" panose="02040502050405020303" pitchFamily="18" charset="0"/>
              </a:rPr>
              <a:t>Batch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112E7DF-AE0E-E871-B93A-BFDEE206E3B0}"/>
              </a:ext>
            </a:extLst>
          </p:cNvPr>
          <p:cNvSpPr/>
          <p:nvPr/>
        </p:nvSpPr>
        <p:spPr>
          <a:xfrm>
            <a:off x="2209428" y="4247280"/>
            <a:ext cx="1335024" cy="64008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dirty="0">
                <a:solidFill>
                  <a:schemeClr val="tx1"/>
                </a:solidFill>
                <a:latin typeface="Georgia" panose="02040502050405020303" pitchFamily="18" charset="0"/>
              </a:rPr>
              <a:t>Streaming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A30E1E1-4954-691B-D346-50AA9D6866B9}"/>
              </a:ext>
            </a:extLst>
          </p:cNvPr>
          <p:cNvSpPr/>
          <p:nvPr/>
        </p:nvSpPr>
        <p:spPr>
          <a:xfrm>
            <a:off x="5257800" y="4247280"/>
            <a:ext cx="1335024" cy="64008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dirty="0">
                <a:solidFill>
                  <a:schemeClr val="tx1"/>
                </a:solidFill>
                <a:latin typeface="Georgia" panose="02040502050405020303" pitchFamily="18" charset="0"/>
              </a:rPr>
              <a:t>Online API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1689EEC-52EB-F8BD-79B9-6196AC0E66FE}"/>
              </a:ext>
            </a:extLst>
          </p:cNvPr>
          <p:cNvCxnSpPr>
            <a:stCxn id="3" idx="1"/>
            <a:endCxn id="5" idx="0"/>
          </p:cNvCxnSpPr>
          <p:nvPr/>
        </p:nvCxnSpPr>
        <p:spPr>
          <a:xfrm flipH="1">
            <a:off x="2350368" y="1591740"/>
            <a:ext cx="1197864" cy="30393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9B48AED-E20E-5063-A5E3-0DAA873427EB}"/>
              </a:ext>
            </a:extLst>
          </p:cNvPr>
          <p:cNvCxnSpPr>
            <a:stCxn id="5" idx="2"/>
            <a:endCxn id="2" idx="0"/>
          </p:cNvCxnSpPr>
          <p:nvPr/>
        </p:nvCxnSpPr>
        <p:spPr>
          <a:xfrm flipH="1">
            <a:off x="1042416" y="2535750"/>
            <a:ext cx="1307952" cy="3977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2502B9D-DF79-62C5-55DD-DC523511454E}"/>
              </a:ext>
            </a:extLst>
          </p:cNvPr>
          <p:cNvCxnSpPr>
            <a:stCxn id="5" idx="2"/>
            <a:endCxn id="4" idx="1"/>
          </p:cNvCxnSpPr>
          <p:nvPr/>
        </p:nvCxnSpPr>
        <p:spPr>
          <a:xfrm>
            <a:off x="2350368" y="2535750"/>
            <a:ext cx="1377684" cy="7597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1EB21F1-C1A1-7070-483A-5A10128685ED}"/>
              </a:ext>
            </a:extLst>
          </p:cNvPr>
          <p:cNvCxnSpPr>
            <a:stCxn id="4" idx="2"/>
            <a:endCxn id="10" idx="0"/>
          </p:cNvCxnSpPr>
          <p:nvPr/>
        </p:nvCxnSpPr>
        <p:spPr>
          <a:xfrm flipH="1">
            <a:off x="2876940" y="3615570"/>
            <a:ext cx="1518624" cy="6317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1CADEDA-F3C8-C1B9-5920-893107FFE742}"/>
              </a:ext>
            </a:extLst>
          </p:cNvPr>
          <p:cNvCxnSpPr>
            <a:stCxn id="3" idx="3"/>
            <a:endCxn id="6" idx="0"/>
          </p:cNvCxnSpPr>
          <p:nvPr/>
        </p:nvCxnSpPr>
        <p:spPr>
          <a:xfrm>
            <a:off x="5257800" y="1591740"/>
            <a:ext cx="1323110" cy="33993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D30445E-168B-0828-6E32-2CA375D008A5}"/>
              </a:ext>
            </a:extLst>
          </p:cNvPr>
          <p:cNvCxnSpPr>
            <a:stCxn id="6" idx="2"/>
            <a:endCxn id="9" idx="0"/>
          </p:cNvCxnSpPr>
          <p:nvPr/>
        </p:nvCxnSpPr>
        <p:spPr>
          <a:xfrm>
            <a:off x="6580910" y="2571750"/>
            <a:ext cx="1737442" cy="3169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2BFF8F2-AEDC-4E85-D720-0EACF172F388}"/>
              </a:ext>
            </a:extLst>
          </p:cNvPr>
          <p:cNvCxnSpPr>
            <a:stCxn id="6" idx="2"/>
            <a:endCxn id="4" idx="3"/>
          </p:cNvCxnSpPr>
          <p:nvPr/>
        </p:nvCxnSpPr>
        <p:spPr>
          <a:xfrm flipH="1">
            <a:off x="5063076" y="2571750"/>
            <a:ext cx="1517834" cy="7237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6D7EE58-6991-F4DB-BCDE-137AC1115900}"/>
              </a:ext>
            </a:extLst>
          </p:cNvPr>
          <p:cNvCxnSpPr>
            <a:stCxn id="4" idx="2"/>
            <a:endCxn id="11" idx="0"/>
          </p:cNvCxnSpPr>
          <p:nvPr/>
        </p:nvCxnSpPr>
        <p:spPr>
          <a:xfrm>
            <a:off x="4395564" y="3615570"/>
            <a:ext cx="1529748" cy="6317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9E499DC7-087E-E2CB-5D8D-B9C7FAA507FF}"/>
              </a:ext>
            </a:extLst>
          </p:cNvPr>
          <p:cNvSpPr/>
          <p:nvPr/>
        </p:nvSpPr>
        <p:spPr>
          <a:xfrm>
            <a:off x="2658672" y="1556262"/>
            <a:ext cx="581256" cy="1889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400" dirty="0"/>
              <a:t>Yes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E48C81E-C57A-8571-75CF-7AF618BE0727}"/>
              </a:ext>
            </a:extLst>
          </p:cNvPr>
          <p:cNvSpPr/>
          <p:nvPr/>
        </p:nvSpPr>
        <p:spPr>
          <a:xfrm>
            <a:off x="1300823" y="2618104"/>
            <a:ext cx="581256" cy="1889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400" dirty="0"/>
              <a:t>Yes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6DFC050-CCE3-ADBE-0495-2E087B3C1BC6}"/>
              </a:ext>
            </a:extLst>
          </p:cNvPr>
          <p:cNvSpPr/>
          <p:nvPr/>
        </p:nvSpPr>
        <p:spPr>
          <a:xfrm>
            <a:off x="3210911" y="3841114"/>
            <a:ext cx="581256" cy="1889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400" dirty="0"/>
              <a:t>Yes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A2C613D-8DBB-7021-710C-1B3572DD6FF2}"/>
              </a:ext>
            </a:extLst>
          </p:cNvPr>
          <p:cNvSpPr/>
          <p:nvPr/>
        </p:nvSpPr>
        <p:spPr>
          <a:xfrm>
            <a:off x="5551750" y="2839144"/>
            <a:ext cx="581256" cy="1889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400" dirty="0"/>
              <a:t>Yes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40A0F89-AB59-3C21-436A-DCF8E054C019}"/>
              </a:ext>
            </a:extLst>
          </p:cNvPr>
          <p:cNvSpPr/>
          <p:nvPr/>
        </p:nvSpPr>
        <p:spPr>
          <a:xfrm>
            <a:off x="2768149" y="2807096"/>
            <a:ext cx="581256" cy="1889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400" dirty="0"/>
              <a:t>No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A606315-A406-D5E4-E036-5CF7EF60651F}"/>
              </a:ext>
            </a:extLst>
          </p:cNvPr>
          <p:cNvSpPr/>
          <p:nvPr/>
        </p:nvSpPr>
        <p:spPr>
          <a:xfrm>
            <a:off x="7069584" y="2635744"/>
            <a:ext cx="581256" cy="1889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400" dirty="0"/>
              <a:t>No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16F2311-CA11-89BC-2389-2C6C172EFA63}"/>
              </a:ext>
            </a:extLst>
          </p:cNvPr>
          <p:cNvSpPr/>
          <p:nvPr/>
        </p:nvSpPr>
        <p:spPr>
          <a:xfrm>
            <a:off x="4869810" y="3830318"/>
            <a:ext cx="581256" cy="1889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400" dirty="0"/>
              <a:t>No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B6538D0-128F-13AC-5E00-7690269DB921}"/>
              </a:ext>
            </a:extLst>
          </p:cNvPr>
          <p:cNvSpPr/>
          <p:nvPr/>
        </p:nvSpPr>
        <p:spPr>
          <a:xfrm>
            <a:off x="5560147" y="1569780"/>
            <a:ext cx="581256" cy="1889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4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1601033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Serving with FastAPI</a:t>
            </a:r>
          </a:p>
        </p:txBody>
      </p:sp>
      <p:sp>
        <p:nvSpPr>
          <p:cNvPr id="7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/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Georgi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30B173-9000-5F64-108E-DC5798F60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926" y="835397"/>
            <a:ext cx="8491427" cy="3939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E" altLang="en-DE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Purpose: 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DE" altLang="en-DE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A modern Python web framework that wraps trained models behind HTTP APIs to allow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DE" altLang="en-DE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external systems to make prediction requests over a network.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DE" altLang="en-DE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Georgia" panose="0204050205040502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MLOps Role: 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DE" altLang="en-DE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Serves as the "last mile," acting as the bridge between model files and production applications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DE" altLang="en-DE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requiring real-time answers.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DE" altLang="en-DE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Georgia" panose="0204050205040502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Functionality: 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DE" altLang="en-DE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Accepts JSON requests containing input features and returns the corresponding model predictions.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DE" altLang="en-DE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Georgia" panose="0204050205040502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Key Benefits: 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DE" altLang="en-DE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Popular for its speed, automatic generation of API documentation, and use of Pydantic to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DE" altLang="en-DE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validate inputs before they reach the model.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E" altLang="en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E" altLang="en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9E5986-2698-4CF8-DDDB-AD67093A3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1847066D-9B72-B161-314B-788223779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Exercise 1 – Building a FAST API Service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8E5AC554-6E54-B9E7-33DA-A7B3C0272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4BBE17A2-4BC6-4856-96DD-998B41105B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4DFCC9CE-A205-A0C2-367F-41376C6D1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4F44E012-7976-B28B-D06C-A14CA941E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>
            <a:extLst>
              <a:ext uri="{FF2B5EF4-FFF2-40B4-BE49-F238E27FC236}">
                <a16:creationId xmlns:a16="http://schemas.microsoft.com/office/drawing/2014/main" id="{F4A6171A-B37E-FEC5-C57C-D15292D5CDA7}"/>
              </a:ext>
            </a:extLst>
          </p:cNvPr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Georgi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94B43C-39E6-0766-7994-D0AAF8A6F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560" y="1412640"/>
            <a:ext cx="31726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DE" altLang="en-DE" dirty="0">
                <a:latin typeface="Arial" panose="020B0604020202020204" pitchFamily="34" charset="0"/>
              </a:rPr>
              <a:t>Please go to </a:t>
            </a:r>
            <a:r>
              <a:rPr lang="en-GB" altLang="en-DE" dirty="0">
                <a:latin typeface="Arial" panose="020B0604020202020204" pitchFamily="34" charset="0"/>
              </a:rPr>
              <a:t>day2/Session_1</a:t>
            </a:r>
            <a:endParaRPr kumimoji="0" lang="en-DE" altLang="en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B66A26-9922-F58D-07B5-7D3C7B461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5966" y="1931300"/>
            <a:ext cx="2822954" cy="286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1241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Containers &amp; Docker</a:t>
            </a:r>
          </a:p>
        </p:txBody>
      </p:sp>
      <p:sp>
        <p:nvSpPr>
          <p:cNvPr id="7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/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b="1" u="none" strike="noStrike" dirty="0">
                <a:solidFill>
                  <a:srgbClr val="1F2630"/>
                </a:solidFill>
                <a:effectLst/>
                <a:uFillTx/>
                <a:latin typeface="Georgia" panose="02040502050405020303" pitchFamily="18" charset="0"/>
              </a:rPr>
              <a:t>One reproducible image runs identically on laptop, CI, and Kubernetes.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200" dirty="0">
              <a:latin typeface="Georgia" panose="02040502050405020303" pitchFamily="18" charset="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b="1" u="none" strike="noStrike" dirty="0" err="1">
                <a:solidFill>
                  <a:srgbClr val="1F2630"/>
                </a:solidFill>
                <a:effectLst/>
                <a:uFillTx/>
                <a:latin typeface="Georgia" panose="02040502050405020303" pitchFamily="18" charset="0"/>
              </a:rPr>
              <a:t>Dockerfile</a:t>
            </a:r>
            <a:r>
              <a:rPr lang="en-US" sz="1200" b="1" u="none" strike="noStrike" dirty="0">
                <a:solidFill>
                  <a:srgbClr val="1F2630"/>
                </a:solidFill>
                <a:effectLst/>
                <a:uFillTx/>
                <a:latin typeface="Georgia" panose="02040502050405020303" pitchFamily="18" charset="0"/>
              </a:rPr>
              <a:t> essentials</a:t>
            </a: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630"/>
                </a:solidFill>
                <a:latin typeface="Georgia" panose="02040502050405020303" pitchFamily="18" charset="0"/>
              </a:rPr>
              <a:t>Essentially a recipe: Start from a base image, add layers, declare how the container starts.</a:t>
            </a: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u="none" strike="noStrike" dirty="0">
                <a:solidFill>
                  <a:srgbClr val="1F2630"/>
                </a:solidFill>
                <a:effectLst/>
                <a:uFillTx/>
                <a:latin typeface="Georgia" panose="02040502050405020303" pitchFamily="18" charset="0"/>
              </a:rPr>
              <a:t>Start building from repo root</a:t>
            </a:r>
            <a:endParaRPr lang="en-US" sz="1200" dirty="0">
              <a:solidFill>
                <a:srgbClr val="1F2630"/>
              </a:solidFill>
              <a:latin typeface="Georgia" panose="02040502050405020303" pitchFamily="18" charset="0"/>
            </a:endParaRP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Copy requirements first → pip-install layer caches separately from code</a:t>
            </a: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Georgia" panose="02040502050405020303" pitchFamily="18" charset="0"/>
              </a:rPr>
              <a:t>Copy only the artifacts the service actually needs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Georgia" panose="02040502050405020303" pitchFamily="18" charset="0"/>
              </a:rPr>
              <a:t>Context essentials: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Build context:</a:t>
            </a:r>
          </a:p>
          <a:p>
            <a:pPr marL="972000" lvl="1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200" dirty="0">
                <a:solidFill>
                  <a:srgbClr val="000000"/>
                </a:solidFill>
                <a:latin typeface="Georgia" panose="02040502050405020303" pitchFamily="18" charset="0"/>
              </a:rPr>
              <a:t>Docker client (terminal) sends 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directory information to the Docker daemon (background service)</a:t>
            </a:r>
          </a:p>
          <a:p>
            <a:pPr marL="5845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Sending .</a:t>
            </a:r>
            <a:r>
              <a:rPr lang="en-US" sz="1200" b="0" u="none" strike="noStrike" dirty="0" err="1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venv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/ </a:t>
            </a:r>
            <a:r>
              <a:rPr lang="en-US" sz="1200" dirty="0">
                <a:solidFill>
                  <a:srgbClr val="000000"/>
                </a:solidFill>
                <a:latin typeface="Georgia" panose="02040502050405020303" pitchFamily="18" charset="0"/>
              </a:rPr>
              <a:t>directory to daemon is wasteful 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.</a:t>
            </a:r>
            <a:r>
              <a:rPr lang="en-US" sz="1200" b="0" u="none" strike="noStrike" dirty="0" err="1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dockerignore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 keeps it small (works like .</a:t>
            </a:r>
            <a:r>
              <a:rPr lang="en-US" sz="1200" b="0" u="none" strike="noStrike" dirty="0" err="1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gitignore</a:t>
            </a:r>
            <a:r>
              <a:rPr lang="en-US" sz="1200" dirty="0">
                <a:solidFill>
                  <a:srgbClr val="000000"/>
                </a:solidFill>
                <a:latin typeface="Georgia" panose="02040502050405020303" pitchFamily="18" charset="0"/>
              </a:rPr>
              <a:t>)</a:t>
            </a:r>
          </a:p>
          <a:p>
            <a:pPr marL="5845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Hardcoding configuration is not best practice. Pass values at runtime using and .env file.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Consider using multi-stage builds, which shrinks the image.</a:t>
            </a:r>
            <a:endParaRPr lang="en-US" sz="1200" b="1" dirty="0">
              <a:solidFill>
                <a:srgbClr val="1F2630"/>
              </a:solidFill>
              <a:latin typeface="Georgia" panose="02040502050405020303" pitchFamily="18" charset="0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200" u="none" strike="noStrike" dirty="0">
                <a:solidFill>
                  <a:srgbClr val="1F2630"/>
                </a:solidFill>
                <a:effectLst/>
                <a:uFillTx/>
                <a:latin typeface="Georgia" panose="02040502050405020303" pitchFamily="18" charset="0"/>
              </a:rPr>
              <a:t>Use ‘docker-</a:t>
            </a:r>
            <a:r>
              <a:rPr lang="en-US" sz="1200" u="none" strike="noStrike" dirty="0" err="1">
                <a:solidFill>
                  <a:srgbClr val="1F2630"/>
                </a:solidFill>
                <a:effectLst/>
                <a:uFillTx/>
                <a:latin typeface="Georgia" panose="02040502050405020303" pitchFamily="18" charset="0"/>
              </a:rPr>
              <a:t>compose.yml</a:t>
            </a:r>
            <a:r>
              <a:rPr lang="en-US" sz="1200" u="none" strike="noStrike" dirty="0">
                <a:solidFill>
                  <a:srgbClr val="1F2630"/>
                </a:solidFill>
                <a:effectLst/>
                <a:uFillTx/>
                <a:latin typeface="Georgia" panose="02040502050405020303" pitchFamily="18" charset="0"/>
              </a:rPr>
              <a:t>’ for local development. It encodes the ‘docker b</a:t>
            </a:r>
            <a:r>
              <a:rPr lang="en-US" sz="1200" dirty="0">
                <a:solidFill>
                  <a:srgbClr val="1F2630"/>
                </a:solidFill>
                <a:latin typeface="Georgia" panose="02040502050405020303" pitchFamily="18" charset="0"/>
              </a:rPr>
              <a:t>uild’ and ‘docker run’ arguments so the whole setup is one command ‘docker compose up –build’.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C32DB4-29C4-8CD9-A14B-ACAB6895C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F913D765-153B-BDE6-5D8D-0FA0E9257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Containers &amp; Docker: Commands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B67DDF25-19DD-F39B-A692-A157BDDF7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DF671DCA-CE23-327B-39AE-334B40215A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C763B3BC-B725-5A69-27FA-91CCA84EFD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6658533C-639F-AD06-E670-7FB874DC6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43B92D1-7414-A1BB-5CF1-F927AF5580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503703"/>
              </p:ext>
            </p:extLst>
          </p:nvPr>
        </p:nvGraphicFramePr>
        <p:xfrm>
          <a:off x="536448" y="1394352"/>
          <a:ext cx="7921392" cy="28737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8504">
                  <a:extLst>
                    <a:ext uri="{9D8B030D-6E8A-4147-A177-3AD203B41FA5}">
                      <a16:colId xmlns:a16="http://schemas.microsoft.com/office/drawing/2014/main" val="1922936007"/>
                    </a:ext>
                  </a:extLst>
                </a:gridCol>
                <a:gridCol w="5412888">
                  <a:extLst>
                    <a:ext uri="{9D8B030D-6E8A-4147-A177-3AD203B41FA5}">
                      <a16:colId xmlns:a16="http://schemas.microsoft.com/office/drawing/2014/main" val="2314198610"/>
                    </a:ext>
                  </a:extLst>
                </a:gridCol>
              </a:tblGrid>
              <a:tr h="279000"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Command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What it does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6589974"/>
                  </a:ext>
                </a:extLst>
              </a:tr>
              <a:tr h="308991"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d</a:t>
                      </a:r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ocker images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List local images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1953188"/>
                  </a:ext>
                </a:extLst>
              </a:tr>
              <a:tr h="265020"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d</a:t>
                      </a:r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ocker ps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List running containers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6139185"/>
                  </a:ext>
                </a:extLst>
              </a:tr>
              <a:tr h="265020"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d</a:t>
                      </a:r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ocker logs &lt;name&gt;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Stream container output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8147478"/>
                  </a:ext>
                </a:extLst>
              </a:tr>
              <a:tr h="350510"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d</a:t>
                      </a:r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ocker exec –it &lt;name&gt; bash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Open a shell inside the running container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2827882"/>
                  </a:ext>
                </a:extLst>
              </a:tr>
              <a:tr h="278855"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d</a:t>
                      </a:r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ocker stop &lt;name&gt;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Gracefully stop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6854472"/>
                  </a:ext>
                </a:extLst>
              </a:tr>
              <a:tr h="288868"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d</a:t>
                      </a:r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ocker rm &lt;name&gt;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Remove an image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4651644"/>
                  </a:ext>
                </a:extLst>
              </a:tr>
              <a:tr h="307430"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d</a:t>
                      </a:r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ocker compose up --build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Build and start all services from compose file.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002705"/>
                  </a:ext>
                </a:extLst>
              </a:tr>
              <a:tr h="511477"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d</a:t>
                      </a:r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ocker compose down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Stop and remove all services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0366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31833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2416B6-7BC5-2CC7-DF85-CB2EC3B51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E19B50EC-3A6B-5E5E-BF19-9C2F040BC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Sidebar – </a:t>
            </a:r>
            <a:r>
              <a:rPr lang="en-US" sz="3200" b="0" u="none" strike="noStrike" dirty="0" err="1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Virtualisation</a:t>
            </a:r>
            <a:r>
              <a:rPr lang="en-US" sz="32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 v Containerization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BDDF338D-65EF-BDF9-897B-466BA8BDF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88DE41CE-F7E3-485E-B69E-AFA87DE97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80CB8CAC-E8B9-4CA5-88ED-D7E3E254C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AD9B0426-9E90-36DE-D1B2-A0692076D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>
            <a:extLst>
              <a:ext uri="{FF2B5EF4-FFF2-40B4-BE49-F238E27FC236}">
                <a16:creationId xmlns:a16="http://schemas.microsoft.com/office/drawing/2014/main" id="{6C8A066B-3596-B1B8-FE02-C7B3CCDDBDA9}"/>
              </a:ext>
            </a:extLst>
          </p:cNvPr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20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</p:txBody>
      </p:sp>
      <p:pic>
        <p:nvPicPr>
          <p:cNvPr id="2" name="Picture 1" descr="Container oder VM? – Pros und Kontras | T Cloud Public">
            <a:extLst>
              <a:ext uri="{FF2B5EF4-FFF2-40B4-BE49-F238E27FC236}">
                <a16:creationId xmlns:a16="http://schemas.microsoft.com/office/drawing/2014/main" id="{00DA2A46-DE7C-EA09-6CAA-577424EDB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5283" y="1698819"/>
            <a:ext cx="4168816" cy="19670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0FD169B-05AF-F63C-667D-BD165BBFA1D3}"/>
              </a:ext>
            </a:extLst>
          </p:cNvPr>
          <p:cNvSpPr txBox="1"/>
          <p:nvPr/>
        </p:nvSpPr>
        <p:spPr>
          <a:xfrm>
            <a:off x="228600" y="1307880"/>
            <a:ext cx="399884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600" dirty="0"/>
              <a:t>A VM virtualizes the hardware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600" dirty="0"/>
              <a:t>Every VM gets its own operating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600" dirty="0"/>
              <a:t>A container virtualizes the operating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600" dirty="0"/>
              <a:t>Every container shares the host’s kernel, but keeps own file system, libraries, and app.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600" dirty="0"/>
              <a:t>Containers give you reproducibility of a VM at the fraction of a cost and startup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600" dirty="0"/>
              <a:t>Trade isolation – Kernel vulnerability in the host can affect every container.</a:t>
            </a:r>
          </a:p>
        </p:txBody>
      </p:sp>
    </p:spTree>
    <p:extLst>
      <p:ext uri="{BB962C8B-B14F-4D97-AF65-F5344CB8AC3E}">
        <p14:creationId xmlns:p14="http://schemas.microsoft.com/office/powerpoint/2010/main" val="17777950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BB10E66-A96C-270D-26AA-DE5B80EB8512}"/>
              </a:ext>
            </a:extLst>
          </p:cNvPr>
          <p:cNvSpPr/>
          <p:nvPr/>
        </p:nvSpPr>
        <p:spPr>
          <a:xfrm>
            <a:off x="2331720" y="2697480"/>
            <a:ext cx="4800600" cy="23682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B4B376-BDF9-3924-993B-733CBF9966B9}"/>
              </a:ext>
            </a:extLst>
          </p:cNvPr>
          <p:cNvSpPr/>
          <p:nvPr/>
        </p:nvSpPr>
        <p:spPr>
          <a:xfrm>
            <a:off x="594360" y="2697480"/>
            <a:ext cx="1508760" cy="23682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CI/CD for ML</a:t>
            </a:r>
          </a:p>
        </p:txBody>
      </p:sp>
      <p:sp>
        <p:nvSpPr>
          <p:cNvPr id="7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/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Georgia"/>
              </a:rPr>
              <a:t>Regular CI/CD validates code.</a:t>
            </a: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Georgia"/>
              </a:rPr>
              <a:t>ML CI/CD must additionally validate:</a:t>
            </a:r>
          </a:p>
          <a:p>
            <a:pPr marL="628650" lvl="1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Georgia"/>
              </a:rPr>
              <a:t>Data </a:t>
            </a:r>
            <a:r>
              <a:rPr lang="en-US" sz="1200" dirty="0">
                <a:solidFill>
                  <a:srgbClr val="000000"/>
                </a:solidFill>
                <a:latin typeface="Georgia"/>
              </a:rPr>
              <a:t>(schema, distribution).</a:t>
            </a:r>
          </a:p>
          <a:p>
            <a:pPr marL="628650" lvl="1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Georgia"/>
              </a:rPr>
              <a:t>Model quality </a:t>
            </a:r>
            <a:r>
              <a:rPr lang="en-US" sz="1200" dirty="0">
                <a:solidFill>
                  <a:srgbClr val="000000"/>
                </a:solidFill>
                <a:latin typeface="Georgia"/>
              </a:rPr>
              <a:t>(prediction scores)</a:t>
            </a:r>
          </a:p>
          <a:p>
            <a:pPr marL="628650" lvl="1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Georgia"/>
              </a:rPr>
              <a:t>Op</a:t>
            </a:r>
            <a:r>
              <a:rPr lang="en-US" sz="1200" b="1" dirty="0">
                <a:solidFill>
                  <a:srgbClr val="000000"/>
                </a:solidFill>
                <a:latin typeface="Georgia"/>
              </a:rPr>
              <a:t>erational </a:t>
            </a:r>
            <a:r>
              <a:rPr lang="en-US" sz="1200" b="1" dirty="0" err="1">
                <a:solidFill>
                  <a:srgbClr val="000000"/>
                </a:solidFill>
                <a:latin typeface="Georgia"/>
              </a:rPr>
              <a:t>behaviours</a:t>
            </a:r>
            <a:r>
              <a:rPr lang="en-US" sz="1200" b="1" dirty="0">
                <a:solidFill>
                  <a:srgbClr val="000000"/>
                </a:solidFill>
                <a:latin typeface="Georgia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Georgia"/>
              </a:rPr>
              <a:t>(latency, payload size, memory)</a:t>
            </a: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200" b="1" u="none" strike="noStrike" dirty="0">
              <a:solidFill>
                <a:srgbClr val="000000"/>
              </a:solidFill>
              <a:effectLst/>
              <a:uFillTx/>
              <a:latin typeface="Georgia"/>
            </a:endParaRP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Georgia"/>
              </a:rPr>
              <a:t>Mature ML setup has </a:t>
            </a:r>
            <a:r>
              <a:rPr lang="en-US" sz="1200" b="1" dirty="0">
                <a:solidFill>
                  <a:srgbClr val="000000"/>
                </a:solidFill>
                <a:latin typeface="Georgia"/>
              </a:rPr>
              <a:t>three loosely-coupled pipelines</a:t>
            </a:r>
            <a:r>
              <a:rPr lang="en-US" sz="1200" dirty="0">
                <a:solidFill>
                  <a:srgbClr val="000000"/>
                </a:solidFill>
                <a:latin typeface="Georgia"/>
              </a:rPr>
              <a:t> that can run independently: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Georgia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EC54894-44A3-DDEB-6194-D39ACAA17B24}"/>
              </a:ext>
            </a:extLst>
          </p:cNvPr>
          <p:cNvSpPr/>
          <p:nvPr/>
        </p:nvSpPr>
        <p:spPr>
          <a:xfrm>
            <a:off x="731520" y="2816352"/>
            <a:ext cx="1207008" cy="292608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dirty="0">
                <a:solidFill>
                  <a:schemeClr val="tx1"/>
                </a:solidFill>
                <a:latin typeface="Georgia" panose="02040502050405020303" pitchFamily="18" charset="0"/>
              </a:rPr>
              <a:t>Code Change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3B262C-2DC4-D964-A46C-9D569DABFA5D}"/>
              </a:ext>
            </a:extLst>
          </p:cNvPr>
          <p:cNvSpPr/>
          <p:nvPr/>
        </p:nvSpPr>
        <p:spPr>
          <a:xfrm>
            <a:off x="731520" y="3274200"/>
            <a:ext cx="1207008" cy="121615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b="1" dirty="0">
                <a:latin typeface="Georgia" panose="02040502050405020303" pitchFamily="18" charset="0"/>
              </a:rPr>
              <a:t>CI </a:t>
            </a:r>
          </a:p>
          <a:p>
            <a:pPr algn="ctr"/>
            <a:r>
              <a:rPr lang="en-DE" sz="1200" b="1" dirty="0">
                <a:latin typeface="Georgia" panose="02040502050405020303" pitchFamily="18" charset="0"/>
              </a:rPr>
              <a:t>(Code)</a:t>
            </a:r>
          </a:p>
          <a:p>
            <a:pPr algn="ctr"/>
            <a:r>
              <a:rPr lang="en-DE" sz="1200" dirty="0">
                <a:latin typeface="Georgia" panose="02040502050405020303" pitchFamily="18" charset="0"/>
              </a:rPr>
              <a:t>Lint</a:t>
            </a:r>
          </a:p>
          <a:p>
            <a:pPr algn="ctr"/>
            <a:r>
              <a:rPr lang="en-DE" sz="1200" dirty="0">
                <a:latin typeface="Georgia" panose="02040502050405020303" pitchFamily="18" charset="0"/>
              </a:rPr>
              <a:t>Unit tests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A1D22B0-97EA-F1EF-F8F8-35DFE1F4E33D}"/>
              </a:ext>
            </a:extLst>
          </p:cNvPr>
          <p:cNvSpPr/>
          <p:nvPr/>
        </p:nvSpPr>
        <p:spPr>
          <a:xfrm>
            <a:off x="2441448" y="2816352"/>
            <a:ext cx="1956816" cy="292608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dirty="0">
                <a:solidFill>
                  <a:schemeClr val="tx1"/>
                </a:solidFill>
                <a:latin typeface="Georgia" panose="02040502050405020303" pitchFamily="18" charset="0"/>
              </a:rPr>
              <a:t>Data/ schedule change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4C37B7-1D09-A9C4-654D-FCBA303F1652}"/>
              </a:ext>
            </a:extLst>
          </p:cNvPr>
          <p:cNvSpPr/>
          <p:nvPr/>
        </p:nvSpPr>
        <p:spPr>
          <a:xfrm>
            <a:off x="2441448" y="3192192"/>
            <a:ext cx="1956816" cy="130104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b="1" dirty="0">
                <a:latin typeface="Georgia" panose="02040502050405020303" pitchFamily="18" charset="0"/>
              </a:rPr>
              <a:t>CT </a:t>
            </a:r>
          </a:p>
          <a:p>
            <a:pPr algn="ctr"/>
            <a:r>
              <a:rPr lang="en-DE" sz="1200" b="1" dirty="0">
                <a:latin typeface="Georgia" panose="02040502050405020303" pitchFamily="18" charset="0"/>
              </a:rPr>
              <a:t>(Continuous Training)</a:t>
            </a:r>
          </a:p>
          <a:p>
            <a:pPr algn="ctr"/>
            <a:r>
              <a:rPr lang="en-DE" sz="1200" dirty="0">
                <a:latin typeface="Georgia" panose="02040502050405020303" pitchFamily="18" charset="0"/>
              </a:rPr>
              <a:t>Retrain on new data</a:t>
            </a:r>
          </a:p>
          <a:p>
            <a:pPr algn="ctr"/>
            <a:r>
              <a:rPr lang="en-DE" sz="1200" dirty="0">
                <a:latin typeface="Georgia" panose="02040502050405020303" pitchFamily="18" charset="0"/>
              </a:rPr>
              <a:t>Evaluate quality</a:t>
            </a:r>
          </a:p>
          <a:p>
            <a:pPr algn="ctr"/>
            <a:r>
              <a:rPr lang="en-DE" sz="1200" dirty="0">
                <a:latin typeface="Georgia" panose="02040502050405020303" pitchFamily="18" charset="0"/>
              </a:rPr>
              <a:t>Register if better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94C36F-7FBA-2EF2-DD50-905F11691A6F}"/>
              </a:ext>
            </a:extLst>
          </p:cNvPr>
          <p:cNvSpPr/>
          <p:nvPr/>
        </p:nvSpPr>
        <p:spPr>
          <a:xfrm>
            <a:off x="5026152" y="3189312"/>
            <a:ext cx="1956816" cy="130104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b="1" dirty="0">
                <a:latin typeface="Georgia" panose="02040502050405020303" pitchFamily="18" charset="0"/>
              </a:rPr>
              <a:t>CD </a:t>
            </a:r>
          </a:p>
          <a:p>
            <a:pPr algn="ctr"/>
            <a:r>
              <a:rPr lang="en-DE" sz="1200" b="1" dirty="0">
                <a:latin typeface="Georgia" panose="02040502050405020303" pitchFamily="18" charset="0"/>
              </a:rPr>
              <a:t>(Continuous Delivery)</a:t>
            </a:r>
          </a:p>
          <a:p>
            <a:pPr algn="ctr"/>
            <a:r>
              <a:rPr lang="en-DE" sz="1200" dirty="0">
                <a:latin typeface="Georgia" panose="02040502050405020303" pitchFamily="18" charset="0"/>
              </a:rPr>
              <a:t>Canary Rollout</a:t>
            </a:r>
          </a:p>
          <a:p>
            <a:pPr algn="ctr"/>
            <a:r>
              <a:rPr lang="en-DE" sz="1200" dirty="0">
                <a:latin typeface="Georgia" panose="02040502050405020303" pitchFamily="18" charset="0"/>
              </a:rPr>
              <a:t>Monitor Metrics</a:t>
            </a:r>
          </a:p>
          <a:p>
            <a:pPr algn="ctr"/>
            <a:r>
              <a:rPr lang="en-DE" sz="1200" dirty="0">
                <a:latin typeface="Georgia" panose="02040502050405020303" pitchFamily="18" charset="0"/>
              </a:rPr>
              <a:t>Rollback if needed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17CC5E3-C836-6EC1-2AA1-2C70E57EF64D}"/>
              </a:ext>
            </a:extLst>
          </p:cNvPr>
          <p:cNvSpPr/>
          <p:nvPr/>
        </p:nvSpPr>
        <p:spPr>
          <a:xfrm>
            <a:off x="5026152" y="2813472"/>
            <a:ext cx="1956816" cy="292608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dirty="0">
                <a:solidFill>
                  <a:schemeClr val="tx1"/>
                </a:solidFill>
                <a:latin typeface="Georgia" panose="02040502050405020303" pitchFamily="18" charset="0"/>
              </a:rPr>
              <a:t>New model registered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2DC10C2E-E91F-F44F-25C4-A28BDCD8EA48}"/>
              </a:ext>
            </a:extLst>
          </p:cNvPr>
          <p:cNvSpPr/>
          <p:nvPr/>
        </p:nvSpPr>
        <p:spPr>
          <a:xfrm>
            <a:off x="4398264" y="3703320"/>
            <a:ext cx="627888" cy="1783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Three Pipelines: CI · CT · CD</a:t>
            </a:r>
          </a:p>
        </p:txBody>
      </p:sp>
      <p:sp>
        <p:nvSpPr>
          <p:cNvPr id="7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AA4DB90-8F87-AFAB-D290-5662910B14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2132574"/>
              </p:ext>
            </p:extLst>
          </p:nvPr>
        </p:nvGraphicFramePr>
        <p:xfrm>
          <a:off x="228600" y="1412640"/>
          <a:ext cx="8290227" cy="2372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5688">
                  <a:extLst>
                    <a:ext uri="{9D8B030D-6E8A-4147-A177-3AD203B41FA5}">
                      <a16:colId xmlns:a16="http://schemas.microsoft.com/office/drawing/2014/main" val="3784561399"/>
                    </a:ext>
                  </a:extLst>
                </a:gridCol>
                <a:gridCol w="2281275">
                  <a:extLst>
                    <a:ext uri="{9D8B030D-6E8A-4147-A177-3AD203B41FA5}">
                      <a16:colId xmlns:a16="http://schemas.microsoft.com/office/drawing/2014/main" val="2062134934"/>
                    </a:ext>
                  </a:extLst>
                </a:gridCol>
                <a:gridCol w="2391309">
                  <a:extLst>
                    <a:ext uri="{9D8B030D-6E8A-4147-A177-3AD203B41FA5}">
                      <a16:colId xmlns:a16="http://schemas.microsoft.com/office/drawing/2014/main" val="2277097736"/>
                    </a:ext>
                  </a:extLst>
                </a:gridCol>
                <a:gridCol w="1541955">
                  <a:extLst>
                    <a:ext uri="{9D8B030D-6E8A-4147-A177-3AD203B41FA5}">
                      <a16:colId xmlns:a16="http://schemas.microsoft.com/office/drawing/2014/main" val="3183288979"/>
                    </a:ext>
                  </a:extLst>
                </a:gridCol>
              </a:tblGrid>
              <a:tr h="411226"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Pipeline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Trigger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What it checks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Who cares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6911210"/>
                  </a:ext>
                </a:extLst>
              </a:tr>
              <a:tr h="653913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CI (Code)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Push or Pull Requests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Does the code work?</a:t>
                      </a:r>
                    </a:p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Tests pass?</a:t>
                      </a:r>
                    </a:p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No import errors?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Engineers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929690"/>
                  </a:ext>
                </a:extLst>
              </a:tr>
              <a:tr h="653913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CT (Continous Training)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New data arrives</a:t>
                      </a:r>
                    </a:p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Code that affects training changes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New model at least as good as current prod model?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Data Scientists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257257"/>
                  </a:ext>
                </a:extLst>
              </a:tr>
              <a:tr h="653913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CD (Deploy)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A new model version is registered and approved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Service run correctly in real environment?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MLEs/ Platform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33858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2BB15B-A5BE-BC1B-97B2-D88A52997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63933695-6FD8-3183-24A6-D4EDC71A1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Three Pipelines: CI · CT · CD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0A082321-7637-58D4-B249-84E8C6700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F07C9205-427B-468B-4BB1-521B29CC8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792FB759-AC7C-25EF-6B87-21D17EDD2D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21AE9C33-54DB-DC04-2D8F-3AEC98698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4DA32A-3321-C186-F1B7-6966FDFFF36C}"/>
              </a:ext>
            </a:extLst>
          </p:cNvPr>
          <p:cNvSpPr txBox="1"/>
          <p:nvPr/>
        </p:nvSpPr>
        <p:spPr>
          <a:xfrm>
            <a:off x="228600" y="1362456"/>
            <a:ext cx="82292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>
                <a:latin typeface="Georgia" panose="02040502050405020303" pitchFamily="18" charset="0"/>
              </a:rPr>
              <a:t>Three pipelines are loosely coupled.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>
                <a:latin typeface="Georgia" panose="02040502050405020303" pitchFamily="18" charset="0"/>
              </a:rPr>
              <a:t>CI runs on </a:t>
            </a:r>
            <a:r>
              <a:rPr lang="en-DE" b="1" dirty="0">
                <a:latin typeface="Georgia" panose="02040502050405020303" pitchFamily="18" charset="0"/>
              </a:rPr>
              <a:t>every </a:t>
            </a:r>
            <a:r>
              <a:rPr lang="en-DE" dirty="0">
                <a:latin typeface="Georgia" panose="02040502050405020303" pitchFamily="18" charset="0"/>
              </a:rPr>
              <a:t>commit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>
                <a:latin typeface="Georgia" panose="02040502050405020303" pitchFamily="18" charset="0"/>
              </a:rPr>
              <a:t>CT runs on a schedule or data trigger even if no code changed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>
                <a:latin typeface="Georgia" panose="02040502050405020303" pitchFamily="18" charset="0"/>
              </a:rPr>
              <a:t>CD only fires when a model is explicitly promoted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dirty="0">
              <a:latin typeface="Georgia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>
                <a:latin typeface="Georgia" panose="02040502050405020303" pitchFamily="18" charset="0"/>
              </a:rPr>
              <a:t>Matters because: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DE" dirty="0">
                <a:latin typeface="Georgia" panose="02040502050405020303" pitchFamily="18" charset="0"/>
              </a:rPr>
              <a:t>Without CT, a model silently degrades in production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DE" dirty="0">
                <a:latin typeface="Georgia" panose="02040502050405020303" pitchFamily="18" charset="0"/>
              </a:rPr>
              <a:t>CT automates model freshness from a manual tasks.</a:t>
            </a:r>
          </a:p>
        </p:txBody>
      </p:sp>
    </p:spTree>
    <p:extLst>
      <p:ext uri="{BB962C8B-B14F-4D97-AF65-F5344CB8AC3E}">
        <p14:creationId xmlns:p14="http://schemas.microsoft.com/office/powerpoint/2010/main" val="41160607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The ML Test Pyramid</a:t>
            </a:r>
          </a:p>
        </p:txBody>
      </p:sp>
      <p:sp>
        <p:nvSpPr>
          <p:cNvPr id="7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/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Georgia"/>
              </a:rPr>
              <a:t>Testing is part of Software Engineering most applicable to Data Science.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Georgia"/>
              </a:rPr>
              <a:t>ML tests operate on </a:t>
            </a:r>
            <a:r>
              <a:rPr lang="en-US" sz="1500" b="1" dirty="0">
                <a:solidFill>
                  <a:srgbClr val="000000"/>
                </a:solidFill>
                <a:latin typeface="Georgia"/>
              </a:rPr>
              <a:t>multiple levels</a:t>
            </a:r>
            <a:r>
              <a:rPr lang="en-US" sz="1500" dirty="0">
                <a:solidFill>
                  <a:srgbClr val="000000"/>
                </a:solidFill>
                <a:latin typeface="Georgia"/>
              </a:rPr>
              <a:t> – Code – Data – Model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000000"/>
              </a:solidFill>
              <a:latin typeface="Georgia"/>
            </a:endParaRP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Georgia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DE182B6-9D75-7F4E-E815-9FB88818F7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85150850"/>
              </p:ext>
            </p:extLst>
          </p:nvPr>
        </p:nvGraphicFramePr>
        <p:xfrm>
          <a:off x="2540868" y="1929384"/>
          <a:ext cx="4509156" cy="27017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Up-down Arrow 2">
            <a:extLst>
              <a:ext uri="{FF2B5EF4-FFF2-40B4-BE49-F238E27FC236}">
                <a16:creationId xmlns:a16="http://schemas.microsoft.com/office/drawing/2014/main" id="{09FE37C1-4A30-4E0D-BAC1-424EAC4109C7}"/>
              </a:ext>
            </a:extLst>
          </p:cNvPr>
          <p:cNvSpPr/>
          <p:nvPr/>
        </p:nvSpPr>
        <p:spPr>
          <a:xfrm>
            <a:off x="1270656" y="1929384"/>
            <a:ext cx="566928" cy="2701798"/>
          </a:xfrm>
          <a:prstGeom prst="upDown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00599E2-BEF2-A8DB-4E5B-16F88482F605}"/>
              </a:ext>
            </a:extLst>
          </p:cNvPr>
          <p:cNvSpPr/>
          <p:nvPr/>
        </p:nvSpPr>
        <p:spPr>
          <a:xfrm>
            <a:off x="721836" y="2309040"/>
            <a:ext cx="1664568" cy="347472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dirty="0">
                <a:latin typeface="Georgia" panose="02040502050405020303" pitchFamily="18" charset="0"/>
              </a:rPr>
              <a:t>Slow, few</a:t>
            </a:r>
            <a:endParaRPr lang="en-DE" dirty="0">
              <a:latin typeface="Georgia" panose="02040502050405020303" pitchFamily="18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40C5976-46FC-9C34-D16A-C3DE3F86D9FC}"/>
              </a:ext>
            </a:extLst>
          </p:cNvPr>
          <p:cNvSpPr/>
          <p:nvPr/>
        </p:nvSpPr>
        <p:spPr>
          <a:xfrm>
            <a:off x="721836" y="3872124"/>
            <a:ext cx="1664568" cy="347472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Georgia" panose="02040502050405020303" pitchFamily="18" charset="0"/>
              </a:rPr>
              <a:t>F</a:t>
            </a:r>
            <a:r>
              <a:rPr lang="en-DE" sz="1200" dirty="0">
                <a:latin typeface="Georgia" panose="02040502050405020303" pitchFamily="18" charset="0"/>
              </a:rPr>
              <a:t>ast, many</a:t>
            </a:r>
            <a:endParaRPr lang="en-DE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8CA101-AB63-D3C8-3ABE-FE14848CE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9617E204-2C14-61EC-8BED-5F9E48AE4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The ML Test Pyramid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76262FA3-B2BD-9CAA-EC2F-CAE2FD833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86A810C1-355B-6AAC-B8F8-9385E3A78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C2F17797-CFEA-564F-5800-F5F889151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4FA21F74-AFDB-4CF3-8EC7-C494F8148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C4026A9-8165-F1DE-4018-573DC87140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1036620"/>
              </p:ext>
            </p:extLst>
          </p:nvPr>
        </p:nvGraphicFramePr>
        <p:xfrm>
          <a:off x="228600" y="1328420"/>
          <a:ext cx="8228880" cy="353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7629">
                  <a:extLst>
                    <a:ext uri="{9D8B030D-6E8A-4147-A177-3AD203B41FA5}">
                      <a16:colId xmlns:a16="http://schemas.microsoft.com/office/drawing/2014/main" val="738292396"/>
                    </a:ext>
                  </a:extLst>
                </a:gridCol>
                <a:gridCol w="5941251">
                  <a:extLst>
                    <a:ext uri="{9D8B030D-6E8A-4147-A177-3AD203B41FA5}">
                      <a16:colId xmlns:a16="http://schemas.microsoft.com/office/drawing/2014/main" val="42381652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DE" sz="1400" b="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Integration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DE" sz="1400" b="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Runs after service started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DE" sz="1400" b="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End-to-End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DE" sz="1400" b="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Does the full service respond correctly?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1909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14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Smoke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DE" sz="14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Post-deploy (after each deploy)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DE" sz="14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I</a:t>
                      </a:r>
                      <a:r>
                        <a:rPr lang="en-GB" sz="14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s the service alive in production?</a:t>
                      </a:r>
                      <a:endParaRPr lang="en-DE" sz="14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0921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14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Model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DE" sz="14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CT pipeline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DE" sz="14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Quality gates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DE" sz="14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A</a:t>
                      </a:r>
                      <a:r>
                        <a:rPr lang="en-GB" sz="14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UC</a:t>
                      </a:r>
                      <a:r>
                        <a:rPr lang="en-DE" sz="14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, latency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5816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14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Behavioural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DE" sz="14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CT Pipeline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DE" sz="14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Does the model make sense directionally?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6360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14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Data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DE" sz="14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CT Pipeline start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DE" sz="14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Training data what we expect?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536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14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Unit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DE" sz="14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Every commit (CI)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DE" sz="14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Individual functions return correct values?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9381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47023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GitHub Actions</a:t>
            </a:r>
          </a:p>
        </p:txBody>
      </p:sp>
      <p:sp>
        <p:nvSpPr>
          <p:cNvPr id="7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/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GitHub’s built-in automation platform.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YAML file that describes a sequence of shell commands</a:t>
            </a:r>
            <a:endParaRPr lang="en-US" sz="1200" dirty="0">
              <a:solidFill>
                <a:srgbClr val="1F2630"/>
              </a:solidFill>
              <a:latin typeface="Georgia"/>
            </a:endParaRP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GitHub runs those commands on a fresh virtual machine </a:t>
            </a:r>
            <a:r>
              <a:rPr lang="en-US" sz="1200" b="1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every time</a:t>
            </a:r>
            <a:r>
              <a:rPr lang="en-US" sz="1200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 a trigger condition is met.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630"/>
                </a:solidFill>
                <a:latin typeface="Georgia"/>
              </a:rPr>
              <a:t>Get results – pass or fail – directly on the pull request before merge.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200" u="none" strike="noStrike" dirty="0">
              <a:solidFill>
                <a:srgbClr val="1F2630"/>
              </a:solidFill>
              <a:effectLst/>
              <a:uFillTx/>
              <a:latin typeface="Georgia"/>
            </a:endParaRP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F2630"/>
                </a:solidFill>
                <a:latin typeface="Georgia"/>
              </a:rPr>
              <a:t>For ML:</a:t>
            </a:r>
          </a:p>
          <a:p>
            <a:pPr marL="742950" lvl="1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Can automatically run data tests</a:t>
            </a:r>
          </a:p>
          <a:p>
            <a:pPr marL="742950" lvl="1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Retrain the model</a:t>
            </a:r>
          </a:p>
          <a:p>
            <a:pPr marL="742950" lvl="1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630"/>
                </a:solidFill>
                <a:latin typeface="Georgia"/>
              </a:rPr>
              <a:t>Check quality on every code change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1F2630"/>
              </a:solidFill>
              <a:latin typeface="Georgia"/>
            </a:endParaRP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F2630"/>
                </a:solidFill>
                <a:latin typeface="Georgia"/>
              </a:rPr>
              <a:t>Why train inside CI?</a:t>
            </a:r>
          </a:p>
          <a:p>
            <a:pPr marL="742950" lvl="1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F2630"/>
                </a:solidFill>
                <a:latin typeface="Georgia"/>
              </a:rPr>
              <a:t>Reproducibility gate - </a:t>
            </a:r>
            <a:r>
              <a:rPr lang="en-US" sz="1200" dirty="0">
                <a:solidFill>
                  <a:srgbClr val="1F2630"/>
                </a:solidFill>
                <a:latin typeface="Georgia"/>
              </a:rPr>
              <a:t> if training fails in a clean environment, can catch it immediately.</a:t>
            </a:r>
          </a:p>
          <a:p>
            <a:pPr marL="742950" lvl="1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F2630"/>
                </a:solidFill>
                <a:latin typeface="Georgia"/>
              </a:rPr>
              <a:t>Quality gate on what CI actually produces</a:t>
            </a:r>
          </a:p>
          <a:p>
            <a:pPr marL="742950" lvl="1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200" u="none" strike="noStrike" dirty="0">
              <a:solidFill>
                <a:srgbClr val="1F2630"/>
              </a:solidFill>
              <a:effectLst/>
              <a:uFillTx/>
              <a:latin typeface="Georgi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ED5AB9-A3B6-21A6-CB11-D1AC85F18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5FAEB5BA-74B4-1952-250F-615887018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GitHub Actions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6810DDD2-B859-A386-7C63-649AD639B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2A45DF0E-09D0-336B-1FBB-305861FA3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EE48C880-4E75-CAFB-CC8C-CDB88378F7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271E1AE7-43C7-2A54-E7A1-8DB8F5A1C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>
            <a:extLst>
              <a:ext uri="{FF2B5EF4-FFF2-40B4-BE49-F238E27FC236}">
                <a16:creationId xmlns:a16="http://schemas.microsoft.com/office/drawing/2014/main" id="{6BD3E86F-9612-6B13-11C3-1675C03F3232}"/>
              </a:ext>
            </a:extLst>
          </p:cNvPr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lvl="1"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200" u="none" strike="noStrike" dirty="0">
              <a:solidFill>
                <a:srgbClr val="1F2630"/>
              </a:solidFill>
              <a:effectLst/>
              <a:uFillTx/>
              <a:latin typeface="Georgia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0390F43-EB89-04CF-DF53-0BBBFC87DD9C}"/>
              </a:ext>
            </a:extLst>
          </p:cNvPr>
          <p:cNvSpPr/>
          <p:nvPr/>
        </p:nvSpPr>
        <p:spPr>
          <a:xfrm>
            <a:off x="457560" y="1380744"/>
            <a:ext cx="1179216" cy="5303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050" dirty="0"/>
              <a:t>Developer pushes code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64EF37F-AB30-2989-B058-01DC02929FAB}"/>
              </a:ext>
            </a:extLst>
          </p:cNvPr>
          <p:cNvSpPr/>
          <p:nvPr/>
        </p:nvSpPr>
        <p:spPr>
          <a:xfrm>
            <a:off x="1838664" y="1952064"/>
            <a:ext cx="1179216" cy="5303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050" dirty="0"/>
              <a:t>GitHub detects push &amp; reads .yml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0E6B1FA-8A47-2101-E7CF-F154CD446FB1}"/>
              </a:ext>
            </a:extLst>
          </p:cNvPr>
          <p:cNvSpPr/>
          <p:nvPr/>
        </p:nvSpPr>
        <p:spPr>
          <a:xfrm>
            <a:off x="3164184" y="2482416"/>
            <a:ext cx="1179216" cy="5303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050" dirty="0"/>
              <a:t>GitHub spins up fresh Ubuntu machine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35CDC9-7FB9-A6C6-79B9-D1F778720055}"/>
              </a:ext>
            </a:extLst>
          </p:cNvPr>
          <p:cNvSpPr/>
          <p:nvPr/>
        </p:nvSpPr>
        <p:spPr>
          <a:xfrm>
            <a:off x="4027752" y="3086208"/>
            <a:ext cx="3063240" cy="22233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dirty="0">
                <a:solidFill>
                  <a:schemeClr val="tx1"/>
                </a:solidFill>
              </a:rPr>
              <a:t>G</a:t>
            </a:r>
            <a:r>
              <a:rPr lang="en-DE" sz="1050" dirty="0">
                <a:solidFill>
                  <a:schemeClr val="tx1"/>
                </a:solidFill>
              </a:rPr>
              <a:t>it clone the repo onto the VM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D65DED-CCB8-AA7F-EAE4-7CD1F9BC69EF}"/>
              </a:ext>
            </a:extLst>
          </p:cNvPr>
          <p:cNvSpPr/>
          <p:nvPr/>
        </p:nvSpPr>
        <p:spPr>
          <a:xfrm>
            <a:off x="4036896" y="3416058"/>
            <a:ext cx="3063240" cy="22233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dirty="0">
                <a:solidFill>
                  <a:schemeClr val="tx1"/>
                </a:solidFill>
              </a:rPr>
              <a:t>I</a:t>
            </a:r>
            <a:r>
              <a:rPr lang="en-DE" sz="1050" dirty="0">
                <a:solidFill>
                  <a:schemeClr val="tx1"/>
                </a:solidFill>
              </a:rPr>
              <a:t>nstalls Python + packages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C55008-92DF-76D1-854D-492EBDEF607A}"/>
              </a:ext>
            </a:extLst>
          </p:cNvPr>
          <p:cNvSpPr/>
          <p:nvPr/>
        </p:nvSpPr>
        <p:spPr>
          <a:xfrm>
            <a:off x="4036896" y="3780576"/>
            <a:ext cx="3063240" cy="22233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dirty="0">
                <a:solidFill>
                  <a:schemeClr val="tx1"/>
                </a:solidFill>
              </a:rPr>
              <a:t>Run </a:t>
            </a:r>
            <a:r>
              <a:rPr lang="en-GB" sz="1050" dirty="0" err="1">
                <a:solidFill>
                  <a:schemeClr val="tx1"/>
                </a:solidFill>
              </a:rPr>
              <a:t>train.py</a:t>
            </a:r>
            <a:r>
              <a:rPr lang="en-GB" sz="1050" dirty="0">
                <a:solidFill>
                  <a:schemeClr val="tx1"/>
                </a:solidFill>
              </a:rPr>
              <a:t> -&gt; produces .</a:t>
            </a:r>
            <a:r>
              <a:rPr lang="en-GB" sz="1050" dirty="0" err="1">
                <a:solidFill>
                  <a:schemeClr val="tx1"/>
                </a:solidFill>
              </a:rPr>
              <a:t>joblib</a:t>
            </a:r>
            <a:r>
              <a:rPr lang="en-GB" sz="1050" dirty="0">
                <a:solidFill>
                  <a:schemeClr val="tx1"/>
                </a:solidFill>
              </a:rPr>
              <a:t> files</a:t>
            </a:r>
            <a:endParaRPr lang="en-DE" sz="105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5675E5-0ED5-17CC-1CCD-885FF8A61C7D}"/>
              </a:ext>
            </a:extLst>
          </p:cNvPr>
          <p:cNvSpPr/>
          <p:nvPr/>
        </p:nvSpPr>
        <p:spPr>
          <a:xfrm>
            <a:off x="4036896" y="4108738"/>
            <a:ext cx="3063240" cy="22233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dirty="0">
                <a:solidFill>
                  <a:schemeClr val="tx1"/>
                </a:solidFill>
              </a:rPr>
              <a:t>Run </a:t>
            </a:r>
            <a:r>
              <a:rPr lang="en-GB" sz="1050" dirty="0" err="1">
                <a:solidFill>
                  <a:schemeClr val="tx1"/>
                </a:solidFill>
              </a:rPr>
              <a:t>test_data.py</a:t>
            </a:r>
            <a:r>
              <a:rPr lang="en-GB" sz="1050" dirty="0">
                <a:solidFill>
                  <a:schemeClr val="tx1"/>
                </a:solidFill>
              </a:rPr>
              <a:t> -&gt; validates training data</a:t>
            </a:r>
            <a:endParaRPr lang="en-DE" sz="1050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75BE97-3D39-D9AD-0513-A315D1F6E7B4}"/>
              </a:ext>
            </a:extLst>
          </p:cNvPr>
          <p:cNvSpPr/>
          <p:nvPr/>
        </p:nvSpPr>
        <p:spPr>
          <a:xfrm>
            <a:off x="4018608" y="4436900"/>
            <a:ext cx="3063240" cy="22233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dirty="0">
                <a:solidFill>
                  <a:schemeClr val="tx1"/>
                </a:solidFill>
              </a:rPr>
              <a:t>Run </a:t>
            </a:r>
            <a:r>
              <a:rPr lang="en-GB" sz="1050" dirty="0" err="1">
                <a:solidFill>
                  <a:schemeClr val="tx1"/>
                </a:solidFill>
              </a:rPr>
              <a:t>test_model.py</a:t>
            </a:r>
            <a:r>
              <a:rPr lang="en-GB" sz="1050" dirty="0">
                <a:solidFill>
                  <a:schemeClr val="tx1"/>
                </a:solidFill>
              </a:rPr>
              <a:t> -&gt; validates the trained model</a:t>
            </a:r>
            <a:endParaRPr lang="en-DE" sz="1050" dirty="0">
              <a:solidFill>
                <a:schemeClr val="tx1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81C256D-6142-F67D-C878-B8520178BE11}"/>
              </a:ext>
            </a:extLst>
          </p:cNvPr>
          <p:cNvSpPr/>
          <p:nvPr/>
        </p:nvSpPr>
        <p:spPr>
          <a:xfrm>
            <a:off x="3328416" y="3086208"/>
            <a:ext cx="818208" cy="22233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100" dirty="0">
                <a:latin typeface="Georgia" panose="02040502050405020303" pitchFamily="18" charset="0"/>
              </a:rPr>
              <a:t>Step 1</a:t>
            </a:r>
            <a:endParaRPr lang="en-DE" dirty="0">
              <a:latin typeface="Georgia" panose="02040502050405020303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DA3D313-BD6D-7F7E-7E0D-1618FBA3F89B}"/>
              </a:ext>
            </a:extLst>
          </p:cNvPr>
          <p:cNvSpPr/>
          <p:nvPr/>
        </p:nvSpPr>
        <p:spPr>
          <a:xfrm>
            <a:off x="3337560" y="3416058"/>
            <a:ext cx="818208" cy="22233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100" dirty="0">
                <a:latin typeface="Georgia" panose="02040502050405020303" pitchFamily="18" charset="0"/>
              </a:rPr>
              <a:t>Step 2</a:t>
            </a:r>
            <a:endParaRPr lang="en-DE" dirty="0">
              <a:latin typeface="Georgia" panose="02040502050405020303" pitchFamily="18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6791E5D-7798-4178-937A-5FF38615E07F}"/>
              </a:ext>
            </a:extLst>
          </p:cNvPr>
          <p:cNvSpPr/>
          <p:nvPr/>
        </p:nvSpPr>
        <p:spPr>
          <a:xfrm>
            <a:off x="3337560" y="3780576"/>
            <a:ext cx="818208" cy="22233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100" dirty="0">
                <a:latin typeface="Georgia" panose="02040502050405020303" pitchFamily="18" charset="0"/>
              </a:rPr>
              <a:t>Step 3</a:t>
            </a:r>
            <a:endParaRPr lang="en-DE" dirty="0">
              <a:latin typeface="Georgia" panose="02040502050405020303" pitchFamily="18" charset="0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8611226-E87C-BF0A-0520-A00E22DE32E3}"/>
              </a:ext>
            </a:extLst>
          </p:cNvPr>
          <p:cNvSpPr/>
          <p:nvPr/>
        </p:nvSpPr>
        <p:spPr>
          <a:xfrm>
            <a:off x="3337560" y="4108738"/>
            <a:ext cx="818208" cy="22233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100" dirty="0">
                <a:latin typeface="Georgia" panose="02040502050405020303" pitchFamily="18" charset="0"/>
              </a:rPr>
              <a:t>Step 4</a:t>
            </a:r>
            <a:endParaRPr lang="en-DE" dirty="0">
              <a:latin typeface="Georgia" panose="02040502050405020303" pitchFamily="18" charset="0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7334E46-DFF0-9BB6-FEB1-494994E17B74}"/>
              </a:ext>
            </a:extLst>
          </p:cNvPr>
          <p:cNvSpPr/>
          <p:nvPr/>
        </p:nvSpPr>
        <p:spPr>
          <a:xfrm>
            <a:off x="3328416" y="4436900"/>
            <a:ext cx="818208" cy="22233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100" dirty="0">
                <a:latin typeface="Georgia" panose="02040502050405020303" pitchFamily="18" charset="0"/>
              </a:rPr>
              <a:t>Step 5</a:t>
            </a:r>
            <a:endParaRPr lang="en-DE" dirty="0">
              <a:latin typeface="Georgia" panose="02040502050405020303" pitchFamily="18" charset="0"/>
            </a:endParaRP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169363B7-5410-51AC-4A6E-B45D114FEB14}"/>
              </a:ext>
            </a:extLst>
          </p:cNvPr>
          <p:cNvSpPr/>
          <p:nvPr/>
        </p:nvSpPr>
        <p:spPr>
          <a:xfrm>
            <a:off x="7196328" y="3012768"/>
            <a:ext cx="265176" cy="1806120"/>
          </a:xfrm>
          <a:prstGeom prst="rightBrace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>
              <a:solidFill>
                <a:sysClr val="windowText" lastClr="000000"/>
              </a:solidFill>
            </a:endParaRPr>
          </a:p>
        </p:txBody>
      </p: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382002E6-4996-3171-76C1-0D38FDF4350B}"/>
              </a:ext>
            </a:extLst>
          </p:cNvPr>
          <p:cNvCxnSpPr>
            <a:stCxn id="2" idx="2"/>
            <a:endCxn id="3" idx="1"/>
          </p:cNvCxnSpPr>
          <p:nvPr/>
        </p:nvCxnSpPr>
        <p:spPr>
          <a:xfrm rot="16200000" flipH="1">
            <a:off x="1289844" y="1668420"/>
            <a:ext cx="306144" cy="791496"/>
          </a:xfrm>
          <a:prstGeom prst="bentConnector2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2D6B400B-35CA-EE67-8794-71674F888BBB}"/>
              </a:ext>
            </a:extLst>
          </p:cNvPr>
          <p:cNvCxnSpPr>
            <a:stCxn id="3" idx="2"/>
            <a:endCxn id="4" idx="1"/>
          </p:cNvCxnSpPr>
          <p:nvPr/>
        </p:nvCxnSpPr>
        <p:spPr>
          <a:xfrm rot="16200000" flipH="1">
            <a:off x="2663640" y="2247048"/>
            <a:ext cx="265176" cy="735912"/>
          </a:xfrm>
          <a:prstGeom prst="bentConnector2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Graphic 23" descr="Completed with solid fill">
            <a:extLst>
              <a:ext uri="{FF2B5EF4-FFF2-40B4-BE49-F238E27FC236}">
                <a16:creationId xmlns:a16="http://schemas.microsoft.com/office/drawing/2014/main" id="{63843411-9C34-9056-813D-BA6ED2A03F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62312" y="2866176"/>
            <a:ext cx="914400" cy="914400"/>
          </a:xfrm>
          <a:prstGeom prst="rect">
            <a:avLst/>
          </a:prstGeom>
        </p:spPr>
      </p:pic>
      <p:pic>
        <p:nvPicPr>
          <p:cNvPr id="26" name="Graphic 25" descr="Clipboard All Crosses with solid fill">
            <a:extLst>
              <a:ext uri="{FF2B5EF4-FFF2-40B4-BE49-F238E27FC236}">
                <a16:creationId xmlns:a16="http://schemas.microsoft.com/office/drawing/2014/main" id="{1968C65E-C0CA-8F37-626D-6B7D8FD5F1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62312" y="378057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3646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2E85DC-36EB-23D3-7ECA-81A8F0878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011E5CDC-98D1-1650-62A5-74387141E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GitHub Actions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38CB7D55-0339-A873-121E-D37A084127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8BA83DED-D589-083F-C66D-351C9127FF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D08BA347-30A3-6EA3-2E21-F4B2E49E1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3873022D-2C04-5A1C-5234-E8230F6B99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725D2BC-9C40-7607-BFA3-1FE9F017D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8884565"/>
              </p:ext>
            </p:extLst>
          </p:nvPr>
        </p:nvGraphicFramePr>
        <p:xfrm>
          <a:off x="228600" y="1189440"/>
          <a:ext cx="8686800" cy="3762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1700">
                  <a:extLst>
                    <a:ext uri="{9D8B030D-6E8A-4147-A177-3AD203B41FA5}">
                      <a16:colId xmlns:a16="http://schemas.microsoft.com/office/drawing/2014/main" val="2856652045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63589893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3826248854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79960379"/>
                    </a:ext>
                  </a:extLst>
                </a:gridCol>
              </a:tblGrid>
              <a:tr h="264456">
                <a:tc>
                  <a:txBody>
                    <a:bodyPr/>
                    <a:lstStyle/>
                    <a:p>
                      <a:r>
                        <a:rPr lang="en-DE" sz="105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Approach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05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How it works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05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Works well when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05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Risks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7371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1050" dirty="0">
                          <a:latin typeface="Georgia" panose="02040502050405020303" pitchFamily="18" charset="0"/>
                        </a:rPr>
                        <a:t>Train in CI (default)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050" dirty="0">
                          <a:latin typeface="Georgia" panose="02040502050405020303" pitchFamily="18" charset="0"/>
                        </a:rPr>
                        <a:t>Every run trains from scratch on the CI VM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050" dirty="0">
                          <a:latin typeface="Georgia" panose="02040502050405020303" pitchFamily="18" charset="0"/>
                        </a:rPr>
                        <a:t>Fast training (&lt;5 min), small data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50" dirty="0">
                          <a:latin typeface="Georgia" panose="02040502050405020303" pitchFamily="18" charset="0"/>
                        </a:rPr>
                        <a:t>CI minutes cost money at scale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50" dirty="0">
                          <a:latin typeface="Georgia" panose="02040502050405020303" pitchFamily="18" charset="0"/>
                        </a:rPr>
                        <a:t>Slow PRs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50" dirty="0">
                          <a:latin typeface="Georgia" panose="02040502050405020303" pitchFamily="18" charset="0"/>
                        </a:rPr>
                        <a:t>Flaky tests if training non-deterministic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588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1050" dirty="0">
                          <a:latin typeface="Georgia" panose="02040502050405020303" pitchFamily="18" charset="0"/>
                        </a:rPr>
                        <a:t>Smoke-train in CI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050" dirty="0">
                          <a:latin typeface="Georgia" panose="02040502050405020303" pitchFamily="18" charset="0"/>
                        </a:rPr>
                        <a:t>CI trains on a tiny random sample just to check pipeline runs end-to-end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050" dirty="0">
                          <a:latin typeface="Georgia" panose="02040502050405020303" pitchFamily="18" charset="0"/>
                        </a:rPr>
                        <a:t>Large models/ datasets – code path is validated cheaply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50" dirty="0">
                          <a:latin typeface="Georgia" panose="02040502050405020303" pitchFamily="18" charset="0"/>
                        </a:rPr>
                        <a:t>Too weak to assert quality thresholds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50" dirty="0">
                          <a:latin typeface="Georgia" panose="02040502050405020303" pitchFamily="18" charset="0"/>
                        </a:rPr>
                        <a:t>Only structural correctness is tested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55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1050" dirty="0">
                          <a:latin typeface="Georgia" panose="02040502050405020303" pitchFamily="18" charset="0"/>
                        </a:rPr>
                        <a:t>Skip training in CI</a:t>
                      </a:r>
                    </a:p>
                    <a:p>
                      <a:r>
                        <a:rPr lang="en-DE" sz="1050" dirty="0">
                          <a:latin typeface="Georgia" panose="02040502050405020303" pitchFamily="18" charset="0"/>
                        </a:rPr>
                        <a:t>Test committed artifact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050" dirty="0">
                          <a:latin typeface="Georgia" panose="02040502050405020303" pitchFamily="18" charset="0"/>
                        </a:rPr>
                        <a:t>.pt file is committed or pulled from a model registry.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050" dirty="0">
                          <a:latin typeface="Georgia" panose="02040502050405020303" pitchFamily="18" charset="0"/>
                        </a:rPr>
                        <a:t>Want a fast CI and comfortable that artificat was validated by CT Pipeline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50" dirty="0">
                          <a:latin typeface="Georgia" panose="02040502050405020303" pitchFamily="18" charset="0"/>
                        </a:rPr>
                        <a:t>Testing stale artifact, not model code produces.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50" dirty="0">
                          <a:latin typeface="Georgia" panose="02040502050405020303" pitchFamily="18" charset="0"/>
                        </a:rPr>
                        <a:t>Uncommitted weight changes are invisible to CI.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1124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1050" dirty="0">
                          <a:latin typeface="Georgia" panose="02040502050405020303" pitchFamily="18" charset="0"/>
                        </a:rPr>
                        <a:t>Separate 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050" dirty="0">
                          <a:latin typeface="Georgia" panose="02040502050405020303" pitchFamily="18" charset="0"/>
                        </a:rPr>
                        <a:t>CI only runs unit + data tests</a:t>
                      </a:r>
                    </a:p>
                    <a:p>
                      <a:r>
                        <a:rPr lang="en-GB" sz="1050" dirty="0">
                          <a:latin typeface="Georgia" panose="02040502050405020303" pitchFamily="18" charset="0"/>
                        </a:rPr>
                        <a:t>D</a:t>
                      </a:r>
                      <a:r>
                        <a:rPr lang="en-DE" sz="1050" dirty="0">
                          <a:latin typeface="Georgia" panose="02040502050405020303" pitchFamily="18" charset="0"/>
                        </a:rPr>
                        <a:t>edicated CT pipline handles retraining and quality gates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050" dirty="0">
                          <a:latin typeface="Georgia" panose="02040502050405020303" pitchFamily="18" charset="0"/>
                        </a:rPr>
                        <a:t>Models that take hours to train</a:t>
                      </a:r>
                    </a:p>
                    <a:p>
                      <a:r>
                        <a:rPr lang="en-DE" sz="1050" dirty="0">
                          <a:latin typeface="Georgia" panose="02040502050405020303" pitchFamily="18" charset="0"/>
                        </a:rPr>
                        <a:t>GPU workloads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050" dirty="0">
                          <a:latin typeface="Georgia" panose="02040502050405020303" pitchFamily="18" charset="0"/>
                        </a:rPr>
                        <a:t>Longer feedback loop – bad change may not be caught until the next CT run.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1138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1050" dirty="0">
                          <a:latin typeface="Georgia" panose="02040502050405020303" pitchFamily="18" charset="0"/>
                        </a:rPr>
                        <a:t>Artifact caching/ incremental training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050" dirty="0">
                          <a:latin typeface="Georgia" panose="02040502050405020303" pitchFamily="18" charset="0"/>
                        </a:rPr>
                        <a:t>CI checks whether inputs (code hash + data hash) changed since last run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050" dirty="0">
                          <a:latin typeface="Georgia" panose="02040502050405020303" pitchFamily="18" charset="0"/>
                        </a:rPr>
                        <a:t>Stable slow changing data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050" dirty="0">
                          <a:latin typeface="Georgia" panose="02040502050405020303" pitchFamily="18" charset="0"/>
                        </a:rPr>
                        <a:t>Cache invalidation is subtle</a:t>
                      </a:r>
                    </a:p>
                    <a:p>
                      <a:r>
                        <a:rPr lang="en-DE" sz="1050" dirty="0">
                          <a:latin typeface="Georgia" panose="02040502050405020303" pitchFamily="18" charset="0"/>
                        </a:rPr>
                        <a:t>Dependency upgrade that changes model behaviou may not change the hash.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7892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28258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9B3A4F-D204-E93E-8FC6-8A1B1FEB0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A9126BAF-B72A-0457-F6C4-CFC448664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GitHub Actions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FCB3B074-8213-9E0D-7570-EDA3CD0B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9E02D687-8DF4-4986-5D40-95406ED1F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793C8C7C-2000-DB36-82C0-5032F3B8F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49569988-5C78-105F-8181-6121B2623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3DFD9C-D463-7BE9-3E0B-9357D9908E48}"/>
              </a:ext>
            </a:extLst>
          </p:cNvPr>
          <p:cNvSpPr txBox="1"/>
          <p:nvPr/>
        </p:nvSpPr>
        <p:spPr>
          <a:xfrm>
            <a:off x="347472" y="1335024"/>
            <a:ext cx="81103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200" b="1" dirty="0">
                <a:latin typeface="Georgia" panose="02040502050405020303" pitchFamily="18" charset="0"/>
              </a:rPr>
              <a:t>Current industry consensus: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Keep CI fast (target &lt; 10 minutes)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Long CI pipelines get disabled or bypassed.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Use smoke test to validate training code path in CI.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Assert only that the model’s loss is moving the right direction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Run full retraining and quality gates in a separate CT pipeline.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Gate deployment on CT outcome not CI.</a:t>
            </a:r>
          </a:p>
          <a:p>
            <a:endParaRPr lang="en-DE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BA5280-0CA0-2BD9-D1FA-49DD5529E4FA}"/>
              </a:ext>
            </a:extLst>
          </p:cNvPr>
          <p:cNvSpPr txBox="1"/>
          <p:nvPr/>
        </p:nvSpPr>
        <p:spPr>
          <a:xfrm>
            <a:off x="457560" y="3319272"/>
            <a:ext cx="8000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200" b="1" dirty="0">
                <a:latin typeface="Georgia" panose="02040502050405020303" pitchFamily="18" charset="0"/>
              </a:rPr>
              <a:t>Rule of thumb:</a:t>
            </a:r>
          </a:p>
          <a:p>
            <a:r>
              <a:rPr lang="en-DE" sz="1200" dirty="0">
                <a:latin typeface="Georgia" panose="02040502050405020303" pitchFamily="18" charset="0"/>
              </a:rPr>
              <a:t>If a full training run takes more than a few minutes, introduce a smoke-train step in CI and move full retraining to a scheduled CT popeline. Split keeps CI fast, while preserving reproducibility and quality guarantees that matter most.</a:t>
            </a:r>
          </a:p>
        </p:txBody>
      </p:sp>
    </p:spTree>
    <p:extLst>
      <p:ext uri="{BB962C8B-B14F-4D97-AF65-F5344CB8AC3E}">
        <p14:creationId xmlns:p14="http://schemas.microsoft.com/office/powerpoint/2010/main" val="6018453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D93B47-BE1D-7EA7-70B8-0A3120773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2E7570E9-8367-0435-21B1-D03340ABF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GitHub Actions: Exercise 3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64505800-E755-3DFE-4816-F3F13281B4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4330A62F-6959-9410-6ADC-5ED39A269D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14D7D390-03CE-93C5-851D-94AAB9AA7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64D46F65-A46E-BDF4-9AEA-7E15C3CBC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281F59-79C6-C9C4-449F-FFE5B801FB89}"/>
              </a:ext>
            </a:extLst>
          </p:cNvPr>
          <p:cNvSpPr txBox="1"/>
          <p:nvPr/>
        </p:nvSpPr>
        <p:spPr>
          <a:xfrm>
            <a:off x="347472" y="1335024"/>
            <a:ext cx="81103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200" b="1" dirty="0">
                <a:latin typeface="Georgia" panose="02040502050405020303" pitchFamily="18" charset="0"/>
              </a:rPr>
              <a:t>P</a:t>
            </a:r>
            <a:r>
              <a:rPr lang="en-GB" sz="1200" b="1" dirty="0">
                <a:latin typeface="Georgia" panose="02040502050405020303" pitchFamily="18" charset="0"/>
              </a:rPr>
              <a:t>l</a:t>
            </a:r>
            <a:r>
              <a:rPr lang="en-DE" sz="1200" b="1" dirty="0">
                <a:latin typeface="Georgia" panose="02040502050405020303" pitchFamily="18" charset="0"/>
              </a:rPr>
              <a:t>ease go to </a:t>
            </a:r>
            <a:r>
              <a:rPr lang="en-GB" sz="1200" dirty="0">
                <a:latin typeface="Georgia" panose="02040502050405020303" pitchFamily="18" charset="0"/>
              </a:rPr>
              <a:t>day2/Session_3</a:t>
            </a:r>
            <a:r>
              <a:rPr lang="en-DE" sz="1200" b="1" dirty="0">
                <a:latin typeface="Georgia" panose="02040502050405020303" pitchFamily="18" charset="0"/>
              </a:rPr>
              <a:t> </a:t>
            </a:r>
            <a:endParaRPr lang="en-DE" sz="1200" dirty="0">
              <a:latin typeface="Georgia" panose="02040502050405020303" pitchFamily="18" charset="0"/>
            </a:endParaRPr>
          </a:p>
          <a:p>
            <a:endParaRPr lang="en-DE" sz="1200" dirty="0"/>
          </a:p>
        </p:txBody>
      </p:sp>
    </p:spTree>
    <p:extLst>
      <p:ext uri="{BB962C8B-B14F-4D97-AF65-F5344CB8AC3E}">
        <p14:creationId xmlns:p14="http://schemas.microsoft.com/office/powerpoint/2010/main" val="30463141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DA6D7A-B5EC-4128-7BC9-4641B3414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28628C5-BAB6-2E9C-1D41-78A5D7039F2C}"/>
              </a:ext>
            </a:extLst>
          </p:cNvPr>
          <p:cNvSpPr/>
          <p:nvPr/>
        </p:nvSpPr>
        <p:spPr>
          <a:xfrm>
            <a:off x="6496120" y="1696374"/>
            <a:ext cx="1206648" cy="100053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DE" dirty="0"/>
              <a:t>Runner 1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6B42ED1C-CB39-1239-388E-DEE418CBD3D2}"/>
              </a:ext>
            </a:extLst>
          </p:cNvPr>
          <p:cNvSpPr/>
          <p:nvPr/>
        </p:nvSpPr>
        <p:spPr>
          <a:xfrm>
            <a:off x="5051794" y="1689934"/>
            <a:ext cx="1206648" cy="100053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DE" dirty="0"/>
              <a:t>Runner 1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4BA537C-C06B-47FC-57E0-F927698DE5A7}"/>
              </a:ext>
            </a:extLst>
          </p:cNvPr>
          <p:cNvSpPr/>
          <p:nvPr/>
        </p:nvSpPr>
        <p:spPr>
          <a:xfrm>
            <a:off x="3720642" y="1696279"/>
            <a:ext cx="1206648" cy="100053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DE" dirty="0"/>
              <a:t>Runner 1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91A97FB-7220-3ABB-BA37-D31D12F02FA5}"/>
              </a:ext>
            </a:extLst>
          </p:cNvPr>
          <p:cNvSpPr/>
          <p:nvPr/>
        </p:nvSpPr>
        <p:spPr>
          <a:xfrm>
            <a:off x="2276316" y="1696279"/>
            <a:ext cx="1206648" cy="100053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DE" dirty="0"/>
              <a:t>Runner 1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0F3C62E-4947-1F40-FD3A-562BCBFEABBA}"/>
              </a:ext>
            </a:extLst>
          </p:cNvPr>
          <p:cNvSpPr/>
          <p:nvPr/>
        </p:nvSpPr>
        <p:spPr>
          <a:xfrm>
            <a:off x="347472" y="1696279"/>
            <a:ext cx="1206648" cy="239201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DE" dirty="0"/>
              <a:t>Runner</a:t>
            </a:r>
          </a:p>
        </p:txBody>
      </p:sp>
      <p:sp>
        <p:nvSpPr>
          <p:cNvPr id="60" name="PlaceHolder 1">
            <a:extLst>
              <a:ext uri="{FF2B5EF4-FFF2-40B4-BE49-F238E27FC236}">
                <a16:creationId xmlns:a16="http://schemas.microsoft.com/office/drawing/2014/main" id="{13BDA4DB-7D8E-7735-ACEF-0CD69E8C5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GitHub Actions: Sharding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4B5FB911-65F6-C859-08C8-634A7DCEF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9B7FB0C2-F9CA-ED0C-50D0-DE7BFC640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EF4E2C3B-EE3C-FAB5-9C5D-902E7EFE3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B32B39A1-4B48-8910-5CF7-9F2F847EE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F461ED-16D0-B153-F3A5-BB24D89B9047}"/>
              </a:ext>
            </a:extLst>
          </p:cNvPr>
          <p:cNvSpPr txBox="1"/>
          <p:nvPr/>
        </p:nvSpPr>
        <p:spPr>
          <a:xfrm>
            <a:off x="347472" y="1335024"/>
            <a:ext cx="81103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200" b="1" dirty="0">
                <a:latin typeface="Georgia" panose="02040502050405020303" pitchFamily="18" charset="0"/>
              </a:rPr>
              <a:t>Splitting </a:t>
            </a:r>
            <a:r>
              <a:rPr lang="en-DE" sz="1200" dirty="0">
                <a:latin typeface="Georgia" panose="02040502050405020303" pitchFamily="18" charset="0"/>
              </a:rPr>
              <a:t>one unit of work into </a:t>
            </a:r>
            <a:r>
              <a:rPr lang="en-DE" sz="1200" b="1" dirty="0">
                <a:latin typeface="Georgia" panose="02040502050405020303" pitchFamily="18" charset="0"/>
              </a:rPr>
              <a:t>N independent pieces </a:t>
            </a:r>
            <a:r>
              <a:rPr lang="en-DE" sz="1200" dirty="0">
                <a:latin typeface="Georgia" panose="02040502050405020303" pitchFamily="18" charset="0"/>
              </a:rPr>
              <a:t>that run on </a:t>
            </a:r>
            <a:r>
              <a:rPr lang="en-DE" sz="1200" b="1" dirty="0">
                <a:latin typeface="Georgia" panose="02040502050405020303" pitchFamily="18" charset="0"/>
              </a:rPr>
              <a:t>N parallel runners</a:t>
            </a:r>
            <a:r>
              <a:rPr lang="en-DE" sz="1200" dirty="0">
                <a:latin typeface="Georgia" panose="02040502050405020303" pitchFamily="18" charset="0"/>
              </a:rPr>
              <a:t>, then merging the results.</a:t>
            </a:r>
            <a:r>
              <a:rPr lang="en-DE" sz="1200" b="1" dirty="0">
                <a:latin typeface="Georgia" panose="02040502050405020303" pitchFamily="18" charset="0"/>
              </a:rPr>
              <a:t>  </a:t>
            </a:r>
            <a:endParaRPr lang="en-DE" sz="1200" dirty="0">
              <a:latin typeface="Georgia" panose="02040502050405020303" pitchFamily="18" charset="0"/>
            </a:endParaRPr>
          </a:p>
          <a:p>
            <a:endParaRPr lang="en-DE" sz="1200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F30D0E1-A478-33F0-C7B9-48D599004C3C}"/>
              </a:ext>
            </a:extLst>
          </p:cNvPr>
          <p:cNvSpPr/>
          <p:nvPr/>
        </p:nvSpPr>
        <p:spPr>
          <a:xfrm>
            <a:off x="457560" y="2054086"/>
            <a:ext cx="980301" cy="2186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000" dirty="0"/>
              <a:t>Test 1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68D64B7-404D-383C-691B-4F3E7A8891C6}"/>
              </a:ext>
            </a:extLst>
          </p:cNvPr>
          <p:cNvSpPr/>
          <p:nvPr/>
        </p:nvSpPr>
        <p:spPr>
          <a:xfrm>
            <a:off x="457560" y="2296616"/>
            <a:ext cx="980301" cy="2186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000" dirty="0"/>
              <a:t>Test 2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5548E9D-85CF-9D6B-2FF8-C30303399F17}"/>
              </a:ext>
            </a:extLst>
          </p:cNvPr>
          <p:cNvSpPr/>
          <p:nvPr/>
        </p:nvSpPr>
        <p:spPr>
          <a:xfrm>
            <a:off x="457560" y="2539146"/>
            <a:ext cx="980301" cy="2186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000" dirty="0"/>
              <a:t>Test 3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3D6D41F-862A-ADE3-0AFA-BDDADD9A3F5A}"/>
              </a:ext>
            </a:extLst>
          </p:cNvPr>
          <p:cNvSpPr/>
          <p:nvPr/>
        </p:nvSpPr>
        <p:spPr>
          <a:xfrm>
            <a:off x="457560" y="2781676"/>
            <a:ext cx="980301" cy="2186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000" dirty="0"/>
              <a:t>Test 4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48DAF49-01E2-624A-3CC1-4FB370CEF2B8}"/>
              </a:ext>
            </a:extLst>
          </p:cNvPr>
          <p:cNvSpPr/>
          <p:nvPr/>
        </p:nvSpPr>
        <p:spPr>
          <a:xfrm>
            <a:off x="457560" y="3024206"/>
            <a:ext cx="980301" cy="2186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000" dirty="0"/>
              <a:t>Test 5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A57050A-C748-CF01-3CBB-595995094084}"/>
              </a:ext>
            </a:extLst>
          </p:cNvPr>
          <p:cNvSpPr/>
          <p:nvPr/>
        </p:nvSpPr>
        <p:spPr>
          <a:xfrm>
            <a:off x="464186" y="3266736"/>
            <a:ext cx="980301" cy="2186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000" dirty="0"/>
              <a:t>Test 6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96F5A65-C253-719A-7F28-41D08A252A99}"/>
              </a:ext>
            </a:extLst>
          </p:cNvPr>
          <p:cNvSpPr/>
          <p:nvPr/>
        </p:nvSpPr>
        <p:spPr>
          <a:xfrm>
            <a:off x="464186" y="3527447"/>
            <a:ext cx="980301" cy="2186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000" dirty="0"/>
              <a:t>Test 7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4120184-B9E5-8D6D-35BE-22A8575B29AB}"/>
              </a:ext>
            </a:extLst>
          </p:cNvPr>
          <p:cNvSpPr/>
          <p:nvPr/>
        </p:nvSpPr>
        <p:spPr>
          <a:xfrm>
            <a:off x="464186" y="3788158"/>
            <a:ext cx="980301" cy="2186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000" dirty="0"/>
              <a:t>Test 8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613DB5B-9483-77F3-5078-BE1DD980FA44}"/>
              </a:ext>
            </a:extLst>
          </p:cNvPr>
          <p:cNvSpPr/>
          <p:nvPr/>
        </p:nvSpPr>
        <p:spPr>
          <a:xfrm>
            <a:off x="2389489" y="2080873"/>
            <a:ext cx="980301" cy="2186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000" dirty="0"/>
              <a:t>Test 1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2F7DB54-A5B1-FC2D-EF19-A5740B7C6772}"/>
              </a:ext>
            </a:extLst>
          </p:cNvPr>
          <p:cNvSpPr/>
          <p:nvPr/>
        </p:nvSpPr>
        <p:spPr>
          <a:xfrm>
            <a:off x="2389488" y="2341532"/>
            <a:ext cx="980301" cy="2186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000" dirty="0"/>
              <a:t>Test 2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F7C5E5E-54BF-E2BE-D603-97CF6ADD95A3}"/>
              </a:ext>
            </a:extLst>
          </p:cNvPr>
          <p:cNvSpPr/>
          <p:nvPr/>
        </p:nvSpPr>
        <p:spPr>
          <a:xfrm>
            <a:off x="3777229" y="2080873"/>
            <a:ext cx="980301" cy="2186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000" dirty="0"/>
              <a:t>Test 3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F63E50F-470C-5935-24CC-257FDE35DBDF}"/>
              </a:ext>
            </a:extLst>
          </p:cNvPr>
          <p:cNvSpPr/>
          <p:nvPr/>
        </p:nvSpPr>
        <p:spPr>
          <a:xfrm>
            <a:off x="3777229" y="2341532"/>
            <a:ext cx="980301" cy="2186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000" dirty="0"/>
              <a:t>Test 4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022E6B8-D359-676D-4C14-46546DA24559}"/>
              </a:ext>
            </a:extLst>
          </p:cNvPr>
          <p:cNvSpPr/>
          <p:nvPr/>
        </p:nvSpPr>
        <p:spPr>
          <a:xfrm>
            <a:off x="5164969" y="2080873"/>
            <a:ext cx="980301" cy="2186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000" dirty="0"/>
              <a:t>Test 5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7A0EF0E-5605-F812-FF28-FF926C34F9B2}"/>
              </a:ext>
            </a:extLst>
          </p:cNvPr>
          <p:cNvSpPr/>
          <p:nvPr/>
        </p:nvSpPr>
        <p:spPr>
          <a:xfrm>
            <a:off x="5164968" y="2341532"/>
            <a:ext cx="980301" cy="2186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000" dirty="0"/>
              <a:t>Test 6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3E1665F-0E8C-A5FD-7C4B-71CDEFC705E3}"/>
              </a:ext>
            </a:extLst>
          </p:cNvPr>
          <p:cNvSpPr/>
          <p:nvPr/>
        </p:nvSpPr>
        <p:spPr>
          <a:xfrm>
            <a:off x="6552709" y="2094404"/>
            <a:ext cx="980301" cy="2186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000" dirty="0"/>
              <a:t>Test 7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736C91B-28C5-9E9F-9006-7F393381AD7B}"/>
              </a:ext>
            </a:extLst>
          </p:cNvPr>
          <p:cNvSpPr/>
          <p:nvPr/>
        </p:nvSpPr>
        <p:spPr>
          <a:xfrm>
            <a:off x="6552707" y="2345026"/>
            <a:ext cx="980301" cy="2186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000" dirty="0"/>
              <a:t>Test 8</a:t>
            </a: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BE6393BC-D13C-00D8-5E3C-58B3DE533915}"/>
              </a:ext>
            </a:extLst>
          </p:cNvPr>
          <p:cNvSpPr/>
          <p:nvPr/>
        </p:nvSpPr>
        <p:spPr>
          <a:xfrm>
            <a:off x="1736035" y="2163416"/>
            <a:ext cx="424022" cy="1781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24F3AE31-F289-FDAB-D9F4-E4B07ADBA0A2}"/>
              </a:ext>
            </a:extLst>
          </p:cNvPr>
          <p:cNvSpPr/>
          <p:nvPr/>
        </p:nvSpPr>
        <p:spPr>
          <a:xfrm rot="16200000">
            <a:off x="4707731" y="1052865"/>
            <a:ext cx="669282" cy="4161341"/>
          </a:xfrm>
          <a:prstGeom prst="leftBrace">
            <a:avLst/>
          </a:prstGeom>
          <a:ln w="762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27BDCB26-7013-ECA3-7B10-C9B9C5015307}"/>
              </a:ext>
            </a:extLst>
          </p:cNvPr>
          <p:cNvSpPr/>
          <p:nvPr/>
        </p:nvSpPr>
        <p:spPr>
          <a:xfrm>
            <a:off x="4333461" y="3527447"/>
            <a:ext cx="1426957" cy="32231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/>
              <a:t>Results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7D40FFB2-07E9-00AC-1C52-1405C400608A}"/>
              </a:ext>
            </a:extLst>
          </p:cNvPr>
          <p:cNvSpPr/>
          <p:nvPr/>
        </p:nvSpPr>
        <p:spPr>
          <a:xfrm>
            <a:off x="240857" y="4354696"/>
            <a:ext cx="1426957" cy="32231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/>
              <a:t>Results</a:t>
            </a:r>
          </a:p>
        </p:txBody>
      </p:sp>
      <p:sp>
        <p:nvSpPr>
          <p:cNvPr id="29" name="Down Arrow 28">
            <a:extLst>
              <a:ext uri="{FF2B5EF4-FFF2-40B4-BE49-F238E27FC236}">
                <a16:creationId xmlns:a16="http://schemas.microsoft.com/office/drawing/2014/main" id="{BFA96344-283A-CF0F-8392-094F443895A1}"/>
              </a:ext>
            </a:extLst>
          </p:cNvPr>
          <p:cNvSpPr/>
          <p:nvPr/>
        </p:nvSpPr>
        <p:spPr>
          <a:xfrm>
            <a:off x="831842" y="4112166"/>
            <a:ext cx="244986" cy="19878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060124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Safe Deployment Strategies</a:t>
            </a:r>
          </a:p>
        </p:txBody>
      </p:sp>
      <p:sp>
        <p:nvSpPr>
          <p:cNvPr id="7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/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F2630"/>
                </a:solidFill>
                <a:latin typeface="Georgia"/>
              </a:rPr>
              <a:t>A worse new model fails silently.</a:t>
            </a:r>
          </a:p>
          <a:p>
            <a:pPr marL="742950" lvl="1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Pipeline is successful, but predictions are subtly wrong and business metrics quietly degrade.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Need strategies that go beyond simple deployment.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F2630"/>
                </a:solidFill>
                <a:latin typeface="Georgia"/>
              </a:rPr>
              <a:t>Core principle underlying everything:</a:t>
            </a:r>
          </a:p>
          <a:p>
            <a:pPr marL="742950" lvl="1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Expose the new model to a small</a:t>
            </a:r>
            <a:r>
              <a:rPr lang="en-US" sz="1500" dirty="0">
                <a:solidFill>
                  <a:srgbClr val="1F2630"/>
                </a:solidFill>
                <a:latin typeface="Georgia"/>
              </a:rPr>
              <a:t>, controlled fraction of traffic first</a:t>
            </a:r>
          </a:p>
          <a:p>
            <a:pPr marL="742950" lvl="1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Measure real-world </a:t>
            </a:r>
            <a:r>
              <a:rPr lang="en-US" sz="1500" u="none" strike="noStrike" dirty="0" err="1">
                <a:solidFill>
                  <a:srgbClr val="1F2630"/>
                </a:solidFill>
                <a:effectLst/>
                <a:uFillTx/>
                <a:latin typeface="Georgia"/>
              </a:rPr>
              <a:t>behaviour</a:t>
            </a:r>
            <a:endParaRPr lang="en-US" sz="1500" u="none" strike="noStrike" dirty="0">
              <a:solidFill>
                <a:srgbClr val="1F2630"/>
              </a:solidFill>
              <a:effectLst/>
              <a:uFillTx/>
              <a:latin typeface="Georgia"/>
            </a:endParaRPr>
          </a:p>
          <a:p>
            <a:pPr marL="742950" lvl="1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Only widen rollout </a:t>
            </a:r>
            <a:r>
              <a:rPr lang="en-US" sz="1500" dirty="0">
                <a:solidFill>
                  <a:srgbClr val="1F2630"/>
                </a:solidFill>
                <a:latin typeface="Georgia"/>
              </a:rPr>
              <a:t>once confident that it is not worse than what it replaces.</a:t>
            </a:r>
            <a:endParaRPr lang="en-US" sz="1500" u="none" strike="noStrike" dirty="0">
              <a:solidFill>
                <a:srgbClr val="1F2630"/>
              </a:solidFill>
              <a:effectLst/>
              <a:uFillTx/>
              <a:latin typeface="Georgi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648B91-FCBF-17E0-6481-B4F3EAB68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C4E21A88-603E-46E0-F33F-7A3423542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Shadow/ dark launch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722780EC-6CF2-F723-989C-4FB03E4128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FD1593CA-2F0A-C0BF-2D50-A07913E79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7DCF382A-1DFB-4B13-64FA-236E2EBC7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C8040396-6EF0-6202-31FA-D9DB4C798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>
            <a:extLst>
              <a:ext uri="{FF2B5EF4-FFF2-40B4-BE49-F238E27FC236}">
                <a16:creationId xmlns:a16="http://schemas.microsoft.com/office/drawing/2014/main" id="{3A242406-8470-7EE7-76CC-E709F112F2C9}"/>
              </a:ext>
            </a:extLst>
          </p:cNvPr>
          <p:cNvSpPr/>
          <p:nvPr/>
        </p:nvSpPr>
        <p:spPr>
          <a:xfrm>
            <a:off x="0" y="1217835"/>
            <a:ext cx="8686440" cy="142911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New model runs in production and receives same requests as the live model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630"/>
                </a:solidFill>
                <a:latin typeface="Georgia"/>
              </a:rPr>
              <a:t>Predictions are discarded – never used or acted upon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630"/>
                </a:solidFill>
                <a:latin typeface="Georgia"/>
              </a:rPr>
              <a:t>Can monitor how model behaves in live environment -  edge cases, unusual inputs, full input distribution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No user-facing risk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630"/>
                </a:solidFill>
                <a:latin typeface="Georgia"/>
              </a:rPr>
              <a:t>Use when model is a significant architectural change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Cannot measure business outcomes because shadow predictions are never acted upon.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500" u="none" strike="noStrike" dirty="0">
              <a:solidFill>
                <a:srgbClr val="1F2630"/>
              </a:solidFill>
              <a:effectLst/>
              <a:uFillTx/>
              <a:latin typeface="Georgia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51D5A13-8291-EB2A-16A0-4165724869D1}"/>
              </a:ext>
            </a:extLst>
          </p:cNvPr>
          <p:cNvSpPr/>
          <p:nvPr/>
        </p:nvSpPr>
        <p:spPr>
          <a:xfrm>
            <a:off x="1234800" y="3602430"/>
            <a:ext cx="969264" cy="3086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100" dirty="0"/>
              <a:t>User request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B06AF1-29F1-D069-7319-5E238AFD638A}"/>
              </a:ext>
            </a:extLst>
          </p:cNvPr>
          <p:cNvSpPr/>
          <p:nvPr/>
        </p:nvSpPr>
        <p:spPr>
          <a:xfrm>
            <a:off x="2943648" y="3453300"/>
            <a:ext cx="1554480" cy="60121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dirty="0">
                <a:solidFill>
                  <a:sysClr val="windowText" lastClr="000000"/>
                </a:solidFill>
              </a:rPr>
              <a:t>Load/ balancer routing layer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37541E-8941-57DB-1D91-D7B3FF8EF1D7}"/>
              </a:ext>
            </a:extLst>
          </p:cNvPr>
          <p:cNvSpPr/>
          <p:nvPr/>
        </p:nvSpPr>
        <p:spPr>
          <a:xfrm>
            <a:off x="5668920" y="2813940"/>
            <a:ext cx="1554480" cy="60121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900" dirty="0">
                <a:solidFill>
                  <a:sysClr val="windowText" lastClr="000000"/>
                </a:solidFill>
              </a:rPr>
              <a:t>Model v1</a:t>
            </a:r>
          </a:p>
          <a:p>
            <a:pPr algn="ctr"/>
            <a:r>
              <a:rPr lang="en-DE" sz="900" dirty="0">
                <a:solidFill>
                  <a:sysClr val="windowText" lastClr="000000"/>
                </a:solidFill>
              </a:rPr>
              <a:t>(live)</a:t>
            </a:r>
          </a:p>
          <a:p>
            <a:pPr algn="ctr"/>
            <a:r>
              <a:rPr lang="en-DE" sz="900" dirty="0">
                <a:solidFill>
                  <a:sysClr val="windowText" lastClr="000000"/>
                </a:solidFill>
              </a:rPr>
              <a:t>Sends prediction downstream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87204F-528A-BFEA-604F-387420DF6FA6}"/>
              </a:ext>
            </a:extLst>
          </p:cNvPr>
          <p:cNvSpPr/>
          <p:nvPr/>
        </p:nvSpPr>
        <p:spPr>
          <a:xfrm>
            <a:off x="5668920" y="4054518"/>
            <a:ext cx="1554480" cy="60121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900" dirty="0">
                <a:solidFill>
                  <a:sysClr val="windowText" lastClr="000000"/>
                </a:solidFill>
              </a:rPr>
              <a:t>Model v2</a:t>
            </a:r>
          </a:p>
          <a:p>
            <a:pPr algn="ctr"/>
            <a:r>
              <a:rPr lang="en-DE" sz="900" dirty="0">
                <a:solidFill>
                  <a:sysClr val="windowText" lastClr="000000"/>
                </a:solidFill>
              </a:rPr>
              <a:t>(shadow)</a:t>
            </a:r>
          </a:p>
          <a:p>
            <a:pPr algn="ctr"/>
            <a:r>
              <a:rPr lang="en-DE" sz="900" dirty="0">
                <a:solidFill>
                  <a:sysClr val="windowText" lastClr="000000"/>
                </a:solidFill>
              </a:rPr>
              <a:t>Prediction logged only, not sent downstream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CCD5E5A-2B53-DEDA-F223-E8D9A49CFED6}"/>
              </a:ext>
            </a:extLst>
          </p:cNvPr>
          <p:cNvCxnSpPr>
            <a:stCxn id="2" idx="3"/>
            <a:endCxn id="3" idx="1"/>
          </p:cNvCxnSpPr>
          <p:nvPr/>
        </p:nvCxnSpPr>
        <p:spPr>
          <a:xfrm flipV="1">
            <a:off x="2204064" y="3753909"/>
            <a:ext cx="739584" cy="28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EB34EB20-178C-E98B-295B-0889C9FF9477}"/>
              </a:ext>
            </a:extLst>
          </p:cNvPr>
          <p:cNvCxnSpPr>
            <a:stCxn id="3" idx="3"/>
            <a:endCxn id="4" idx="1"/>
          </p:cNvCxnSpPr>
          <p:nvPr/>
        </p:nvCxnSpPr>
        <p:spPr>
          <a:xfrm flipV="1">
            <a:off x="4498128" y="3114549"/>
            <a:ext cx="1170792" cy="639360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655DDE02-AF20-9EE3-E087-684640285801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4498128" y="3753909"/>
            <a:ext cx="1170792" cy="601218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759959E-FF34-14FE-5A46-650F88038741}"/>
              </a:ext>
            </a:extLst>
          </p:cNvPr>
          <p:cNvSpPr/>
          <p:nvPr/>
        </p:nvSpPr>
        <p:spPr>
          <a:xfrm>
            <a:off x="4652316" y="3590460"/>
            <a:ext cx="1170792" cy="3086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100" dirty="0"/>
              <a:t>Copy of request</a:t>
            </a:r>
          </a:p>
        </p:txBody>
      </p:sp>
    </p:spTree>
    <p:extLst>
      <p:ext uri="{BB962C8B-B14F-4D97-AF65-F5344CB8AC3E}">
        <p14:creationId xmlns:p14="http://schemas.microsoft.com/office/powerpoint/2010/main" val="27901431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F153B9-1FA0-917E-B3EA-A6B4D5D52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40623D12-65F2-90E0-F6BB-BEC4A9AE1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Canary release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D99DF730-CA19-2ABF-A787-A187F7F489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824F2C82-292A-11FB-D29B-C52A9006CD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0D568E51-881B-3013-3045-9466ABD32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0DADD3C0-938F-8D80-096A-9AF805C723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>
            <a:extLst>
              <a:ext uri="{FF2B5EF4-FFF2-40B4-BE49-F238E27FC236}">
                <a16:creationId xmlns:a16="http://schemas.microsoft.com/office/drawing/2014/main" id="{96CB8865-35D6-7D28-234A-BEF0DEC9A5F2}"/>
              </a:ext>
            </a:extLst>
          </p:cNvPr>
          <p:cNvSpPr/>
          <p:nvPr/>
        </p:nvSpPr>
        <p:spPr>
          <a:xfrm>
            <a:off x="0" y="1217835"/>
            <a:ext cx="8686440" cy="142911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630"/>
                </a:solidFill>
                <a:latin typeface="Georgia"/>
              </a:rPr>
              <a:t>A small percentage of live traffic – 1-5% routed to new model.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630"/>
                </a:solidFill>
                <a:latin typeface="Georgia"/>
              </a:rPr>
              <a:t>If model performs as well as old one across set of metrics, percentage is gradually increased.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Default strategy for iterative model updates, where change is incremental and new model is expected to be similar to old one.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630"/>
                </a:solidFill>
                <a:latin typeface="Georgia"/>
              </a:rPr>
              <a:t>Requires infrastructure to split traffic.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Canary population must be large enough </a:t>
            </a:r>
            <a:r>
              <a:rPr lang="en-US" sz="1200" dirty="0">
                <a:solidFill>
                  <a:srgbClr val="1F2630"/>
                </a:solidFill>
                <a:latin typeface="Georgia"/>
              </a:rPr>
              <a:t>to produce data for enough statistically meaningful work.</a:t>
            </a:r>
            <a:endParaRPr lang="en-US" sz="1500" u="none" strike="noStrike" dirty="0">
              <a:solidFill>
                <a:srgbClr val="1F2630"/>
              </a:solidFill>
              <a:effectLst/>
              <a:uFillTx/>
              <a:latin typeface="Georgia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62903F5-EF4C-07E7-66F0-3752CF4753F3}"/>
              </a:ext>
            </a:extLst>
          </p:cNvPr>
          <p:cNvSpPr/>
          <p:nvPr/>
        </p:nvSpPr>
        <p:spPr>
          <a:xfrm>
            <a:off x="466704" y="2708910"/>
            <a:ext cx="969264" cy="3086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100" dirty="0"/>
              <a:t>All request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6A7E26-4635-6466-ABDC-2C9E60942DFB}"/>
              </a:ext>
            </a:extLst>
          </p:cNvPr>
          <p:cNvSpPr/>
          <p:nvPr/>
        </p:nvSpPr>
        <p:spPr>
          <a:xfrm>
            <a:off x="174096" y="3535596"/>
            <a:ext cx="1554480" cy="60121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dirty="0">
                <a:solidFill>
                  <a:sysClr val="windowText" lastClr="000000"/>
                </a:solidFill>
              </a:rPr>
              <a:t>Router / feature flag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224AF3-FEA2-DFE0-025D-4FFAB023E612}"/>
              </a:ext>
            </a:extLst>
          </p:cNvPr>
          <p:cNvSpPr/>
          <p:nvPr/>
        </p:nvSpPr>
        <p:spPr>
          <a:xfrm>
            <a:off x="2267352" y="3180927"/>
            <a:ext cx="1554480" cy="60121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900" dirty="0">
                <a:solidFill>
                  <a:sysClr val="windowText" lastClr="000000"/>
                </a:solidFill>
              </a:rPr>
              <a:t>Model v1</a:t>
            </a:r>
          </a:p>
          <a:p>
            <a:pPr algn="ctr"/>
            <a:r>
              <a:rPr lang="en-DE" sz="900" dirty="0">
                <a:solidFill>
                  <a:sysClr val="windowText" lastClr="000000"/>
                </a:solidFill>
              </a:rPr>
              <a:t>(stable)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646C-C718-3D9D-6066-41642D93A93A}"/>
              </a:ext>
            </a:extLst>
          </p:cNvPr>
          <p:cNvSpPr/>
          <p:nvPr/>
        </p:nvSpPr>
        <p:spPr>
          <a:xfrm>
            <a:off x="2267352" y="3891069"/>
            <a:ext cx="1554480" cy="60121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900" dirty="0">
                <a:solidFill>
                  <a:sysClr val="windowText" lastClr="000000"/>
                </a:solidFill>
              </a:rPr>
              <a:t>Model v2</a:t>
            </a:r>
          </a:p>
          <a:p>
            <a:pPr algn="ctr"/>
            <a:r>
              <a:rPr lang="en-DE" sz="900" dirty="0">
                <a:solidFill>
                  <a:sysClr val="windowText" lastClr="000000"/>
                </a:solidFill>
              </a:rPr>
              <a:t>(canary)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B5A1C0C-16EA-F5AF-D85A-5B4D69C0F506}"/>
              </a:ext>
            </a:extLst>
          </p:cNvPr>
          <p:cNvCxnSpPr>
            <a:cxnSpLocks/>
            <a:stCxn id="2" idx="2"/>
            <a:endCxn id="3" idx="0"/>
          </p:cNvCxnSpPr>
          <p:nvPr/>
        </p:nvCxnSpPr>
        <p:spPr>
          <a:xfrm>
            <a:off x="951336" y="3017520"/>
            <a:ext cx="0" cy="5180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95D68893-D1F3-DEAA-2C5A-5EA055FA2969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 flipV="1">
            <a:off x="1728576" y="3481536"/>
            <a:ext cx="538776" cy="354669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795B3444-AD5E-6CF1-3F7D-E1B0FD73814A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>
            <a:off x="1728576" y="3836205"/>
            <a:ext cx="538776" cy="355473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688BEAD-B573-AFF3-E7F9-D27180E3E7EC}"/>
              </a:ext>
            </a:extLst>
          </p:cNvPr>
          <p:cNvSpPr/>
          <p:nvPr/>
        </p:nvSpPr>
        <p:spPr>
          <a:xfrm>
            <a:off x="4551732" y="3681900"/>
            <a:ext cx="1170792" cy="3086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100" dirty="0"/>
              <a:t>Monitoring</a:t>
            </a:r>
          </a:p>
        </p:txBody>
      </p: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593A9A14-252E-7CAC-9C07-F154679DBD47}"/>
              </a:ext>
            </a:extLst>
          </p:cNvPr>
          <p:cNvCxnSpPr>
            <a:stCxn id="5" idx="3"/>
            <a:endCxn id="12" idx="1"/>
          </p:cNvCxnSpPr>
          <p:nvPr/>
        </p:nvCxnSpPr>
        <p:spPr>
          <a:xfrm flipV="1">
            <a:off x="3821832" y="3836205"/>
            <a:ext cx="729900" cy="355473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ED98F0D7-B5D9-4621-5A50-E6B5B9412875}"/>
              </a:ext>
            </a:extLst>
          </p:cNvPr>
          <p:cNvCxnSpPr>
            <a:stCxn id="4" idx="3"/>
            <a:endCxn id="12" idx="1"/>
          </p:cNvCxnSpPr>
          <p:nvPr/>
        </p:nvCxnSpPr>
        <p:spPr>
          <a:xfrm>
            <a:off x="3821832" y="3481536"/>
            <a:ext cx="729900" cy="354669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5916A6C8-950E-0E74-20BE-9D6CC3F98016}"/>
              </a:ext>
            </a:extLst>
          </p:cNvPr>
          <p:cNvSpPr/>
          <p:nvPr/>
        </p:nvSpPr>
        <p:spPr>
          <a:xfrm>
            <a:off x="6049920" y="2784105"/>
            <a:ext cx="1554480" cy="60121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900" dirty="0">
                <a:solidFill>
                  <a:sysClr val="windowText" lastClr="000000"/>
                </a:solidFill>
              </a:rPr>
              <a:t>Metrics OK?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C3F84B1-DF70-59DC-152F-D2BC4656819E}"/>
              </a:ext>
            </a:extLst>
          </p:cNvPr>
          <p:cNvSpPr/>
          <p:nvPr/>
        </p:nvSpPr>
        <p:spPr>
          <a:xfrm>
            <a:off x="6049920" y="4267962"/>
            <a:ext cx="1554480" cy="60121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900" dirty="0">
                <a:solidFill>
                  <a:sysClr val="windowText" lastClr="000000"/>
                </a:solidFill>
              </a:rPr>
              <a:t>Metrics regressed?</a:t>
            </a:r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CDFA8AD3-DD4A-4367-C85A-F304F8BB86F2}"/>
              </a:ext>
            </a:extLst>
          </p:cNvPr>
          <p:cNvCxnSpPr>
            <a:stCxn id="12" idx="3"/>
            <a:endCxn id="28" idx="1"/>
          </p:cNvCxnSpPr>
          <p:nvPr/>
        </p:nvCxnSpPr>
        <p:spPr>
          <a:xfrm flipV="1">
            <a:off x="5722524" y="3084714"/>
            <a:ext cx="327396" cy="751491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A6958184-DE14-D068-EE3E-86931AA43874}"/>
              </a:ext>
            </a:extLst>
          </p:cNvPr>
          <p:cNvCxnSpPr>
            <a:stCxn id="12" idx="3"/>
            <a:endCxn id="29" idx="1"/>
          </p:cNvCxnSpPr>
          <p:nvPr/>
        </p:nvCxnSpPr>
        <p:spPr>
          <a:xfrm>
            <a:off x="5722524" y="3836205"/>
            <a:ext cx="327396" cy="732366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9D9D9286-9E85-A40B-A447-C58E205F1B27}"/>
              </a:ext>
            </a:extLst>
          </p:cNvPr>
          <p:cNvSpPr/>
          <p:nvPr/>
        </p:nvSpPr>
        <p:spPr>
          <a:xfrm>
            <a:off x="7826544" y="2912121"/>
            <a:ext cx="1170792" cy="3086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100" dirty="0"/>
              <a:t>Increase to 20%, 50%, 100%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E815BCD-7A4A-0C55-737D-4479DCA79D5A}"/>
              </a:ext>
            </a:extLst>
          </p:cNvPr>
          <p:cNvSpPr/>
          <p:nvPr/>
        </p:nvSpPr>
        <p:spPr>
          <a:xfrm>
            <a:off x="7771860" y="4433630"/>
            <a:ext cx="1170792" cy="3086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100" dirty="0"/>
              <a:t>Auto-rollback to 100% v1</a:t>
            </a:r>
          </a:p>
        </p:txBody>
      </p:sp>
    </p:spTree>
    <p:extLst>
      <p:ext uri="{BB962C8B-B14F-4D97-AF65-F5344CB8AC3E}">
        <p14:creationId xmlns:p14="http://schemas.microsoft.com/office/powerpoint/2010/main" val="6759097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B4CF97-13CF-A986-C6F7-88DDC4989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EAB6AD27-70FB-4CD0-3220-9651C5F1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A/B Test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3D98B838-A78E-238D-B270-C166E535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F5232742-4034-BE82-E084-12AC8365F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856E48B2-186A-A501-DCD7-1D7F64AF66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609DCEB7-9B24-67F8-A8C7-E795786A7B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>
            <a:extLst>
              <a:ext uri="{FF2B5EF4-FFF2-40B4-BE49-F238E27FC236}">
                <a16:creationId xmlns:a16="http://schemas.microsoft.com/office/drawing/2014/main" id="{5839CAD0-DA0D-4F16-487F-0CFA29017AAF}"/>
              </a:ext>
            </a:extLst>
          </p:cNvPr>
          <p:cNvSpPr/>
          <p:nvPr/>
        </p:nvSpPr>
        <p:spPr>
          <a:xfrm>
            <a:off x="0" y="1217835"/>
            <a:ext cx="8686440" cy="142911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630"/>
                </a:solidFill>
                <a:latin typeface="Georgia"/>
              </a:rPr>
              <a:t>Goal is to measure whether the new model produces a </a:t>
            </a:r>
            <a:r>
              <a:rPr lang="en-US" sz="1200" dirty="0" err="1">
                <a:solidFill>
                  <a:srgbClr val="1F2630"/>
                </a:solidFill>
                <a:latin typeface="Georgia"/>
              </a:rPr>
              <a:t>measureable</a:t>
            </a:r>
            <a:r>
              <a:rPr lang="en-US" sz="1200" dirty="0">
                <a:solidFill>
                  <a:srgbClr val="1F2630"/>
                </a:solidFill>
                <a:latin typeface="Georgia"/>
              </a:rPr>
              <a:t> improvement in business metric, using a proper randomized controlled experiment.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u="none" strike="noStrike" dirty="0" err="1">
                <a:solidFill>
                  <a:srgbClr val="1F2630"/>
                </a:solidFill>
                <a:effectLst/>
                <a:uFillTx/>
                <a:latin typeface="Georgia"/>
              </a:rPr>
              <a:t>Randomisation</a:t>
            </a:r>
            <a:r>
              <a:rPr lang="en-US" sz="1200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 must be at the user or session level.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630"/>
                </a:solidFill>
                <a:latin typeface="Georgia"/>
              </a:rPr>
              <a:t>Use when not clear if model is better and need business case before committing.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630"/>
                </a:solidFill>
                <a:latin typeface="Georgia"/>
              </a:rPr>
              <a:t>Common in recommendation systems, ad ranking, and pricing models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630"/>
                </a:solidFill>
                <a:latin typeface="Georgia"/>
              </a:rPr>
              <a:t>Requires a business metric that is measurable and attributable to the model’s prediction.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630"/>
                </a:solidFill>
                <a:latin typeface="Georgia"/>
              </a:rPr>
              <a:t>Takes longer than canary and requires careful design.</a:t>
            </a:r>
            <a:endParaRPr lang="en-US" sz="1500" dirty="0">
              <a:solidFill>
                <a:srgbClr val="1F2630"/>
              </a:solidFill>
              <a:latin typeface="Georgia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99D4E5C-8029-3A50-4FBF-5D302ABFAD74}"/>
              </a:ext>
            </a:extLst>
          </p:cNvPr>
          <p:cNvSpPr/>
          <p:nvPr/>
        </p:nvSpPr>
        <p:spPr>
          <a:xfrm>
            <a:off x="201348" y="3721269"/>
            <a:ext cx="969264" cy="6012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100" dirty="0"/>
              <a:t>Random assignment of users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07EBFB-A635-72E0-D998-EB7A92540F0F}"/>
              </a:ext>
            </a:extLst>
          </p:cNvPr>
          <p:cNvSpPr/>
          <p:nvPr/>
        </p:nvSpPr>
        <p:spPr>
          <a:xfrm>
            <a:off x="1755828" y="3420660"/>
            <a:ext cx="1554480" cy="60121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900" dirty="0">
                <a:solidFill>
                  <a:sysClr val="windowText" lastClr="000000"/>
                </a:solidFill>
              </a:rPr>
              <a:t>Group A</a:t>
            </a:r>
          </a:p>
          <a:p>
            <a:pPr algn="ctr"/>
            <a:r>
              <a:rPr lang="en-DE" sz="900" dirty="0">
                <a:solidFill>
                  <a:sysClr val="windowText" lastClr="000000"/>
                </a:solidFill>
              </a:rPr>
              <a:t>(50%)</a:t>
            </a:r>
          </a:p>
          <a:p>
            <a:pPr algn="ctr"/>
            <a:r>
              <a:rPr lang="en-DE" sz="900" dirty="0">
                <a:solidFill>
                  <a:sysClr val="windowText" lastClr="000000"/>
                </a:solidFill>
              </a:rPr>
              <a:t>Model v1</a:t>
            </a:r>
          </a:p>
          <a:p>
            <a:pPr algn="ctr"/>
            <a:endParaRPr lang="en-DE" sz="900" dirty="0">
              <a:solidFill>
                <a:sysClr val="windowText" lastClr="0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80FC7D-3A25-4249-7A0E-F47D3055FEA6}"/>
              </a:ext>
            </a:extLst>
          </p:cNvPr>
          <p:cNvSpPr/>
          <p:nvPr/>
        </p:nvSpPr>
        <p:spPr>
          <a:xfrm>
            <a:off x="1755828" y="4130802"/>
            <a:ext cx="1554480" cy="60121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900" dirty="0">
                <a:solidFill>
                  <a:sysClr val="windowText" lastClr="000000"/>
                </a:solidFill>
              </a:rPr>
              <a:t>Group B</a:t>
            </a:r>
          </a:p>
          <a:p>
            <a:pPr algn="ctr"/>
            <a:r>
              <a:rPr lang="en-DE" sz="900" dirty="0">
                <a:solidFill>
                  <a:sysClr val="windowText" lastClr="000000"/>
                </a:solidFill>
              </a:rPr>
              <a:t>(50%)</a:t>
            </a:r>
          </a:p>
          <a:p>
            <a:pPr algn="ctr"/>
            <a:r>
              <a:rPr lang="en-DE" sz="900" dirty="0">
                <a:solidFill>
                  <a:sysClr val="windowText" lastClr="000000"/>
                </a:solidFill>
              </a:rPr>
              <a:t>Model v2</a:t>
            </a: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CD63AB2B-C3B4-7F9C-4E27-3FA2754DB01B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 flipV="1">
            <a:off x="1170612" y="3721269"/>
            <a:ext cx="585216" cy="300609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FD1560B0-713E-9E8B-1215-CC4CFCC4D999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>
            <a:off x="1170612" y="4021878"/>
            <a:ext cx="585216" cy="409533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5899E8A-56D4-9A6C-68F8-A1F988886E90}"/>
              </a:ext>
            </a:extLst>
          </p:cNvPr>
          <p:cNvSpPr/>
          <p:nvPr/>
        </p:nvSpPr>
        <p:spPr>
          <a:xfrm>
            <a:off x="4989824" y="3918034"/>
            <a:ext cx="1170792" cy="3086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100" dirty="0"/>
              <a:t>After N days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591D4A1-AE08-2E21-8AF5-9E23B006AA07}"/>
              </a:ext>
            </a:extLst>
          </p:cNvPr>
          <p:cNvSpPr/>
          <p:nvPr/>
        </p:nvSpPr>
        <p:spPr>
          <a:xfrm>
            <a:off x="6610932" y="3118020"/>
            <a:ext cx="1554480" cy="60121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900" dirty="0">
                <a:solidFill>
                  <a:sysClr val="windowText" lastClr="000000"/>
                </a:solidFill>
              </a:rPr>
              <a:t>Significant improvement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E2BB4DC-85DA-CEAE-83A9-06C6D0104A32}"/>
              </a:ext>
            </a:extLst>
          </p:cNvPr>
          <p:cNvSpPr/>
          <p:nvPr/>
        </p:nvSpPr>
        <p:spPr>
          <a:xfrm>
            <a:off x="6610932" y="4345820"/>
            <a:ext cx="1554480" cy="60121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900" dirty="0">
                <a:solidFill>
                  <a:sysClr val="windowText" lastClr="000000"/>
                </a:solidFill>
              </a:rPr>
              <a:t>No difference/ worse</a:t>
            </a:r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7DC0EB91-6993-D6BD-2035-912D4A4FA287}"/>
              </a:ext>
            </a:extLst>
          </p:cNvPr>
          <p:cNvCxnSpPr>
            <a:cxnSpLocks/>
            <a:stCxn id="12" idx="3"/>
            <a:endCxn id="28" idx="1"/>
          </p:cNvCxnSpPr>
          <p:nvPr/>
        </p:nvCxnSpPr>
        <p:spPr>
          <a:xfrm flipV="1">
            <a:off x="6160616" y="3418629"/>
            <a:ext cx="450316" cy="653710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3317D1CA-1E19-D762-E5A2-697FAB38DA6A}"/>
              </a:ext>
            </a:extLst>
          </p:cNvPr>
          <p:cNvCxnSpPr>
            <a:cxnSpLocks/>
            <a:stCxn id="12" idx="3"/>
            <a:endCxn id="29" idx="1"/>
          </p:cNvCxnSpPr>
          <p:nvPr/>
        </p:nvCxnSpPr>
        <p:spPr>
          <a:xfrm>
            <a:off x="6160616" y="4072339"/>
            <a:ext cx="450316" cy="57409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690841A7-0A34-CA31-A0C5-7875A36A000B}"/>
              </a:ext>
            </a:extLst>
          </p:cNvPr>
          <p:cNvSpPr/>
          <p:nvPr/>
        </p:nvSpPr>
        <p:spPr>
          <a:xfrm>
            <a:off x="8292084" y="3264925"/>
            <a:ext cx="788712" cy="3086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100" dirty="0"/>
              <a:t>Ship v2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00BE6D9-F912-F0D7-BF7C-07B01FECAD13}"/>
              </a:ext>
            </a:extLst>
          </p:cNvPr>
          <p:cNvSpPr/>
          <p:nvPr/>
        </p:nvSpPr>
        <p:spPr>
          <a:xfrm>
            <a:off x="8297904" y="4492124"/>
            <a:ext cx="782892" cy="3086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100" dirty="0"/>
              <a:t>Keep v1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2831E8F-98FB-AD8E-FA66-A4D2D64B8B8F}"/>
              </a:ext>
            </a:extLst>
          </p:cNvPr>
          <p:cNvSpPr/>
          <p:nvPr/>
        </p:nvSpPr>
        <p:spPr>
          <a:xfrm>
            <a:off x="3580500" y="3564933"/>
            <a:ext cx="1170792" cy="3086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100" dirty="0"/>
              <a:t>Monitoring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8DFEED8-E8CF-F5EA-62D1-66F452DDB40D}"/>
              </a:ext>
            </a:extLst>
          </p:cNvPr>
          <p:cNvSpPr/>
          <p:nvPr/>
        </p:nvSpPr>
        <p:spPr>
          <a:xfrm>
            <a:off x="3580500" y="4277106"/>
            <a:ext cx="1170792" cy="3086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100" dirty="0"/>
              <a:t>Monitoring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BCBEE20-C7DC-306F-6503-F4B796592436}"/>
              </a:ext>
            </a:extLst>
          </p:cNvPr>
          <p:cNvCxnSpPr>
            <a:stCxn id="4" idx="3"/>
            <a:endCxn id="16" idx="1"/>
          </p:cNvCxnSpPr>
          <p:nvPr/>
        </p:nvCxnSpPr>
        <p:spPr>
          <a:xfrm flipV="1">
            <a:off x="3310308" y="3719238"/>
            <a:ext cx="270192" cy="20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8579FF9-F804-CB33-C09C-7B3908AB7562}"/>
              </a:ext>
            </a:extLst>
          </p:cNvPr>
          <p:cNvCxnSpPr>
            <a:stCxn id="5" idx="3"/>
            <a:endCxn id="17" idx="1"/>
          </p:cNvCxnSpPr>
          <p:nvPr/>
        </p:nvCxnSpPr>
        <p:spPr>
          <a:xfrm>
            <a:off x="3310308" y="4431411"/>
            <a:ext cx="27019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C8A637B4-561C-A59A-0997-8A3C8AD5AE65}"/>
              </a:ext>
            </a:extLst>
          </p:cNvPr>
          <p:cNvCxnSpPr>
            <a:stCxn id="16" idx="3"/>
            <a:endCxn id="12" idx="0"/>
          </p:cNvCxnSpPr>
          <p:nvPr/>
        </p:nvCxnSpPr>
        <p:spPr>
          <a:xfrm>
            <a:off x="4751292" y="3719238"/>
            <a:ext cx="823928" cy="198796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9A597D2A-8292-74CC-7738-5C34682607C8}"/>
              </a:ext>
            </a:extLst>
          </p:cNvPr>
          <p:cNvCxnSpPr>
            <a:stCxn id="17" idx="3"/>
            <a:endCxn id="12" idx="2"/>
          </p:cNvCxnSpPr>
          <p:nvPr/>
        </p:nvCxnSpPr>
        <p:spPr>
          <a:xfrm flipV="1">
            <a:off x="4751292" y="4226644"/>
            <a:ext cx="823928" cy="204767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585690C-CB9C-11CB-FD95-A295283D58E6}"/>
              </a:ext>
            </a:extLst>
          </p:cNvPr>
          <p:cNvCxnSpPr>
            <a:stCxn id="29" idx="3"/>
            <a:endCxn id="35" idx="1"/>
          </p:cNvCxnSpPr>
          <p:nvPr/>
        </p:nvCxnSpPr>
        <p:spPr>
          <a:xfrm>
            <a:off x="8165412" y="4646429"/>
            <a:ext cx="1324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77C00D2-3580-0149-64DA-CE128F0E86D6}"/>
              </a:ext>
            </a:extLst>
          </p:cNvPr>
          <p:cNvCxnSpPr>
            <a:stCxn id="28" idx="3"/>
            <a:endCxn id="34" idx="1"/>
          </p:cNvCxnSpPr>
          <p:nvPr/>
        </p:nvCxnSpPr>
        <p:spPr>
          <a:xfrm>
            <a:off x="8165412" y="3418629"/>
            <a:ext cx="126672" cy="6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64201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EFAD29-C9F0-8C6D-DD00-6E7393FBB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0465E42D-2583-84DA-F9EE-841D4CB1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Blue/ Green deployment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DD98B730-D75D-3B5E-506D-90A155966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371C393A-F1B3-3A0A-8EE0-50F1AEDDC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401D9B8D-1C71-D883-A529-2F96EC69F7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B704721E-8300-CD0B-B19A-8B7C08C4E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>
            <a:extLst>
              <a:ext uri="{FF2B5EF4-FFF2-40B4-BE49-F238E27FC236}">
                <a16:creationId xmlns:a16="http://schemas.microsoft.com/office/drawing/2014/main" id="{9E05BADB-1F07-B562-88CB-CB8C97CFE3D6}"/>
              </a:ext>
            </a:extLst>
          </p:cNvPr>
          <p:cNvSpPr/>
          <p:nvPr/>
        </p:nvSpPr>
        <p:spPr>
          <a:xfrm>
            <a:off x="0" y="1217835"/>
            <a:ext cx="8686440" cy="142911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630"/>
                </a:solidFill>
                <a:latin typeface="Georgia"/>
              </a:rPr>
              <a:t>Two complete, identical environments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630"/>
                </a:solidFill>
                <a:latin typeface="Georgia"/>
              </a:rPr>
              <a:t>Blue – current production, Green – new version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630"/>
                </a:solidFill>
                <a:latin typeface="Georgia"/>
              </a:rPr>
              <a:t>Run simultaneously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630"/>
                </a:solidFill>
                <a:latin typeface="Georgia"/>
              </a:rPr>
              <a:t>Router switched to send 100% of traffic to green instantaneously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630"/>
                </a:solidFill>
                <a:latin typeface="Georgia"/>
              </a:rPr>
              <a:t>Switch router back to blue as rollback, no redeployment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630"/>
                </a:solidFill>
                <a:latin typeface="Georgia"/>
              </a:rPr>
              <a:t>Use for a clean, instantaneous cutover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630"/>
                </a:solidFill>
                <a:latin typeface="Georgia"/>
              </a:rPr>
              <a:t>Double infrastructure costs and no gradual traffic ramp.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630"/>
                </a:solidFill>
                <a:latin typeface="Georgia"/>
              </a:rPr>
              <a:t>Often combined with a short canary phase.</a:t>
            </a:r>
            <a:endParaRPr lang="en-US" sz="1500" dirty="0">
              <a:solidFill>
                <a:srgbClr val="1F2630"/>
              </a:solidFill>
              <a:latin typeface="Georgia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7B49D81-2DD7-EBDD-351F-C1BE9C6114C0}"/>
              </a:ext>
            </a:extLst>
          </p:cNvPr>
          <p:cNvSpPr/>
          <p:nvPr/>
        </p:nvSpPr>
        <p:spPr>
          <a:xfrm>
            <a:off x="212736" y="3418629"/>
            <a:ext cx="969264" cy="6012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100" dirty="0"/>
              <a:t>Traffic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4B8E72-FCDF-D8EF-7390-7874D19EEB56}"/>
              </a:ext>
            </a:extLst>
          </p:cNvPr>
          <p:cNvSpPr/>
          <p:nvPr/>
        </p:nvSpPr>
        <p:spPr>
          <a:xfrm>
            <a:off x="1755828" y="3420660"/>
            <a:ext cx="1554480" cy="60121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900" dirty="0">
                <a:solidFill>
                  <a:sysClr val="windowText" lastClr="000000"/>
                </a:solidFill>
              </a:rPr>
              <a:t>Blue (v1)</a:t>
            </a:r>
          </a:p>
          <a:p>
            <a:pPr algn="ctr"/>
            <a:r>
              <a:rPr lang="en-DE" sz="900" dirty="0">
                <a:solidFill>
                  <a:sysClr val="windowText" lastClr="000000"/>
                </a:solidFill>
              </a:rPr>
              <a:t>Live</a:t>
            </a:r>
          </a:p>
          <a:p>
            <a:pPr algn="ctr"/>
            <a:endParaRPr lang="en-DE" sz="900" dirty="0">
              <a:solidFill>
                <a:sysClr val="windowText" lastClr="0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6721E1-E1BD-8EC3-25B3-605B2EAAA224}"/>
              </a:ext>
            </a:extLst>
          </p:cNvPr>
          <p:cNvSpPr/>
          <p:nvPr/>
        </p:nvSpPr>
        <p:spPr>
          <a:xfrm>
            <a:off x="1755828" y="4130802"/>
            <a:ext cx="1554480" cy="60121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900" dirty="0">
                <a:solidFill>
                  <a:sysClr val="windowText" lastClr="000000"/>
                </a:solidFill>
              </a:rPr>
              <a:t>Green (v2)</a:t>
            </a:r>
          </a:p>
          <a:p>
            <a:pPr algn="ctr"/>
            <a:r>
              <a:rPr lang="en-DE" sz="900" dirty="0">
                <a:solidFill>
                  <a:sysClr val="windowText" lastClr="000000"/>
                </a:solidFill>
              </a:rPr>
              <a:t>Idle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3DB1652-3740-F488-CB7C-961CE4421307}"/>
              </a:ext>
            </a:extLst>
          </p:cNvPr>
          <p:cNvSpPr/>
          <p:nvPr/>
        </p:nvSpPr>
        <p:spPr>
          <a:xfrm>
            <a:off x="5368248" y="3418629"/>
            <a:ext cx="1554480" cy="60121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900" dirty="0">
                <a:solidFill>
                  <a:sysClr val="windowText" lastClr="000000"/>
                </a:solidFill>
              </a:rPr>
              <a:t>Blue (v1)</a:t>
            </a:r>
          </a:p>
          <a:p>
            <a:pPr algn="ctr"/>
            <a:r>
              <a:rPr lang="en-GB" sz="900" dirty="0">
                <a:solidFill>
                  <a:sysClr val="windowText" lastClr="000000"/>
                </a:solidFill>
              </a:rPr>
              <a:t>I</a:t>
            </a:r>
            <a:r>
              <a:rPr lang="en-DE" sz="900" dirty="0">
                <a:solidFill>
                  <a:sysClr val="windowText" lastClr="000000"/>
                </a:solidFill>
              </a:rPr>
              <a:t>dle (kept warm for rollback)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0B79CE2-3557-0BA5-EBBD-A4328AEDB7EA}"/>
              </a:ext>
            </a:extLst>
          </p:cNvPr>
          <p:cNvSpPr/>
          <p:nvPr/>
        </p:nvSpPr>
        <p:spPr>
          <a:xfrm>
            <a:off x="5368248" y="4130201"/>
            <a:ext cx="1554480" cy="60121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900" dirty="0">
                <a:solidFill>
                  <a:sysClr val="windowText" lastClr="000000"/>
                </a:solidFill>
              </a:rPr>
              <a:t>Green (v2)</a:t>
            </a:r>
          </a:p>
          <a:p>
            <a:pPr algn="ctr"/>
            <a:r>
              <a:rPr lang="en-DE" sz="900" dirty="0">
                <a:solidFill>
                  <a:sysClr val="windowText" lastClr="000000"/>
                </a:solidFill>
              </a:rPr>
              <a:t>Live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C89A6E8-2E91-92F1-4D6B-754B5743F392}"/>
              </a:ext>
            </a:extLst>
          </p:cNvPr>
          <p:cNvCxnSpPr>
            <a:stCxn id="2" idx="3"/>
            <a:endCxn id="4" idx="1"/>
          </p:cNvCxnSpPr>
          <p:nvPr/>
        </p:nvCxnSpPr>
        <p:spPr>
          <a:xfrm>
            <a:off x="1182000" y="3719238"/>
            <a:ext cx="573828" cy="20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EB8D12D-E6AF-A3B1-DAD3-E736F77236E4}"/>
              </a:ext>
            </a:extLst>
          </p:cNvPr>
          <p:cNvSpPr/>
          <p:nvPr/>
        </p:nvSpPr>
        <p:spPr>
          <a:xfrm>
            <a:off x="1947672" y="2977862"/>
            <a:ext cx="1170792" cy="3086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100" dirty="0"/>
              <a:t>Before switch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7DE7AA4-DF05-6CE4-B2EB-73488F48D185}"/>
              </a:ext>
            </a:extLst>
          </p:cNvPr>
          <p:cNvSpPr/>
          <p:nvPr/>
        </p:nvSpPr>
        <p:spPr>
          <a:xfrm>
            <a:off x="5560092" y="2977261"/>
            <a:ext cx="1170792" cy="3086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100" dirty="0"/>
              <a:t>After  switch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46DE023-FDF1-C9CF-BFC4-82952F77F836}"/>
              </a:ext>
            </a:extLst>
          </p:cNvPr>
          <p:cNvSpPr/>
          <p:nvPr/>
        </p:nvSpPr>
        <p:spPr>
          <a:xfrm>
            <a:off x="3770472" y="4130802"/>
            <a:ext cx="969264" cy="6012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100" dirty="0"/>
              <a:t>Traffic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6C8D630-D66E-2FFE-1BBD-7CAA29B854D3}"/>
              </a:ext>
            </a:extLst>
          </p:cNvPr>
          <p:cNvCxnSpPr>
            <a:cxnSpLocks/>
            <a:stCxn id="14" idx="3"/>
            <a:endCxn id="29" idx="1"/>
          </p:cNvCxnSpPr>
          <p:nvPr/>
        </p:nvCxnSpPr>
        <p:spPr>
          <a:xfrm flipV="1">
            <a:off x="4739736" y="4430810"/>
            <a:ext cx="628512" cy="6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76322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B50363-2CA4-5417-280A-A2E30106A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5F7FC601-3A69-130D-CA31-C674639EC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Blue/ green deployment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2CBAEC4D-A309-8AB4-63F7-BB2316EDA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32E2D1AC-3CC9-764B-5F88-764CFD67FC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C65680CD-68FD-4B93-9031-F1E63A868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6633CD62-9288-F52E-B9A8-4B2AFE50E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03AABB6-F630-6BD0-BD08-9118EA595C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7415616"/>
              </p:ext>
            </p:extLst>
          </p:nvPr>
        </p:nvGraphicFramePr>
        <p:xfrm>
          <a:off x="228600" y="1344422"/>
          <a:ext cx="8228880" cy="2962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48656">
                  <a:extLst>
                    <a:ext uri="{9D8B030D-6E8A-4147-A177-3AD203B41FA5}">
                      <a16:colId xmlns:a16="http://schemas.microsoft.com/office/drawing/2014/main" val="2151835288"/>
                    </a:ext>
                  </a:extLst>
                </a:gridCol>
                <a:gridCol w="2980224">
                  <a:extLst>
                    <a:ext uri="{9D8B030D-6E8A-4147-A177-3AD203B41FA5}">
                      <a16:colId xmlns:a16="http://schemas.microsoft.com/office/drawing/2014/main" val="1450518335"/>
                    </a:ext>
                  </a:extLst>
                </a:gridCol>
              </a:tblGrid>
              <a:tr h="493725"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Requirement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Recommended strategy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5451"/>
                  </a:ext>
                </a:extLst>
              </a:tr>
              <a:tr h="493725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Zero user impact while validating the new model on real traffic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Shadow launch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5860890"/>
                  </a:ext>
                </a:extLst>
              </a:tr>
              <a:tr h="493725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Gradual rollout with automatic rollback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Canary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4258854"/>
                  </a:ext>
                </a:extLst>
              </a:tr>
              <a:tr h="493725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Demonstrate business value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A/B test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8677362"/>
                  </a:ext>
                </a:extLst>
              </a:tr>
              <a:tr h="493725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Instant, clean cutover with instant rollback option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Blue/ green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9870891"/>
                  </a:ext>
                </a:extLst>
              </a:tr>
              <a:tr h="493725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Major changes (new schema, new model family)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Blue green after shadow launch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4628798"/>
                  </a:ext>
                </a:extLst>
              </a:tr>
            </a:tbl>
          </a:graphicData>
        </a:graphic>
      </p:graphicFrame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BE3ED65-29F5-4729-4A8D-E26E03FA6EF2}"/>
              </a:ext>
            </a:extLst>
          </p:cNvPr>
          <p:cNvSpPr/>
          <p:nvPr/>
        </p:nvSpPr>
        <p:spPr>
          <a:xfrm>
            <a:off x="470916" y="4348894"/>
            <a:ext cx="7744248" cy="5029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>
                <a:latin typeface="Georgia" panose="02040502050405020303" pitchFamily="18" charset="0"/>
              </a:rPr>
              <a:t>Never replace a model “atomically” in production, without a rollback plan.</a:t>
            </a:r>
          </a:p>
        </p:txBody>
      </p:sp>
    </p:spTree>
    <p:extLst>
      <p:ext uri="{BB962C8B-B14F-4D97-AF65-F5344CB8AC3E}">
        <p14:creationId xmlns:p14="http://schemas.microsoft.com/office/powerpoint/2010/main" val="11114930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Why Models Decay</a:t>
            </a:r>
          </a:p>
        </p:txBody>
      </p:sp>
      <p:sp>
        <p:nvSpPr>
          <p:cNvPr id="7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/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Georgia" panose="02040502050405020303" pitchFamily="18" charset="0"/>
              </a:rPr>
              <a:t>Model is trained on a snapshot of the world as training data was collected -&gt; world changes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Georgia" panose="02040502050405020303" pitchFamily="18" charset="0"/>
              </a:rPr>
              <a:t>Mismatch is called model decay or model staleness.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538A16-181E-8939-D37B-91FD5853D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9E2C4561-14C1-472B-1839-29B7CE2FB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Data drift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4E709DEE-78F9-5844-F159-E8F994C202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34964FD9-B00D-425C-9B56-82349A4F21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1D2DBBEC-1A7B-CDCF-BF2D-24750511B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D72EDFF4-B059-893E-FCD4-B092ABB307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>
            <a:extLst>
              <a:ext uri="{FF2B5EF4-FFF2-40B4-BE49-F238E27FC236}">
                <a16:creationId xmlns:a16="http://schemas.microsoft.com/office/drawing/2014/main" id="{87613AA1-EA98-CF65-7E6F-C4B56830F966}"/>
              </a:ext>
            </a:extLst>
          </p:cNvPr>
          <p:cNvSpPr/>
          <p:nvPr/>
        </p:nvSpPr>
        <p:spPr>
          <a:xfrm>
            <a:off x="228600" y="1216080"/>
            <a:ext cx="8686440" cy="3392496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Georgia" panose="02040502050405020303" pitchFamily="18" charset="0"/>
              </a:rPr>
              <a:t>Distribution of input features shifts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Georgia" panose="02040502050405020303" pitchFamily="18" charset="0"/>
              </a:rPr>
              <a:t>True relationship between features and label stays the same.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Georgia" panose="02040502050405020303" pitchFamily="18" charset="0"/>
              </a:rPr>
              <a:t>Model is still correct, but it is applied to a different population it was trained on.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Georgia" panose="02040502050405020303" pitchFamily="18" charset="0"/>
              </a:rPr>
              <a:t>Detect by comparing the distribution of each input feature in recent production traffic against the reference distribution (usually training data)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Georgia" panose="02040502050405020303" pitchFamily="18" charset="0"/>
              </a:rPr>
              <a:t>Flag features whose distribution has shifted beyond a threshold.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F9F4CEC-A6E2-5760-1CC1-80CFB52770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822496"/>
              </p:ext>
            </p:extLst>
          </p:nvPr>
        </p:nvGraphicFramePr>
        <p:xfrm>
          <a:off x="1103376" y="1993560"/>
          <a:ext cx="6096000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8584">
                  <a:extLst>
                    <a:ext uri="{9D8B030D-6E8A-4147-A177-3AD203B41FA5}">
                      <a16:colId xmlns:a16="http://schemas.microsoft.com/office/drawing/2014/main" val="1239206522"/>
                    </a:ext>
                  </a:extLst>
                </a:gridCol>
                <a:gridCol w="2947416">
                  <a:extLst>
                    <a:ext uri="{9D8B030D-6E8A-4147-A177-3AD203B41FA5}">
                      <a16:colId xmlns:a16="http://schemas.microsoft.com/office/drawing/2014/main" val="584309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ysClr val="windowText" lastClr="000000"/>
                          </a:solidFill>
                          <a:latin typeface="Georgia" panose="02040502050405020303" pitchFamily="18" charset="0"/>
                        </a:rPr>
                        <a:t>Training time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ysClr val="windowText" lastClr="000000"/>
                          </a:solidFill>
                          <a:latin typeface="Georgia" panose="02040502050405020303" pitchFamily="18" charset="0"/>
                        </a:rPr>
                        <a:t>6 months later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7804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Age distribution:</a:t>
                      </a:r>
                    </a:p>
                    <a:p>
                      <a:r>
                        <a:rPr lang="en-GB" sz="1200" dirty="0">
                          <a:latin typeface="Georgia" panose="02040502050405020303" pitchFamily="18" charset="0"/>
                        </a:rPr>
                        <a:t>M</a:t>
                      </a:r>
                      <a:r>
                        <a:rPr lang="en-DE" sz="1200" dirty="0">
                          <a:latin typeface="Georgia" panose="02040502050405020303" pitchFamily="18" charset="0"/>
                        </a:rPr>
                        <a:t>ean = 42, std = 12</a:t>
                      </a:r>
                    </a:p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(older customer base)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Age distribution:</a:t>
                      </a:r>
                    </a:p>
                    <a:p>
                      <a:r>
                        <a:rPr lang="en-GB" sz="1200" dirty="0">
                          <a:latin typeface="Georgia" panose="02040502050405020303" pitchFamily="18" charset="0"/>
                        </a:rPr>
                        <a:t>M</a:t>
                      </a:r>
                      <a:r>
                        <a:rPr lang="en-DE" sz="1200" dirty="0">
                          <a:latin typeface="Georgia" panose="02040502050405020303" pitchFamily="18" charset="0"/>
                        </a:rPr>
                        <a:t>ean = 31, std = 10</a:t>
                      </a:r>
                    </a:p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(younger cohort from new campaign)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5261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Model was calibrated for older customers -&gt; features are now out of date.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Model’s probabilities estimates are now systematically off for the new population.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2509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31273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D008ED-524E-F859-92BE-425063287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4D087BC6-2BE0-CDFB-AA5B-EC00C71AA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Concept drift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084A329F-F0BF-1BA6-AEA2-F7E9D6AC6D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22FF8626-761E-CBE8-1DC1-514DDC0F5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7784E0FB-6503-13CF-DF13-E27CB8C4F2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2B1EE8E1-0122-ED97-F946-942CA9C2E1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>
            <a:extLst>
              <a:ext uri="{FF2B5EF4-FFF2-40B4-BE49-F238E27FC236}">
                <a16:creationId xmlns:a16="http://schemas.microsoft.com/office/drawing/2014/main" id="{1D25543C-44FB-3E46-A506-96444A74A9C3}"/>
              </a:ext>
            </a:extLst>
          </p:cNvPr>
          <p:cNvSpPr/>
          <p:nvPr/>
        </p:nvSpPr>
        <p:spPr>
          <a:xfrm>
            <a:off x="228600" y="1216080"/>
            <a:ext cx="8686440" cy="3621096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Georgia" panose="02040502050405020303" pitchFamily="18" charset="0"/>
              </a:rPr>
              <a:t>Relationship between features and label changes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Georgia" panose="02040502050405020303" pitchFamily="18" charset="0"/>
              </a:rPr>
              <a:t>Input distribution is the same, but correct output looks different.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Georgia" panose="02040502050405020303" pitchFamily="18" charset="0"/>
              </a:rPr>
              <a:t>Model cannot catch up just because the inputs look familiar -&gt; ground truth has changed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Georgia" panose="02040502050405020303" pitchFamily="18" charset="0"/>
              </a:rPr>
              <a:t>Without labels, you can only see the symptom, not the cause.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Georgia" panose="02040502050405020303" pitchFamily="18" charset="0"/>
              </a:rPr>
              <a:t>Detection harder than data drift, because it requires ground truth labels.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Georgia" panose="02040502050405020303" pitchFamily="18" charset="0"/>
              </a:rPr>
              <a:t>Monitor prediction distribution as a proxy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Georgia" panose="02040502050405020303" pitchFamily="18" charset="0"/>
              </a:rPr>
              <a:t>Track business outcomes over time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Georgia" panose="02040502050405020303" pitchFamily="18" charset="0"/>
              </a:rPr>
              <a:t>Retrain model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9896A05-ECCD-C9FD-5074-85D014AEA1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1550291"/>
              </p:ext>
            </p:extLst>
          </p:nvPr>
        </p:nvGraphicFramePr>
        <p:xfrm>
          <a:off x="1295400" y="2190600"/>
          <a:ext cx="6096000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8584">
                  <a:extLst>
                    <a:ext uri="{9D8B030D-6E8A-4147-A177-3AD203B41FA5}">
                      <a16:colId xmlns:a16="http://schemas.microsoft.com/office/drawing/2014/main" val="1239206522"/>
                    </a:ext>
                  </a:extLst>
                </a:gridCol>
                <a:gridCol w="2947416">
                  <a:extLst>
                    <a:ext uri="{9D8B030D-6E8A-4147-A177-3AD203B41FA5}">
                      <a16:colId xmlns:a16="http://schemas.microsoft.com/office/drawing/2014/main" val="584309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ysClr val="windowText" lastClr="000000"/>
                          </a:solidFill>
                          <a:latin typeface="Georgia" panose="02040502050405020303" pitchFamily="18" charset="0"/>
                        </a:rPr>
                        <a:t>B</a:t>
                      </a:r>
                      <a:r>
                        <a:rPr lang="en-DE" sz="1200" dirty="0">
                          <a:solidFill>
                            <a:sysClr val="windowText" lastClr="000000"/>
                          </a:solidFill>
                          <a:latin typeface="Georgia" panose="02040502050405020303" pitchFamily="18" charset="0"/>
                        </a:rPr>
                        <a:t>efore new payment method: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ysClr val="windowText" lastClr="000000"/>
                          </a:solidFill>
                          <a:latin typeface="Georgia" panose="02040502050405020303" pitchFamily="18" charset="0"/>
                        </a:rPr>
                        <a:t>After new payment method: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7804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Georgia" panose="02040502050405020303" pitchFamily="18" charset="0"/>
                        </a:rPr>
                        <a:t>Transaction_amount</a:t>
                      </a:r>
                      <a:r>
                        <a:rPr lang="en-US" sz="1200" dirty="0">
                          <a:latin typeface="Georgia" panose="02040502050405020303" pitchFamily="18" charset="0"/>
                        </a:rPr>
                        <a:t> = $800</a:t>
                      </a:r>
                    </a:p>
                    <a:p>
                      <a:r>
                        <a:rPr lang="en-US" sz="1200" dirty="0">
                          <a:latin typeface="Georgia" panose="02040502050405020303" pitchFamily="18" charset="0"/>
                        </a:rPr>
                        <a:t>Merchant = “electronics”</a:t>
                      </a:r>
                      <a:endParaRPr lang="en-DE" sz="1200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Georgia" panose="02040502050405020303" pitchFamily="18" charset="0"/>
                        </a:rPr>
                        <a:t>Transaction_amount</a:t>
                      </a:r>
                      <a:r>
                        <a:rPr lang="en-US" sz="1200" dirty="0">
                          <a:latin typeface="Georgia" panose="02040502050405020303" pitchFamily="18" charset="0"/>
                        </a:rPr>
                        <a:t> = $800</a:t>
                      </a:r>
                    </a:p>
                    <a:p>
                      <a:r>
                        <a:rPr lang="en-US" sz="1200" dirty="0">
                          <a:latin typeface="Georgia" panose="02040502050405020303" pitchFamily="18" charset="0"/>
                        </a:rPr>
                        <a:t>Merchant = “electronics”</a:t>
                      </a:r>
                      <a:endParaRPr lang="en-DE" sz="1200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5261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Fraud probability: 0.02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Fraud probability: 0.45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2509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26493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207FF4-102F-359F-4392-6EBB68DAD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A7DBF5D3-8825-8420-D470-8788333D0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Label drift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9BB3E951-DCF6-CA17-7083-E84238F23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9CCE3AA0-4201-CD4A-84E4-833FA5C45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8565A198-87A9-5491-A0B1-4EE09363A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61D5229F-3161-381E-116F-025F9672EE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>
            <a:extLst>
              <a:ext uri="{FF2B5EF4-FFF2-40B4-BE49-F238E27FC236}">
                <a16:creationId xmlns:a16="http://schemas.microsoft.com/office/drawing/2014/main" id="{A1578A39-8338-B53F-F8D4-5916DC879369}"/>
              </a:ext>
            </a:extLst>
          </p:cNvPr>
          <p:cNvSpPr/>
          <p:nvPr/>
        </p:nvSpPr>
        <p:spPr>
          <a:xfrm>
            <a:off x="228600" y="1216080"/>
            <a:ext cx="8686440" cy="3621096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Georgia" panose="02040502050405020303" pitchFamily="18" charset="0"/>
              </a:rPr>
              <a:t>Distribution of the label changes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Georgia" panose="02040502050405020303" pitchFamily="18" charset="0"/>
              </a:rPr>
              <a:t>Proportion of positive vs negative chases shifts, even if relationship between Output and Inputs is unchanged.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Georgia" panose="02040502050405020303" pitchFamily="18" charset="0"/>
              </a:rPr>
              <a:t>Models trained with class imbalance handling particularly sensitive.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Georgia" panose="02040502050405020303" pitchFamily="18" charset="0"/>
              </a:rPr>
              <a:t>Shift in base rate requires re-calibrating the decision threshold.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B911279-8B35-65C3-30D8-550B5DBE5D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007042"/>
              </p:ext>
            </p:extLst>
          </p:nvPr>
        </p:nvGraphicFramePr>
        <p:xfrm>
          <a:off x="1295400" y="1929130"/>
          <a:ext cx="6096000" cy="128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8584">
                  <a:extLst>
                    <a:ext uri="{9D8B030D-6E8A-4147-A177-3AD203B41FA5}">
                      <a16:colId xmlns:a16="http://schemas.microsoft.com/office/drawing/2014/main" val="1239206522"/>
                    </a:ext>
                  </a:extLst>
                </a:gridCol>
                <a:gridCol w="2947416">
                  <a:extLst>
                    <a:ext uri="{9D8B030D-6E8A-4147-A177-3AD203B41FA5}">
                      <a16:colId xmlns:a16="http://schemas.microsoft.com/office/drawing/2014/main" val="584309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ysClr val="windowText" lastClr="000000"/>
                          </a:solidFill>
                          <a:latin typeface="Georgia" panose="02040502050405020303" pitchFamily="18" charset="0"/>
                        </a:rPr>
                        <a:t>Training data</a:t>
                      </a:r>
                      <a:endParaRPr lang="en-DE" sz="1200" dirty="0">
                        <a:solidFill>
                          <a:sysClr val="windowText" lastClr="00000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ysClr val="windowText" lastClr="000000"/>
                          </a:solidFill>
                          <a:latin typeface="Georgia" panose="02040502050405020303" pitchFamily="18" charset="0"/>
                        </a:rPr>
                        <a:t>Production now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7804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Georgia" panose="02040502050405020303" pitchFamily="18" charset="0"/>
                        </a:rPr>
                        <a:t>Spam = 30% of emails</a:t>
                      </a:r>
                      <a:endParaRPr lang="en-DE" sz="1200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Georgia" panose="02040502050405020303" pitchFamily="18" charset="0"/>
                        </a:rPr>
                        <a:t>Spam = 5% of emails (spam campaign ended)</a:t>
                      </a:r>
                      <a:endParaRPr lang="en-DE" sz="1200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5261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DE" sz="1200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Georgia" panose="02040502050405020303" pitchFamily="18" charset="0"/>
                        </a:rPr>
                        <a:t>M</a:t>
                      </a:r>
                      <a:r>
                        <a:rPr lang="en-DE" sz="1200" dirty="0">
                          <a:latin typeface="Georgia" panose="02040502050405020303" pitchFamily="18" charset="0"/>
                        </a:rPr>
                        <a:t>odel generates too many false positives at new 5% rate.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2509738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F8913517-35F1-D734-13A0-ACA3C70DA4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00" y="3287810"/>
            <a:ext cx="2008809" cy="1201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1227AA-D4C4-3A1D-9174-C4D3A741E5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640" y="3248165"/>
            <a:ext cx="2075070" cy="1241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9239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D14423-87B5-F58C-2235-93F6CD902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48AEBECB-8DD4-293B-FF78-945D1D85C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Pipeline bugs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67EE5742-7237-6B5E-91B2-2558A5749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FF803624-4732-F758-2541-00AD365FD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032C53E7-C37B-D8AE-4AE8-9720292D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B32880DF-FBD3-58B8-76D3-442E50883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>
            <a:extLst>
              <a:ext uri="{FF2B5EF4-FFF2-40B4-BE49-F238E27FC236}">
                <a16:creationId xmlns:a16="http://schemas.microsoft.com/office/drawing/2014/main" id="{420C2F90-F79B-6C39-CFD0-832D8005F256}"/>
              </a:ext>
            </a:extLst>
          </p:cNvPr>
          <p:cNvSpPr/>
          <p:nvPr/>
        </p:nvSpPr>
        <p:spPr>
          <a:xfrm>
            <a:off x="228600" y="1216080"/>
            <a:ext cx="8686440" cy="269755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Georgia" panose="02040502050405020303" pitchFamily="18" charset="0"/>
              </a:rPr>
              <a:t>Not all degradation comes from the world changing.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Georgia" panose="02040502050405020303" pitchFamily="18" charset="0"/>
              </a:rPr>
              <a:t>Training data had a bug that was silently “baked in” the model that propagates to production in unexpected ways.</a:t>
            </a:r>
          </a:p>
          <a:p>
            <a:pPr>
              <a:lnSpc>
                <a:spcPct val="110000"/>
              </a:lnSpc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73EAF0E-739F-A472-1DE8-D7BDB9E877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7472862"/>
              </p:ext>
            </p:extLst>
          </p:nvPr>
        </p:nvGraphicFramePr>
        <p:xfrm>
          <a:off x="448056" y="1838198"/>
          <a:ext cx="8238384" cy="238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6312">
                  <a:extLst>
                    <a:ext uri="{9D8B030D-6E8A-4147-A177-3AD203B41FA5}">
                      <a16:colId xmlns:a16="http://schemas.microsoft.com/office/drawing/2014/main" val="1986595625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3804120320"/>
                    </a:ext>
                  </a:extLst>
                </a:gridCol>
                <a:gridCol w="3428640">
                  <a:extLst>
                    <a:ext uri="{9D8B030D-6E8A-4147-A177-3AD203B41FA5}">
                      <a16:colId xmlns:a16="http://schemas.microsoft.com/office/drawing/2014/main" val="12243764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ysClr val="windowText" lastClr="000000"/>
                          </a:solidFill>
                          <a:latin typeface="Georgia" panose="02040502050405020303" pitchFamily="18" charset="0"/>
                        </a:rPr>
                        <a:t>Bug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ysClr val="windowText" lastClr="000000"/>
                          </a:solidFill>
                          <a:latin typeface="Georgia" panose="02040502050405020303" pitchFamily="18" charset="0"/>
                        </a:rPr>
                        <a:t>H</a:t>
                      </a:r>
                      <a:r>
                        <a:rPr lang="en-GB" sz="1200" dirty="0">
                          <a:solidFill>
                            <a:sysClr val="windowText" lastClr="000000"/>
                          </a:solidFill>
                          <a:latin typeface="Georgia" panose="02040502050405020303" pitchFamily="18" charset="0"/>
                        </a:rPr>
                        <a:t>ow it enters</a:t>
                      </a:r>
                      <a:endParaRPr lang="en-DE" sz="1200" dirty="0">
                        <a:solidFill>
                          <a:sysClr val="windowText" lastClr="00000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ysClr val="windowText" lastClr="000000"/>
                          </a:solidFill>
                          <a:latin typeface="Georgia" panose="02040502050405020303" pitchFamily="18" charset="0"/>
                        </a:rPr>
                        <a:t>Symptom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3255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ETL fills missing values with 0 instead of NaN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New data pipeline release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Feature distribution shifts; </a:t>
                      </a:r>
                    </a:p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model receives 0 where training data had the real median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6938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Timezone mismatch in timestamp features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Infrastructure change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Temporal features are systematically off by hours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2004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Feature scaling fitted on stale data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Model registry serves old preprocessor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Scaled values outside the range the model was trained 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522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Train/ serve skew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Feature computed differently at training time vs serving time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Model receives different values than it expects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0518320"/>
                  </a:ext>
                </a:extLst>
              </a:tr>
            </a:tbl>
          </a:graphicData>
        </a:graphic>
      </p:graphicFrame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2018797-1E57-76FA-DEE8-FCBC1DDA6B24}"/>
              </a:ext>
            </a:extLst>
          </p:cNvPr>
          <p:cNvSpPr/>
          <p:nvPr/>
        </p:nvSpPr>
        <p:spPr>
          <a:xfrm>
            <a:off x="448056" y="4363844"/>
            <a:ext cx="8294500" cy="5203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dirty="0"/>
              <a:t>Train/serve skew is one of the most difficult bugs to catch in ML systems. Feature engineering can run in two places, training and production and can silently diverge. Use a feature store that serves same precomputed features in both training and serving time.</a:t>
            </a:r>
          </a:p>
        </p:txBody>
      </p:sp>
    </p:spTree>
    <p:extLst>
      <p:ext uri="{BB962C8B-B14F-4D97-AF65-F5344CB8AC3E}">
        <p14:creationId xmlns:p14="http://schemas.microsoft.com/office/powerpoint/2010/main" val="31334507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What to Monitor – Service health</a:t>
            </a:r>
          </a:p>
        </p:txBody>
      </p:sp>
      <p:sp>
        <p:nvSpPr>
          <p:cNvPr id="7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/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Standard software reliability metrics. </a:t>
            </a: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Every production service should have them regardless of whether it uses ML.</a:t>
            </a: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1F2630"/>
              </a:solidFill>
              <a:latin typeface="Georgia"/>
            </a:endParaRPr>
          </a:p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200" u="none" strike="noStrike" dirty="0">
              <a:solidFill>
                <a:srgbClr val="1F2630"/>
              </a:solidFill>
              <a:effectLst/>
              <a:uFillTx/>
              <a:latin typeface="Georgia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A4E2383-60C8-5DD8-5DA9-3883618C00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534570"/>
              </p:ext>
            </p:extLst>
          </p:nvPr>
        </p:nvGraphicFramePr>
        <p:xfrm>
          <a:off x="289932" y="1781253"/>
          <a:ext cx="8167908" cy="2062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2636">
                  <a:extLst>
                    <a:ext uri="{9D8B030D-6E8A-4147-A177-3AD203B41FA5}">
                      <a16:colId xmlns:a16="http://schemas.microsoft.com/office/drawing/2014/main" val="253308586"/>
                    </a:ext>
                  </a:extLst>
                </a:gridCol>
                <a:gridCol w="2722636">
                  <a:extLst>
                    <a:ext uri="{9D8B030D-6E8A-4147-A177-3AD203B41FA5}">
                      <a16:colId xmlns:a16="http://schemas.microsoft.com/office/drawing/2014/main" val="3275934443"/>
                    </a:ext>
                  </a:extLst>
                </a:gridCol>
                <a:gridCol w="2722636">
                  <a:extLst>
                    <a:ext uri="{9D8B030D-6E8A-4147-A177-3AD203B41FA5}">
                      <a16:colId xmlns:a16="http://schemas.microsoft.com/office/drawing/2014/main" val="3926286269"/>
                    </a:ext>
                  </a:extLst>
                </a:gridCol>
              </a:tblGrid>
              <a:tr h="382704"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Metric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What to track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Alert threshold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807697"/>
                  </a:ext>
                </a:extLst>
              </a:tr>
              <a:tr h="382704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Uptime/ error rate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HTTP 5xx rate, process crashes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&gt; 0.1% errors over 5 mins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6183788"/>
                  </a:ext>
                </a:extLst>
              </a:tr>
              <a:tr h="382704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Latency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Georgia" panose="02040502050405020303" pitchFamily="18" charset="0"/>
                        </a:rPr>
                        <a:t>Latency p</a:t>
                      </a:r>
                      <a:r>
                        <a:rPr lang="en-DE" sz="1200" dirty="0">
                          <a:latin typeface="Georgia" panose="02040502050405020303" pitchFamily="18" charset="0"/>
                        </a:rPr>
                        <a:t>50, p95, p99 response time (percentile of requests completed)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Georgia" panose="02040502050405020303" pitchFamily="18" charset="0"/>
                        </a:rPr>
                        <a:t>P</a:t>
                      </a:r>
                      <a:r>
                        <a:rPr lang="en-DE" sz="1200" dirty="0">
                          <a:latin typeface="Georgia" panose="02040502050405020303" pitchFamily="18" charset="0"/>
                        </a:rPr>
                        <a:t>99 &gt; SLO (Service Level Objective)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9198894"/>
                  </a:ext>
                </a:extLst>
              </a:tr>
              <a:tr h="382704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Throughput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Requests per second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Sudden drop (service stopped receiving traffic?)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6636022"/>
                  </a:ext>
                </a:extLst>
              </a:tr>
              <a:tr h="382704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Resource usage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CPU, memory, GPU utilisation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OOM risk, runaway processes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120744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6E6D22-45FA-7879-8CF0-71BE478A5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F455C9F1-C047-D438-6CF0-1B0610E00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What to Monitor – </a:t>
            </a:r>
            <a:r>
              <a:rPr lang="en-US" sz="3400" dirty="0">
                <a:solidFill>
                  <a:srgbClr val="1F2630"/>
                </a:solidFill>
                <a:latin typeface="Georgia"/>
                <a:ea typeface="Georgia"/>
              </a:rPr>
              <a:t>Data</a:t>
            </a: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 health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ACC79A7A-33D8-32B6-CAF4-7006AB002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83FC01E2-3811-4085-63FB-959E80F7D9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1686EFDA-23F5-F72E-EEDA-FCC9BDF8FB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35CC4971-0B7C-C1CB-8BBA-31269FBADD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>
            <a:extLst>
              <a:ext uri="{FF2B5EF4-FFF2-40B4-BE49-F238E27FC236}">
                <a16:creationId xmlns:a16="http://schemas.microsoft.com/office/drawing/2014/main" id="{98AC3FD9-3531-C2EE-717A-12B74D4FD7C7}"/>
              </a:ext>
            </a:extLst>
          </p:cNvPr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Check that what the model is actually receiving matches what it was trained on		</a:t>
            </a: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1F2630"/>
              </a:solidFill>
              <a:latin typeface="Georgia"/>
            </a:endParaRPr>
          </a:p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200" u="none" strike="noStrike" dirty="0">
              <a:solidFill>
                <a:srgbClr val="1F2630"/>
              </a:solidFill>
              <a:effectLst/>
              <a:uFillTx/>
              <a:latin typeface="Georgia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1BDF027-E41D-00FE-6B9B-67BA0072D3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1037298"/>
              </p:ext>
            </p:extLst>
          </p:nvPr>
        </p:nvGraphicFramePr>
        <p:xfrm>
          <a:off x="289932" y="1781253"/>
          <a:ext cx="8167908" cy="231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2636">
                  <a:extLst>
                    <a:ext uri="{9D8B030D-6E8A-4147-A177-3AD203B41FA5}">
                      <a16:colId xmlns:a16="http://schemas.microsoft.com/office/drawing/2014/main" val="253308586"/>
                    </a:ext>
                  </a:extLst>
                </a:gridCol>
                <a:gridCol w="2722636">
                  <a:extLst>
                    <a:ext uri="{9D8B030D-6E8A-4147-A177-3AD203B41FA5}">
                      <a16:colId xmlns:a16="http://schemas.microsoft.com/office/drawing/2014/main" val="3275934443"/>
                    </a:ext>
                  </a:extLst>
                </a:gridCol>
                <a:gridCol w="2722636">
                  <a:extLst>
                    <a:ext uri="{9D8B030D-6E8A-4147-A177-3AD203B41FA5}">
                      <a16:colId xmlns:a16="http://schemas.microsoft.com/office/drawing/2014/main" val="3926286269"/>
                    </a:ext>
                  </a:extLst>
                </a:gridCol>
              </a:tblGrid>
              <a:tr h="382704"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Check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What it catches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How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807697"/>
                  </a:ext>
                </a:extLst>
              </a:tr>
              <a:tr h="382704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Schema validation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Missing columns, wrong types, new unexpected valuesx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Compare incoming request schema against reference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6183788"/>
                  </a:ext>
                </a:extLst>
              </a:tr>
              <a:tr h="382704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Null/ missing rate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Georgia" panose="02040502050405020303" pitchFamily="18" charset="0"/>
                        </a:rPr>
                        <a:t>Upstream pipeline started producing nulls</a:t>
                      </a:r>
                      <a:endParaRPr lang="en-DE" sz="1200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Georgia" panose="02040502050405020303" pitchFamily="18" charset="0"/>
                        </a:rPr>
                        <a:t>Track </a:t>
                      </a:r>
                      <a:r>
                        <a:rPr lang="en-US" sz="1200" dirty="0" err="1">
                          <a:latin typeface="Georgia" panose="02040502050405020303" pitchFamily="18" charset="0"/>
                        </a:rPr>
                        <a:t>null_rate_per_feature</a:t>
                      </a:r>
                      <a:r>
                        <a:rPr lang="en-US" sz="1200" dirty="0">
                          <a:latin typeface="Georgia" panose="02040502050405020303" pitchFamily="18" charset="0"/>
                        </a:rPr>
                        <a:t> over time</a:t>
                      </a:r>
                      <a:endParaRPr lang="en-DE" sz="1200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9198894"/>
                  </a:ext>
                </a:extLst>
              </a:tr>
              <a:tr h="382704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Feature distribution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Data drift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Statistical tests vs reference dataset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6636022"/>
                  </a:ext>
                </a:extLst>
              </a:tr>
              <a:tr h="382704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Out-of-range values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Sensor failures, ETL bugs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Track fraction_outside_training_range per feature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1207448"/>
                  </a:ext>
                </a:extLst>
              </a:tr>
            </a:tbl>
          </a:graphicData>
        </a:graphic>
      </p:graphicFrame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AF6C7BF-19BA-213D-6B62-F334A6CF653C}"/>
              </a:ext>
            </a:extLst>
          </p:cNvPr>
          <p:cNvSpPr/>
          <p:nvPr/>
        </p:nvSpPr>
        <p:spPr>
          <a:xfrm>
            <a:off x="289932" y="4348976"/>
            <a:ext cx="8167908" cy="4609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dirty="0"/>
              <a:t>Data health checks are the cheapest and most reliable early warning systems. A spike in null rates often predicts a model quality problem before any model metric detects it.</a:t>
            </a:r>
          </a:p>
        </p:txBody>
      </p:sp>
    </p:spTree>
    <p:extLst>
      <p:ext uri="{BB962C8B-B14F-4D97-AF65-F5344CB8AC3E}">
        <p14:creationId xmlns:p14="http://schemas.microsoft.com/office/powerpoint/2010/main" val="13612982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5FE503-F5A0-115A-C790-7001E90AA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7B109D6C-EF45-B86C-C5E8-EB6DFB3C5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What to Monitor – Model health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C4A70293-829C-2616-B2F1-AA6F18EBE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3C31AFE7-DFC1-1A4A-8145-F8EFE27FB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422E9155-56ED-77A8-9ECB-B2C22ECB4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435018A4-1EA0-D66C-A337-49B84DE2F4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>
            <a:extLst>
              <a:ext uri="{FF2B5EF4-FFF2-40B4-BE49-F238E27FC236}">
                <a16:creationId xmlns:a16="http://schemas.microsoft.com/office/drawing/2014/main" id="{7C82A5C4-CC73-BCCA-CE31-8E62CB37CDF7}"/>
              </a:ext>
            </a:extLst>
          </p:cNvPr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Check that the model’s outputs look reasonable, even if you don’t have ground truth labels	</a:t>
            </a: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1F2630"/>
              </a:solidFill>
              <a:latin typeface="Georgia"/>
            </a:endParaRPr>
          </a:p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200" u="none" strike="noStrike" dirty="0">
              <a:solidFill>
                <a:srgbClr val="1F2630"/>
              </a:solidFill>
              <a:effectLst/>
              <a:uFillTx/>
              <a:latin typeface="Georgia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ED6C4A3-7898-60E2-C289-98DC7E6112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389033"/>
              </p:ext>
            </p:extLst>
          </p:nvPr>
        </p:nvGraphicFramePr>
        <p:xfrm>
          <a:off x="289932" y="1781253"/>
          <a:ext cx="8167908" cy="221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2636">
                  <a:extLst>
                    <a:ext uri="{9D8B030D-6E8A-4147-A177-3AD203B41FA5}">
                      <a16:colId xmlns:a16="http://schemas.microsoft.com/office/drawing/2014/main" val="253308586"/>
                    </a:ext>
                  </a:extLst>
                </a:gridCol>
                <a:gridCol w="2722636">
                  <a:extLst>
                    <a:ext uri="{9D8B030D-6E8A-4147-A177-3AD203B41FA5}">
                      <a16:colId xmlns:a16="http://schemas.microsoft.com/office/drawing/2014/main" val="3275934443"/>
                    </a:ext>
                  </a:extLst>
                </a:gridCol>
                <a:gridCol w="2722636">
                  <a:extLst>
                    <a:ext uri="{9D8B030D-6E8A-4147-A177-3AD203B41FA5}">
                      <a16:colId xmlns:a16="http://schemas.microsoft.com/office/drawing/2014/main" val="3926286269"/>
                    </a:ext>
                  </a:extLst>
                </a:gridCol>
              </a:tblGrid>
              <a:tr h="382704"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Metric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What it catches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Notes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807697"/>
                  </a:ext>
                </a:extLst>
              </a:tr>
              <a:tr h="382704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Prediction distribution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Concept drift, label drift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Compare histogram of prediction vs reference window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6183788"/>
                  </a:ext>
                </a:extLst>
              </a:tr>
              <a:tr h="382704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Confidence/ entropy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Georgia" panose="02040502050405020303" pitchFamily="18" charset="0"/>
                        </a:rPr>
                        <a:t>Model uncertainty increasing</a:t>
                      </a:r>
                      <a:endParaRPr lang="en-DE" sz="1200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Georgia" panose="02040502050405020303" pitchFamily="18" charset="0"/>
                        </a:rPr>
                        <a:t>Low-confidence predictions suggest  OOD (Out of Distribution) inputs</a:t>
                      </a:r>
                      <a:endParaRPr lang="en-DE" sz="1200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9198894"/>
                  </a:ext>
                </a:extLst>
              </a:tr>
              <a:tr h="382704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Segment-level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Disparate impact, hidden subgroup degradation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Track performance by user segment, geography, time-of-day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6636022"/>
                  </a:ext>
                </a:extLst>
              </a:tr>
              <a:tr h="382704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Model version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Accidental rollback, cache serving stale artifact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Log model version on every prediction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1207448"/>
                  </a:ext>
                </a:extLst>
              </a:tr>
            </a:tbl>
          </a:graphicData>
        </a:graphic>
      </p:graphicFrame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FE5DAF1-E051-D366-B192-689F3E840BDA}"/>
              </a:ext>
            </a:extLst>
          </p:cNvPr>
          <p:cNvSpPr/>
          <p:nvPr/>
        </p:nvSpPr>
        <p:spPr>
          <a:xfrm>
            <a:off x="289932" y="4348976"/>
            <a:ext cx="8167908" cy="4609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dirty="0"/>
              <a:t>Shift in prediction distribution is one of the earliest detectable signals of concept drift.</a:t>
            </a:r>
          </a:p>
        </p:txBody>
      </p:sp>
    </p:spTree>
    <p:extLst>
      <p:ext uri="{BB962C8B-B14F-4D97-AF65-F5344CB8AC3E}">
        <p14:creationId xmlns:p14="http://schemas.microsoft.com/office/powerpoint/2010/main" val="35960767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83595C-917E-E089-48A7-259AB7122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A504CD14-2A64-88E0-58C5-51185DE84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What to Monitor – Business KPIs	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4958A01F-6C1D-CEFC-0884-A464D7FF8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7C240799-6AB0-282D-CC91-6E3190C89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2AE45101-E4DB-FDFF-EEDC-B140834B5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E3C7D74C-B709-306E-2A25-5D77A9ABE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>
            <a:extLst>
              <a:ext uri="{FF2B5EF4-FFF2-40B4-BE49-F238E27FC236}">
                <a16:creationId xmlns:a16="http://schemas.microsoft.com/office/drawing/2014/main" id="{E87237FD-7A67-8CA6-06C1-DAA9235052DB}"/>
              </a:ext>
            </a:extLst>
          </p:cNvPr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Ultimate measure of model quality is business impact. 			</a:t>
            </a: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1F2630"/>
              </a:solidFill>
              <a:latin typeface="Georgia"/>
            </a:endParaRPr>
          </a:p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200" u="none" strike="noStrike" dirty="0">
              <a:solidFill>
                <a:srgbClr val="1F2630"/>
              </a:solidFill>
              <a:effectLst/>
              <a:uFillTx/>
              <a:latin typeface="Georgia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4954629-2926-6021-255F-7261A8A0B3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713765"/>
              </p:ext>
            </p:extLst>
          </p:nvPr>
        </p:nvGraphicFramePr>
        <p:xfrm>
          <a:off x="289932" y="1781253"/>
          <a:ext cx="8167908" cy="221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2636">
                  <a:extLst>
                    <a:ext uri="{9D8B030D-6E8A-4147-A177-3AD203B41FA5}">
                      <a16:colId xmlns:a16="http://schemas.microsoft.com/office/drawing/2014/main" val="253308586"/>
                    </a:ext>
                  </a:extLst>
                </a:gridCol>
                <a:gridCol w="2722636">
                  <a:extLst>
                    <a:ext uri="{9D8B030D-6E8A-4147-A177-3AD203B41FA5}">
                      <a16:colId xmlns:a16="http://schemas.microsoft.com/office/drawing/2014/main" val="3275934443"/>
                    </a:ext>
                  </a:extLst>
                </a:gridCol>
                <a:gridCol w="2722636">
                  <a:extLst>
                    <a:ext uri="{9D8B030D-6E8A-4147-A177-3AD203B41FA5}">
                      <a16:colId xmlns:a16="http://schemas.microsoft.com/office/drawing/2014/main" val="3926286269"/>
                    </a:ext>
                  </a:extLst>
                </a:gridCol>
              </a:tblGrid>
              <a:tr h="382704"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Metric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Proxy metric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Business metric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807697"/>
                  </a:ext>
                </a:extLst>
              </a:tr>
              <a:tr h="382704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Fraud detection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False positive rate, precision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Chargeback volume, customer complaints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6183788"/>
                  </a:ext>
                </a:extLst>
              </a:tr>
              <a:tr h="382704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Recommendation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Georgia" panose="02040502050405020303" pitchFamily="18" charset="0"/>
                        </a:rPr>
                        <a:t>CTR, NDCG</a:t>
                      </a:r>
                      <a:endParaRPr lang="en-DE" sz="1200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Georgia" panose="02040502050405020303" pitchFamily="18" charset="0"/>
                        </a:rPr>
                        <a:t>Revenue per session, subscriber retention</a:t>
                      </a:r>
                      <a:endParaRPr lang="en-DE" sz="1200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9198894"/>
                  </a:ext>
                </a:extLst>
              </a:tr>
              <a:tr h="382704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Credit scoring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AUC on holdout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Default rate on approved loans (lagged)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6636022"/>
                  </a:ext>
                </a:extLst>
              </a:tr>
              <a:tr h="382704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Medical diagnosis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Sensitivity, specificity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Clinical outcomes (weeks/months later)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1207448"/>
                  </a:ext>
                </a:extLst>
              </a:tr>
            </a:tbl>
          </a:graphicData>
        </a:graphic>
      </p:graphicFrame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E46D8F4-D579-CDDA-C6F9-77B96F5759E0}"/>
              </a:ext>
            </a:extLst>
          </p:cNvPr>
          <p:cNvSpPr/>
          <p:nvPr/>
        </p:nvSpPr>
        <p:spPr>
          <a:xfrm>
            <a:off x="289932" y="4348976"/>
            <a:ext cx="8167908" cy="4609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dirty="0"/>
              <a:t>Business KPIs are the ground truth but they have lag - may not see the effect of a model degradation for days or weeks.</a:t>
            </a:r>
          </a:p>
        </p:txBody>
      </p:sp>
    </p:spTree>
    <p:extLst>
      <p:ext uri="{BB962C8B-B14F-4D97-AF65-F5344CB8AC3E}">
        <p14:creationId xmlns:p14="http://schemas.microsoft.com/office/powerpoint/2010/main" val="26458731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Detecting Drift</a:t>
            </a:r>
          </a:p>
        </p:txBody>
      </p:sp>
      <p:sp>
        <p:nvSpPr>
          <p:cNvPr id="7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/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Georgia" panose="02040502050405020303" pitchFamily="18" charset="0"/>
              </a:rPr>
              <a:t>Drift detection reduces to comparing two distributions: the reference (training data or other baseline) and the current (recent traffic)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Georgia" panose="02040502050405020303" pitchFamily="18" charset="0"/>
              </a:rPr>
              <a:t>Used metrics:</a:t>
            </a:r>
          </a:p>
          <a:p>
            <a:pPr lvl="1">
              <a:lnSpc>
                <a:spcPct val="110000"/>
              </a:lnSpc>
            </a:pPr>
            <a:endParaRPr lang="en-US" sz="1200" dirty="0">
              <a:latin typeface="Georgia" panose="02040502050405020303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23D9A11-DC4C-5624-299F-4B1EAE2907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3153641"/>
              </p:ext>
            </p:extLst>
          </p:nvPr>
        </p:nvGraphicFramePr>
        <p:xfrm>
          <a:off x="457560" y="1937368"/>
          <a:ext cx="8000280" cy="247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70">
                  <a:extLst>
                    <a:ext uri="{9D8B030D-6E8A-4147-A177-3AD203B41FA5}">
                      <a16:colId xmlns:a16="http://schemas.microsoft.com/office/drawing/2014/main" val="1961883563"/>
                    </a:ext>
                  </a:extLst>
                </a:gridCol>
                <a:gridCol w="2000070">
                  <a:extLst>
                    <a:ext uri="{9D8B030D-6E8A-4147-A177-3AD203B41FA5}">
                      <a16:colId xmlns:a16="http://schemas.microsoft.com/office/drawing/2014/main" val="988141948"/>
                    </a:ext>
                  </a:extLst>
                </a:gridCol>
                <a:gridCol w="2000070">
                  <a:extLst>
                    <a:ext uri="{9D8B030D-6E8A-4147-A177-3AD203B41FA5}">
                      <a16:colId xmlns:a16="http://schemas.microsoft.com/office/drawing/2014/main" val="4054284995"/>
                    </a:ext>
                  </a:extLst>
                </a:gridCol>
                <a:gridCol w="2000070">
                  <a:extLst>
                    <a:ext uri="{9D8B030D-6E8A-4147-A177-3AD203B41FA5}">
                      <a16:colId xmlns:a16="http://schemas.microsoft.com/office/drawing/2014/main" val="1432942006"/>
                    </a:ext>
                  </a:extLst>
                </a:gridCol>
              </a:tblGrid>
              <a:tr h="315178">
                <a:tc>
                  <a:txBody>
                    <a:bodyPr/>
                    <a:lstStyle/>
                    <a:p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Metric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How it works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Interpretation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Trade-off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7848656"/>
                  </a:ext>
                </a:extLst>
              </a:tr>
              <a:tr h="602902"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Georgia" panose="02040502050405020303" pitchFamily="18" charset="0"/>
                        </a:rPr>
                        <a:t>Population Stability Index (PSI)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Measures how much the distribution of a feature has shifted by comparing binned proportions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PSI &lt; 0.1: no significant shift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PSI 0.1 – 0.25: Moderate, consider retraining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PSI &gt; 0.25: Significant, retrain NOW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Fast and interpretable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May not be best for outside of finance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Sensitive to choice of bins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3904457"/>
                  </a:ext>
                </a:extLst>
              </a:tr>
              <a:tr h="602902"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Georgia" panose="02040502050405020303" pitchFamily="18" charset="0"/>
                        </a:rPr>
                        <a:t>Kolmogorov – Smirnov (KS)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Maximum absolute difference between  the two cumulative functions.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Returns a p-value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dirty="0">
                          <a:latin typeface="Georgia" panose="02040502050405020303" pitchFamily="18" charset="0"/>
                        </a:rPr>
                        <a:t>p &lt; 0.05: Investigate/ consider retraining</a:t>
                      </a:r>
                      <a:endParaRPr lang="en-DE" sz="1000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More rigorous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Sensitive to sample size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0509105"/>
                  </a:ext>
                </a:extLst>
              </a:tr>
              <a:tr h="602902"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Georgia" panose="02040502050405020303" pitchFamily="18" charset="0"/>
                        </a:rPr>
                        <a:t>Wasserstein distance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Measures minimum work required to transform one distribution into the other.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Need to define own threshold based on the scale of the features.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More sensitive than KS to outliers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992176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AA3FB0-EB7B-84F4-7812-F2AE3438D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1B49977E-AD2F-788A-1127-C30804264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Detecting Drift - Tools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36152E24-BCE1-BB27-0461-85DCB9FFEE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AA613FA2-39C8-FEEC-916F-0F5C3F145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3A5EF109-C7E8-BF3E-3A26-9DA4A5492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ACFB9674-64E2-E26D-2155-2DACBDF21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>
            <a:extLst>
              <a:ext uri="{FF2B5EF4-FFF2-40B4-BE49-F238E27FC236}">
                <a16:creationId xmlns:a16="http://schemas.microsoft.com/office/drawing/2014/main" id="{D52E7328-5F5D-8D86-7D11-7D901C5FE0C0}"/>
              </a:ext>
            </a:extLst>
          </p:cNvPr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lvl="1">
              <a:lnSpc>
                <a:spcPct val="110000"/>
              </a:lnSpc>
            </a:pPr>
            <a:endParaRPr lang="en-US" sz="1200" dirty="0">
              <a:latin typeface="Georgia" panose="02040502050405020303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B46FB4D-7CD4-D5D5-0D20-A504885AB7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20451"/>
              </p:ext>
            </p:extLst>
          </p:nvPr>
        </p:nvGraphicFramePr>
        <p:xfrm>
          <a:off x="418171" y="1317716"/>
          <a:ext cx="8039669" cy="3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70">
                  <a:extLst>
                    <a:ext uri="{9D8B030D-6E8A-4147-A177-3AD203B41FA5}">
                      <a16:colId xmlns:a16="http://schemas.microsoft.com/office/drawing/2014/main" val="1961883563"/>
                    </a:ext>
                  </a:extLst>
                </a:gridCol>
                <a:gridCol w="2991599">
                  <a:extLst>
                    <a:ext uri="{9D8B030D-6E8A-4147-A177-3AD203B41FA5}">
                      <a16:colId xmlns:a16="http://schemas.microsoft.com/office/drawing/2014/main" val="98814194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054284995"/>
                    </a:ext>
                  </a:extLst>
                </a:gridCol>
              </a:tblGrid>
              <a:tr h="315178">
                <a:tc>
                  <a:txBody>
                    <a:bodyPr/>
                    <a:lstStyle/>
                    <a:p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Tool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How it works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B</a:t>
                      </a:r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est for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7848656"/>
                  </a:ext>
                </a:extLst>
              </a:tr>
              <a:tr h="602902"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Georgia" panose="02040502050405020303" pitchFamily="18" charset="0"/>
                        </a:rPr>
                        <a:t>Evidently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Most widely adopted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Wraps statistical tests into a single API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dirty="0">
                          <a:latin typeface="Georgia" panose="02040502050405020303" pitchFamily="18" charset="0"/>
                        </a:rPr>
                        <a:t>G</a:t>
                      </a:r>
                      <a:r>
                        <a:rPr lang="en-DE" sz="1000" dirty="0">
                          <a:latin typeface="Georgia" panose="02040502050405020303" pitchFamily="18" charset="0"/>
                        </a:rPr>
                        <a:t>enerates human (HTML) and machine (JSON) readable metrics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One-shot reports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Dashboards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CI gates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3904457"/>
                  </a:ext>
                </a:extLst>
              </a:tr>
              <a:tr h="602902"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Georgia" panose="02040502050405020303" pitchFamily="18" charset="0"/>
                        </a:rPr>
                        <a:t>NannyML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Solves hardest part of production monitoring – estimating model performance when there is no ground truth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Uses Confidence-B</a:t>
                      </a:r>
                      <a:r>
                        <a:rPr lang="en-GB" sz="1000" dirty="0">
                          <a:latin typeface="Georgia" panose="02040502050405020303" pitchFamily="18" charset="0"/>
                        </a:rPr>
                        <a:t>a</a:t>
                      </a:r>
                      <a:r>
                        <a:rPr lang="en-DE" sz="1000" dirty="0">
                          <a:latin typeface="Georgia" panose="02040502050405020303" pitchFamily="18" charset="0"/>
                        </a:rPr>
                        <a:t>sed Performance Estimation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Ongoing time-series monitoring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No-label AUC estimation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When labels long after prediction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0509105"/>
                  </a:ext>
                </a:extLst>
              </a:tr>
              <a:tr h="602902"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Georgia" panose="02040502050405020303" pitchFamily="18" charset="0"/>
                        </a:rPr>
                        <a:t>Great Expectations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Data quality library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Define expectations about data and run as checkpoints in pipeline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Data contract validation at pipeline boundaries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Catching errors at data ingestion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9921765"/>
                  </a:ext>
                </a:extLst>
              </a:tr>
              <a:tr h="602902">
                <a:tc>
                  <a:txBody>
                    <a:bodyPr/>
                    <a:lstStyle/>
                    <a:p>
                      <a:r>
                        <a:rPr lang="en-GB" sz="1000" dirty="0">
                          <a:latin typeface="Georgia" panose="02040502050405020303" pitchFamily="18" charset="0"/>
                        </a:rPr>
                        <a:t>w</a:t>
                      </a:r>
                      <a:r>
                        <a:rPr lang="en-DE" sz="1000" dirty="0">
                          <a:latin typeface="Georgia" panose="02040502050405020303" pitchFamily="18" charset="0"/>
                        </a:rPr>
                        <a:t>hylogs/ Whylabs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Generates compact statistical profiles of data batches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Allows for continuous drift monitoring without overhead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Always-on lightweight statistical logging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6603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64615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The Label Problem</a:t>
            </a:r>
          </a:p>
        </p:txBody>
      </p:sp>
      <p:sp>
        <p:nvSpPr>
          <p:cNvPr id="7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/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Georgia"/>
              </a:rPr>
              <a:t>Need ground truth labels to know whether model has gotten worse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</a:rPr>
              <a:t>In production</a:t>
            </a:r>
            <a:r>
              <a:rPr lang="en-US" sz="1500" dirty="0">
                <a:solidFill>
                  <a:srgbClr val="000000"/>
                </a:solidFill>
                <a:latin typeface="Georgia"/>
              </a:rPr>
              <a:t>, model makes a prediction and then action is taken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</a:rPr>
              <a:t>True outcome often:</a:t>
            </a:r>
          </a:p>
          <a:p>
            <a:pPr marL="742950" lvl="1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Georgia"/>
              </a:rPr>
              <a:t>Delayed – e.g. default happens months after credit decision</a:t>
            </a:r>
          </a:p>
          <a:p>
            <a:pPr marL="742950" lvl="1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Georgia"/>
              </a:rPr>
              <a:t>Counterfactual – If model declined, never learn whether applicant would have defaulted</a:t>
            </a:r>
          </a:p>
          <a:p>
            <a:pPr marL="742950" lvl="1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Georgia"/>
              </a:rPr>
              <a:t>Expensive to obtain – Human must review case</a:t>
            </a:r>
          </a:p>
          <a:p>
            <a:pPr marL="742950" lvl="1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Georgia"/>
              </a:rPr>
              <a:t>Never available – In some domains there is no ground truth – only downstream metrics</a:t>
            </a:r>
          </a:p>
          <a:p>
            <a:pPr marL="742950" lvl="1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000000"/>
              </a:solidFill>
              <a:latin typeface="Georgia"/>
            </a:endParaRP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Georgia"/>
              </a:rPr>
              <a:t>Cannot compute AUC, precision, recall, or accuracy in real time for most production ML systems.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Georgia"/>
              </a:rPr>
              <a:t>Need proxy signals and delayed evaluation strategies.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9914C7-FE82-9DE8-A69D-5ABFD6B3D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010D8C86-6C20-D2E6-380F-A0FA51D11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dirty="0">
                <a:solidFill>
                  <a:srgbClr val="1F2630"/>
                </a:solidFill>
                <a:latin typeface="Georgia"/>
                <a:ea typeface="Georgia"/>
              </a:rPr>
              <a:t>The Label Problem – Strategies	</a:t>
            </a:r>
            <a:endParaRPr lang="en-US" sz="3400" b="0" u="none" strike="noStrike" dirty="0">
              <a:solidFill>
                <a:srgbClr val="1F2630"/>
              </a:solidFill>
              <a:effectLst/>
              <a:uFillTx/>
              <a:latin typeface="Georgia"/>
              <a:ea typeface="Georgia"/>
            </a:endParaRP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464EF6C6-A867-A091-9937-C7B99F1E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4E4CB246-94E7-F5AE-DC15-E195558699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17C92035-04D2-1C31-440A-0A794846D3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C144554F-7E5E-71B9-47E4-306302DBB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>
            <a:extLst>
              <a:ext uri="{FF2B5EF4-FFF2-40B4-BE49-F238E27FC236}">
                <a16:creationId xmlns:a16="http://schemas.microsoft.com/office/drawing/2014/main" id="{82B26126-B088-BF5E-4D8D-E5F73856B9EC}"/>
              </a:ext>
            </a:extLst>
          </p:cNvPr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000000"/>
              </a:solidFill>
              <a:latin typeface="Georgia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A4027B7-C723-002E-00C4-D6F0723D5C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73865"/>
              </p:ext>
            </p:extLst>
          </p:nvPr>
        </p:nvGraphicFramePr>
        <p:xfrm>
          <a:off x="401444" y="1357120"/>
          <a:ext cx="8056395" cy="3668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5465">
                  <a:extLst>
                    <a:ext uri="{9D8B030D-6E8A-4147-A177-3AD203B41FA5}">
                      <a16:colId xmlns:a16="http://schemas.microsoft.com/office/drawing/2014/main" val="2834343015"/>
                    </a:ext>
                  </a:extLst>
                </a:gridCol>
                <a:gridCol w="2685465">
                  <a:extLst>
                    <a:ext uri="{9D8B030D-6E8A-4147-A177-3AD203B41FA5}">
                      <a16:colId xmlns:a16="http://schemas.microsoft.com/office/drawing/2014/main" val="4142956876"/>
                    </a:ext>
                  </a:extLst>
                </a:gridCol>
                <a:gridCol w="2685465">
                  <a:extLst>
                    <a:ext uri="{9D8B030D-6E8A-4147-A177-3AD203B41FA5}">
                      <a16:colId xmlns:a16="http://schemas.microsoft.com/office/drawing/2014/main" val="2079068772"/>
                    </a:ext>
                  </a:extLst>
                </a:gridCol>
              </a:tblGrid>
              <a:tr h="257932"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Strategy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What is it?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Trade-off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785639"/>
                  </a:ext>
                </a:extLst>
              </a:tr>
              <a:tr h="843725"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P</a:t>
                      </a:r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roxy metrics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Monitor signals that are correlated with model quality but available immediately, without labels.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E.g. concept drift, data drift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Imperfect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Shift in prediction distribution can have many causes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Treat as alerts for further investigation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546991"/>
                  </a:ext>
                </a:extLst>
              </a:tr>
              <a:tr h="843725">
                <a:tc>
                  <a:txBody>
                    <a:bodyPr/>
                    <a:lstStyle/>
                    <a:p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Delayed label evaluation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Labels eventually do arrive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Build system that logs every prediction and compares it to actuals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Incorporate alerts if metrics fall below threshold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Lag between prediction and label defines how quickly you can detect concept drift.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4451395"/>
                  </a:ext>
                </a:extLst>
              </a:tr>
              <a:tr h="843725">
                <a:tc>
                  <a:txBody>
                    <a:bodyPr/>
                    <a:lstStyle/>
                    <a:p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Active labelling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Route small, random fraction of production traffic to human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Use labels for near-real-time-quality estimation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Representative meaningful quality estimates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Requires infrastructure for routing and human involvement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1749812"/>
                  </a:ext>
                </a:extLst>
              </a:tr>
              <a:tr h="843725">
                <a:tc>
                  <a:txBody>
                    <a:bodyPr/>
                    <a:lstStyle/>
                    <a:p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Held-out evaluation sets with temporal slices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Keep a rolling held-out dataset from recent traffic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Evaluate model on this data set periodically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Reliable quality estimate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Requires reliable holdout -&gt; back to label availability problem.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35714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249927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Alerting That Works</a:t>
            </a:r>
          </a:p>
        </p:txBody>
      </p:sp>
      <p:sp>
        <p:nvSpPr>
          <p:cNvPr id="7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/>
          <p:cNvSpPr/>
          <p:nvPr/>
        </p:nvSpPr>
        <p:spPr>
          <a:xfrm>
            <a:off x="228420" y="112014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85750" indent="-2857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400" b="1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Too many alerts is worse than none — people stop looking.</a:t>
            </a:r>
          </a:p>
          <a:p>
            <a:pPr marL="285750" indent="-2857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F2630"/>
                </a:solidFill>
                <a:latin typeface="Georgia"/>
              </a:rPr>
              <a:t>Alerts should be </a:t>
            </a:r>
            <a:r>
              <a:rPr lang="en-US" sz="1400" b="1" dirty="0">
                <a:solidFill>
                  <a:srgbClr val="1F2630"/>
                </a:solidFill>
                <a:latin typeface="Georgia"/>
              </a:rPr>
              <a:t>actionable, specific, and infrequent enough to take seriously</a:t>
            </a:r>
            <a:endParaRPr lang="en-US" sz="1400" dirty="0">
              <a:solidFill>
                <a:srgbClr val="1F2630"/>
              </a:solidFill>
              <a:latin typeface="Georgia"/>
            </a:endParaRPr>
          </a:p>
          <a:p>
            <a:pPr marL="285750" indent="-2857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400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Tie alerts to business symptoms or operational consequences</a:t>
            </a:r>
          </a:p>
          <a:p>
            <a:pPr marL="285750" indent="-2857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F2630"/>
                </a:solidFill>
                <a:latin typeface="Georgia"/>
              </a:rPr>
              <a:t>Alert needs a runbook:</a:t>
            </a:r>
          </a:p>
          <a:p>
            <a:pPr marL="742950" lvl="1" indent="-2857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F2630"/>
                </a:solidFill>
                <a:latin typeface="Georgia"/>
              </a:rPr>
              <a:t>What does this alert mean?</a:t>
            </a:r>
            <a:r>
              <a:rPr lang="en-US" sz="1400" dirty="0">
                <a:solidFill>
                  <a:srgbClr val="1F2630"/>
                </a:solidFill>
                <a:latin typeface="Georgia"/>
              </a:rPr>
              <a:t> What is the likely cause?</a:t>
            </a:r>
          </a:p>
          <a:p>
            <a:pPr marL="742950" lvl="1" indent="-2857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F2630"/>
                </a:solidFill>
                <a:latin typeface="Georgia"/>
              </a:rPr>
              <a:t>How do I diagnose it? </a:t>
            </a:r>
            <a:r>
              <a:rPr lang="en-US" sz="1400" dirty="0">
                <a:solidFill>
                  <a:srgbClr val="1F2630"/>
                </a:solidFill>
                <a:latin typeface="Georgia"/>
              </a:rPr>
              <a:t>Which dashboards to look at, which queries to run.</a:t>
            </a:r>
          </a:p>
          <a:p>
            <a:pPr marL="742950" lvl="1" indent="-2857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F2630"/>
                </a:solidFill>
                <a:latin typeface="Georgia"/>
              </a:rPr>
              <a:t>What are the possible causes? </a:t>
            </a:r>
            <a:r>
              <a:rPr lang="en-US" sz="1400" dirty="0">
                <a:solidFill>
                  <a:srgbClr val="1F2630"/>
                </a:solidFill>
                <a:latin typeface="Georgia"/>
              </a:rPr>
              <a:t>Data pipeline bug, feature drift, concept drift, model bug.</a:t>
            </a:r>
          </a:p>
          <a:p>
            <a:pPr marL="742950" lvl="1" indent="-2857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F2630"/>
                </a:solidFill>
                <a:latin typeface="Georgia"/>
              </a:rPr>
              <a:t>What do I do? </a:t>
            </a:r>
            <a:r>
              <a:rPr lang="en-US" sz="1400" dirty="0">
                <a:solidFill>
                  <a:srgbClr val="1F2630"/>
                </a:solidFill>
                <a:latin typeface="Georgia"/>
              </a:rPr>
              <a:t>Roll back to the previous model? Disable feature? Contact data team?</a:t>
            </a:r>
          </a:p>
          <a:p>
            <a:pPr marL="742950" lvl="1" indent="-2857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F2630"/>
                </a:solidFill>
                <a:latin typeface="Georgia"/>
              </a:rPr>
              <a:t>Who owns this model? </a:t>
            </a:r>
            <a:r>
              <a:rPr lang="en-US" sz="1400" dirty="0">
                <a:solidFill>
                  <a:srgbClr val="1F2630"/>
                </a:solidFill>
                <a:latin typeface="Georgia"/>
              </a:rPr>
              <a:t>Who to escalate to if the immediate fix does not work? </a:t>
            </a:r>
            <a:endParaRPr lang="en-US" sz="1400" u="none" strike="noStrike" dirty="0">
              <a:solidFill>
                <a:srgbClr val="1F2630"/>
              </a:solidFill>
              <a:effectLst/>
              <a:uFillTx/>
              <a:latin typeface="Georgia"/>
            </a:endParaRPr>
          </a:p>
          <a:p>
            <a:pPr marL="285750" indent="-2857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F2630"/>
                </a:solidFill>
                <a:latin typeface="Georgia"/>
              </a:rPr>
              <a:t>Tune thresholds against historical data</a:t>
            </a:r>
          </a:p>
          <a:p>
            <a:pPr marL="285750" indent="-2857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400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Avoid alert </a:t>
            </a:r>
            <a:r>
              <a:rPr lang="en-US" sz="1400" dirty="0">
                <a:solidFill>
                  <a:srgbClr val="1F2630"/>
                </a:solidFill>
                <a:latin typeface="Georgia"/>
              </a:rPr>
              <a:t>fatigue</a:t>
            </a:r>
          </a:p>
          <a:p>
            <a:pPr marL="285750" indent="-2857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400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Distinguish severity; not every alert requires waking someone up.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Governance &amp; Security</a:t>
            </a:r>
          </a:p>
        </p:txBody>
      </p:sp>
      <p:sp>
        <p:nvSpPr>
          <p:cNvPr id="7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/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b="1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For regulated domains, be able to answer: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</a:rPr>
              <a:t>What data trained this model, with what consent? — model cards, lineage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</a:rPr>
              <a:t>Who approved deployment? — approval workflow in the registry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 dirty="0" err="1">
                <a:solidFill>
                  <a:srgbClr val="000000"/>
                </a:solidFill>
                <a:effectLst/>
                <a:uFillTx/>
                <a:latin typeface="Georgia"/>
              </a:rPr>
              <a:t>Behaviour</a:t>
            </a: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</a:rPr>
              <a:t> on protected groups? — bias/fairness checks in CI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</a:rPr>
              <a:t>How fast can you turn it off? — rollback plan, kill switch</a:t>
            </a:r>
          </a:p>
          <a:p>
            <a:pPr marL="0" indent="0">
              <a:lnSpc>
                <a:spcPct val="110000"/>
              </a:lnSpc>
              <a:buNone/>
            </a:pPr>
            <a:endParaRPr lang="en-US" sz="600" dirty="0"/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b="1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Security checklist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</a:rPr>
              <a:t>No </a:t>
            </a:r>
            <a:r>
              <a:rPr lang="en-US" sz="1500" b="0" u="none" strike="noStrike" dirty="0" err="1">
                <a:solidFill>
                  <a:srgbClr val="000000"/>
                </a:solidFill>
                <a:effectLst/>
                <a:uFillTx/>
                <a:latin typeface="Georgia"/>
              </a:rPr>
              <a:t>pickle.load</a:t>
            </a: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</a:rPr>
              <a:t> of untrusted files 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dirty="0">
                <a:solidFill>
                  <a:srgbClr val="000000"/>
                </a:solidFill>
                <a:latin typeface="Georgia"/>
              </a:rPr>
              <a:t>R</a:t>
            </a: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</a:rPr>
              <a:t>ate-limit inputs 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dirty="0">
                <a:solidFill>
                  <a:srgbClr val="000000"/>
                </a:solidFill>
                <a:latin typeface="Georgia"/>
              </a:rPr>
              <a:t>S</a:t>
            </a: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</a:rPr>
              <a:t>ecrets in env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</a:rPr>
              <a:t>pin &amp; scan deps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7989DA-5F1E-5948-F5B4-2ABD64ECF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844B0521-DAA0-B465-3C44-57CBD9E3B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Non-negotiables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AF0A1AD0-5F4F-C1C5-1CF2-E46A070E8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C3609339-B542-56E1-9046-F44E484D1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E1E8C3C0-8CD4-D19C-53E7-1FE909891D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A72E9C4B-A9BC-54C2-5D81-7CEAE87BC0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F90069A-DD71-B375-2009-F0401ABFC5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0310278"/>
              </p:ext>
            </p:extLst>
          </p:nvPr>
        </p:nvGraphicFramePr>
        <p:xfrm>
          <a:off x="457560" y="1412640"/>
          <a:ext cx="8000281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254">
                  <a:extLst>
                    <a:ext uri="{9D8B030D-6E8A-4147-A177-3AD203B41FA5}">
                      <a16:colId xmlns:a16="http://schemas.microsoft.com/office/drawing/2014/main" val="993958320"/>
                    </a:ext>
                  </a:extLst>
                </a:gridCol>
                <a:gridCol w="1980558">
                  <a:extLst>
                    <a:ext uri="{9D8B030D-6E8A-4147-A177-3AD203B41FA5}">
                      <a16:colId xmlns:a16="http://schemas.microsoft.com/office/drawing/2014/main" val="2137804700"/>
                    </a:ext>
                  </a:extLst>
                </a:gridCol>
                <a:gridCol w="5488469">
                  <a:extLst>
                    <a:ext uri="{9D8B030D-6E8A-4147-A177-3AD203B41FA5}">
                      <a16:colId xmlns:a16="http://schemas.microsoft.com/office/drawing/2014/main" val="11441986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#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Principle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What it means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6272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Reproducibility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Code + data + environment are versioned together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2764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Automation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One command retrains, one command deploys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0120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Testing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Code, data, and model quality all gate releases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3376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Observability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Know when model is misbehaving before users do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8667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Reversibility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Every deployment can be rolled back quickly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166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Ownership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Every model has a named owner and runbook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8372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7192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5571</TotalTime>
  <Words>6532</Words>
  <Application>Microsoft Macintosh PowerPoint</Application>
  <PresentationFormat>On-screen Show (16:9)</PresentationFormat>
  <Paragraphs>948</Paragraphs>
  <Slides>50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8" baseType="lpstr">
      <vt:lpstr>Arial</vt:lpstr>
      <vt:lpstr>Calibri</vt:lpstr>
      <vt:lpstr>Georgia</vt:lpstr>
      <vt:lpstr>OpenSymbol</vt:lpstr>
      <vt:lpstr>Symbol</vt:lpstr>
      <vt:lpstr>Times New Roman</vt:lpstr>
      <vt:lpstr>Wingdings</vt:lpstr>
      <vt:lpstr>Office Theme</vt:lpstr>
      <vt:lpstr>ML OPS</vt:lpstr>
      <vt:lpstr>Goals for the day</vt:lpstr>
      <vt:lpstr>Packaging Models</vt:lpstr>
      <vt:lpstr>Model Signature &amp; Schema</vt:lpstr>
      <vt:lpstr>Model Signature &amp; Schema</vt:lpstr>
      <vt:lpstr>Model Signature &amp; Schema – the why</vt:lpstr>
      <vt:lpstr>Serving Patterns</vt:lpstr>
      <vt:lpstr>Sidebar – Kafka and Flink</vt:lpstr>
      <vt:lpstr>Serving Patterns – Batch processing</vt:lpstr>
      <vt:lpstr>Serving Patterns – Online/ On-Demand</vt:lpstr>
      <vt:lpstr>Serving Patterns – Streaming</vt:lpstr>
      <vt:lpstr>Serving Patterns – Choosing a pattern</vt:lpstr>
      <vt:lpstr>Serving with FastAPI</vt:lpstr>
      <vt:lpstr>Exercise 1 – Building a FAST API Service</vt:lpstr>
      <vt:lpstr>Containers &amp; Docker</vt:lpstr>
      <vt:lpstr>Containers &amp; Docker: Commands</vt:lpstr>
      <vt:lpstr>Sidebar – Virtualisation v Containerization</vt:lpstr>
      <vt:lpstr>CI/CD for ML</vt:lpstr>
      <vt:lpstr>Three Pipelines: CI · CT · CD</vt:lpstr>
      <vt:lpstr>Three Pipelines: CI · CT · CD</vt:lpstr>
      <vt:lpstr>The ML Test Pyramid</vt:lpstr>
      <vt:lpstr>The ML Test Pyramid</vt:lpstr>
      <vt:lpstr>GitHub Actions</vt:lpstr>
      <vt:lpstr>GitHub Actions</vt:lpstr>
      <vt:lpstr>GitHub Actions</vt:lpstr>
      <vt:lpstr>GitHub Actions</vt:lpstr>
      <vt:lpstr>GitHub Actions: Exercise 3</vt:lpstr>
      <vt:lpstr>GitHub Actions: Sharding</vt:lpstr>
      <vt:lpstr>Safe Deployment Strategies</vt:lpstr>
      <vt:lpstr>Shadow/ dark launch</vt:lpstr>
      <vt:lpstr>Canary release</vt:lpstr>
      <vt:lpstr>A/B Test</vt:lpstr>
      <vt:lpstr>Blue/ Green deployment</vt:lpstr>
      <vt:lpstr>Blue/ green deployment</vt:lpstr>
      <vt:lpstr>Why Models Decay</vt:lpstr>
      <vt:lpstr>Data drift</vt:lpstr>
      <vt:lpstr>Concept drift</vt:lpstr>
      <vt:lpstr>Label drift</vt:lpstr>
      <vt:lpstr>Pipeline bugs</vt:lpstr>
      <vt:lpstr>What to Monitor – Service health</vt:lpstr>
      <vt:lpstr>What to Monitor – Data health</vt:lpstr>
      <vt:lpstr>What to Monitor – Model health</vt:lpstr>
      <vt:lpstr>What to Monitor – Business KPIs </vt:lpstr>
      <vt:lpstr>Detecting Drift</vt:lpstr>
      <vt:lpstr>Detecting Drift - Tools</vt:lpstr>
      <vt:lpstr>The Label Problem</vt:lpstr>
      <vt:lpstr>The Label Problem – Strategies </vt:lpstr>
      <vt:lpstr>Alerting That Works</vt:lpstr>
      <vt:lpstr>Governance &amp; Security</vt:lpstr>
      <vt:lpstr>Non-negotiables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Boris Maric</dc:creator>
  <dc:description/>
  <cp:lastModifiedBy>David Jeon</cp:lastModifiedBy>
  <cp:revision>30</cp:revision>
  <dcterms:created xsi:type="dcterms:W3CDTF">2026-06-05T18:01:53Z</dcterms:created>
  <dcterms:modified xsi:type="dcterms:W3CDTF">2026-09-20T14:40:05Z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On-screen Show (16:9)</vt:lpwstr>
  </property>
  <property fmtid="{D5CDD505-2E9C-101B-9397-08002B2CF9AE}" pid="4" name="Slides">
    <vt:i4>4</vt:i4>
  </property>
</Properties>
</file>